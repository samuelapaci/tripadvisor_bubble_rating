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odec Pro" panose="00000500000000000000" pitchFamily="2" charset="0"/>
      <p:regular r:id="rId25"/>
    </p:embeddedFont>
    <p:embeddedFont>
      <p:font typeface="Codec Pro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7" d="100"/>
          <a:sy n="47" d="100"/>
        </p:scale>
        <p:origin x="456" y="8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Online Reviews and Consumer Behavior</a:t>
            </a:r>
          </a:p>
          <a:p>
            <a:r>
              <a:rPr lang="en-US"/>
              <a:t>In the digital age, online reviews shape consumer decisions more than ever. Platforms like TripAdvisor influence where people choose to stay, dine, or visit. Since hotel ratings are among the first things a traveler sees, understanding how bubble ratings impact hotel popularity is crucial for:</a:t>
            </a:r>
          </a:p>
          <a:p>
            <a:r>
              <a:rPr lang="en-US"/>
              <a:t>Hotel owners seeking to improve their online reputation;</a:t>
            </a:r>
          </a:p>
          <a:p>
            <a:r>
              <a:rPr lang="en-US"/>
              <a:t>Consumers making informed travel decisions;</a:t>
            </a:r>
          </a:p>
          <a:p>
            <a:r>
              <a:rPr lang="en-US"/>
              <a:t>Platforms optimizing their review systems.</a:t>
            </a:r>
          </a:p>
          <a:p>
            <a:endParaRPr lang="en-US"/>
          </a:p>
          <a:p>
            <a:r>
              <a:rPr lang="en-US"/>
              <a:t>2. Economic Implications for the Hotel Industry </a:t>
            </a:r>
          </a:p>
          <a:p>
            <a:r>
              <a:rPr lang="en-US"/>
              <a:t>For a highly competitive tourism destination like Rome, small advantages in ratings could mean: </a:t>
            </a:r>
          </a:p>
          <a:p>
            <a:r>
              <a:rPr lang="en-US"/>
              <a:t>Higher booking rates;</a:t>
            </a:r>
          </a:p>
          <a:p>
            <a:r>
              <a:rPr lang="en-US"/>
              <a:t>Increased pricing power;</a:t>
            </a:r>
          </a:p>
          <a:p>
            <a:r>
              <a:rPr lang="en-US"/>
              <a:t>Better customer trust and engagement.</a:t>
            </a:r>
          </a:p>
          <a:p>
            <a:r>
              <a:rPr lang="en-US"/>
              <a:t>Understanding these effects helps hotels adjust their strategies—whether through better service, review management, or marketing.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svg"/><Relationship Id="rId9"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38.sv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29.sv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38.sv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29.sv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38.sv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enterpriseappstoday.com/stats/airbnb-statistics.html" TargetMode="External"/><Relationship Id="rId2" Type="http://schemas.openxmlformats.org/officeDocument/2006/relationships/hyperlink" Target="https://blog.osum.com/online-travel-agency-market-share/" TargetMode="External"/><Relationship Id="rId1" Type="http://schemas.openxmlformats.org/officeDocument/2006/relationships/slideLayout" Target="../slideLayouts/slideLayout7.xml"/><Relationship Id="rId4" Type="http://schemas.openxmlformats.org/officeDocument/2006/relationships/hyperlink" Target="http://dx.doi.org/10.2139/ssrn.374555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C987C"/>
        </a:solidFill>
        <a:effectLst/>
      </p:bgPr>
    </p:bg>
    <p:spTree>
      <p:nvGrpSpPr>
        <p:cNvPr id="1" name=""/>
        <p:cNvGrpSpPr/>
        <p:nvPr/>
      </p:nvGrpSpPr>
      <p:grpSpPr>
        <a:xfrm>
          <a:off x="0" y="0"/>
          <a:ext cx="0" cy="0"/>
          <a:chOff x="0" y="0"/>
          <a:chExt cx="0" cy="0"/>
        </a:xfrm>
      </p:grpSpPr>
      <p:sp>
        <p:nvSpPr>
          <p:cNvPr id="2" name="AutoShape 2"/>
          <p:cNvSpPr/>
          <p:nvPr/>
        </p:nvSpPr>
        <p:spPr>
          <a:xfrm rot="5400000">
            <a:off x="8608867" y="5129212"/>
            <a:ext cx="10287000" cy="0"/>
          </a:xfrm>
          <a:prstGeom prst="line">
            <a:avLst/>
          </a:prstGeom>
          <a:ln w="28575" cap="flat">
            <a:solidFill>
              <a:srgbClr val="FFFFFF"/>
            </a:solidFill>
            <a:prstDash val="solid"/>
            <a:headEnd type="none" w="sm" len="sm"/>
            <a:tailEnd type="none" w="sm" len="sm"/>
          </a:ln>
        </p:spPr>
        <p:txBody>
          <a:bodyPr/>
          <a:lstStyle/>
          <a:p>
            <a:endParaRPr lang="en-GB"/>
          </a:p>
        </p:txBody>
      </p:sp>
      <p:sp>
        <p:nvSpPr>
          <p:cNvPr id="3" name="AutoShape 3"/>
          <p:cNvSpPr/>
          <p:nvPr/>
        </p:nvSpPr>
        <p:spPr>
          <a:xfrm flipH="1">
            <a:off x="14483598" y="7711141"/>
            <a:ext cx="2742895" cy="0"/>
          </a:xfrm>
          <a:prstGeom prst="line">
            <a:avLst/>
          </a:prstGeom>
          <a:ln w="28575" cap="flat">
            <a:solidFill>
              <a:srgbClr val="FFFFFF"/>
            </a:solidFill>
            <a:prstDash val="solid"/>
            <a:headEnd type="none" w="sm" len="sm"/>
            <a:tailEnd type="none" w="sm" len="sm"/>
          </a:ln>
        </p:spPr>
        <p:txBody>
          <a:bodyPr/>
          <a:lstStyle/>
          <a:p>
            <a:endParaRPr lang="en-GB"/>
          </a:p>
        </p:txBody>
      </p:sp>
      <p:sp>
        <p:nvSpPr>
          <p:cNvPr id="4" name="Freeform 4"/>
          <p:cNvSpPr/>
          <p:nvPr/>
        </p:nvSpPr>
        <p:spPr>
          <a:xfrm>
            <a:off x="14118947" y="1028700"/>
            <a:ext cx="3865041" cy="1657136"/>
          </a:xfrm>
          <a:custGeom>
            <a:avLst/>
            <a:gdLst/>
            <a:ahLst/>
            <a:cxnLst/>
            <a:rect l="l" t="t" r="r" b="b"/>
            <a:pathLst>
              <a:path w="3865041" h="1657136">
                <a:moveTo>
                  <a:pt x="0" y="0"/>
                </a:moveTo>
                <a:lnTo>
                  <a:pt x="3865040" y="0"/>
                </a:lnTo>
                <a:lnTo>
                  <a:pt x="3865040" y="1657136"/>
                </a:lnTo>
                <a:lnTo>
                  <a:pt x="0" y="1657136"/>
                </a:lnTo>
                <a:lnTo>
                  <a:pt x="0" y="0"/>
                </a:lnTo>
                <a:close/>
              </a:path>
            </a:pathLst>
          </a:custGeom>
          <a:blipFill>
            <a:blip r:embed="rId2"/>
            <a:stretch>
              <a:fillRect/>
            </a:stretch>
          </a:blipFill>
        </p:spPr>
        <p:txBody>
          <a:bodyPr/>
          <a:lstStyle/>
          <a:p>
            <a:endParaRPr lang="en-GB"/>
          </a:p>
        </p:txBody>
      </p:sp>
      <p:grpSp>
        <p:nvGrpSpPr>
          <p:cNvPr id="5" name="Group 5"/>
          <p:cNvGrpSpPr/>
          <p:nvPr/>
        </p:nvGrpSpPr>
        <p:grpSpPr>
          <a:xfrm>
            <a:off x="1028700" y="1028700"/>
            <a:ext cx="11190824" cy="7304714"/>
            <a:chOff x="0" y="0"/>
            <a:chExt cx="14921099" cy="9739619"/>
          </a:xfrm>
        </p:grpSpPr>
        <p:sp>
          <p:nvSpPr>
            <p:cNvPr id="6" name="TextBox 6"/>
            <p:cNvSpPr txBox="1"/>
            <p:nvPr/>
          </p:nvSpPr>
          <p:spPr>
            <a:xfrm>
              <a:off x="0" y="-57150"/>
              <a:ext cx="14921099" cy="8422217"/>
            </a:xfrm>
            <a:prstGeom prst="rect">
              <a:avLst/>
            </a:prstGeom>
          </p:spPr>
          <p:txBody>
            <a:bodyPr lIns="0" tIns="0" rIns="0" bIns="0" rtlCol="0" anchor="t">
              <a:spAutoFit/>
            </a:bodyPr>
            <a:lstStyle/>
            <a:p>
              <a:pPr algn="l">
                <a:lnSpc>
                  <a:spcPts val="12100"/>
                </a:lnSpc>
              </a:pPr>
              <a:r>
                <a:rPr lang="en-US" sz="11000" b="1">
                  <a:solidFill>
                    <a:srgbClr val="FFFFFF"/>
                  </a:solidFill>
                  <a:latin typeface="Codec Pro Bold"/>
                  <a:ea typeface="Codec Pro Bold"/>
                  <a:cs typeface="Codec Pro Bold"/>
                  <a:sym typeface="Codec Pro Bold"/>
                </a:rPr>
                <a:t>EFFECT OF BUBBLE RATING ON HOTEL VIEWS </a:t>
              </a:r>
            </a:p>
          </p:txBody>
        </p:sp>
        <p:sp>
          <p:nvSpPr>
            <p:cNvPr id="7" name="TextBox 7"/>
            <p:cNvSpPr txBox="1"/>
            <p:nvPr/>
          </p:nvSpPr>
          <p:spPr>
            <a:xfrm>
              <a:off x="0" y="8689836"/>
              <a:ext cx="14921099" cy="1049832"/>
            </a:xfrm>
            <a:prstGeom prst="rect">
              <a:avLst/>
            </a:prstGeom>
          </p:spPr>
          <p:txBody>
            <a:bodyPr lIns="0" tIns="0" rIns="0" bIns="0" rtlCol="0" anchor="t">
              <a:spAutoFit/>
            </a:bodyPr>
            <a:lstStyle/>
            <a:p>
              <a:pPr algn="l">
                <a:lnSpc>
                  <a:spcPts val="5500"/>
                </a:lnSpc>
              </a:pPr>
              <a:r>
                <a:rPr lang="en-US" sz="5000">
                  <a:solidFill>
                    <a:srgbClr val="FFFFFF"/>
                  </a:solidFill>
                  <a:latin typeface="Codec Pro"/>
                  <a:ea typeface="Codec Pro"/>
                  <a:cs typeface="Codec Pro"/>
                  <a:sym typeface="Codec Pro"/>
                </a:rPr>
                <a:t>Matching analysis</a:t>
              </a:r>
            </a:p>
          </p:txBody>
        </p:sp>
      </p:grpSp>
      <p:sp>
        <p:nvSpPr>
          <p:cNvPr id="8" name="TextBox 8"/>
          <p:cNvSpPr txBox="1"/>
          <p:nvPr/>
        </p:nvSpPr>
        <p:spPr>
          <a:xfrm>
            <a:off x="14455023" y="5941079"/>
            <a:ext cx="3192888" cy="1336675"/>
          </a:xfrm>
          <a:prstGeom prst="rect">
            <a:avLst/>
          </a:prstGeom>
        </p:spPr>
        <p:txBody>
          <a:bodyPr lIns="0" tIns="0" rIns="0" bIns="0" rtlCol="0" anchor="t">
            <a:spAutoFit/>
          </a:bodyPr>
          <a:lstStyle/>
          <a:p>
            <a:pPr algn="l">
              <a:lnSpc>
                <a:spcPts val="3499"/>
              </a:lnSpc>
            </a:pPr>
            <a:r>
              <a:rPr lang="en-US" sz="2499" b="1">
                <a:solidFill>
                  <a:srgbClr val="FFFFFF"/>
                </a:solidFill>
                <a:latin typeface="Codec Pro Bold"/>
                <a:ea typeface="Codec Pro Bold"/>
                <a:cs typeface="Codec Pro Bold"/>
                <a:sym typeface="Codec Pro Bold"/>
              </a:rPr>
              <a:t>CAUSAL INFERENCE AND IMPACT EVALUATION 23/24</a:t>
            </a:r>
          </a:p>
        </p:txBody>
      </p:sp>
      <p:sp>
        <p:nvSpPr>
          <p:cNvPr id="9" name="TextBox 9"/>
          <p:cNvSpPr txBox="1"/>
          <p:nvPr/>
        </p:nvSpPr>
        <p:spPr>
          <a:xfrm>
            <a:off x="14455023" y="8257214"/>
            <a:ext cx="3192888" cy="801313"/>
          </a:xfrm>
          <a:prstGeom prst="rect">
            <a:avLst/>
          </a:prstGeom>
        </p:spPr>
        <p:txBody>
          <a:bodyPr lIns="0" tIns="0" rIns="0" bIns="0" rtlCol="0" anchor="t">
            <a:spAutoFit/>
          </a:bodyPr>
          <a:lstStyle/>
          <a:p>
            <a:pPr algn="l">
              <a:lnSpc>
                <a:spcPts val="3080"/>
              </a:lnSpc>
            </a:pPr>
            <a:r>
              <a:rPr lang="en-US" sz="2200">
                <a:solidFill>
                  <a:srgbClr val="FFFFFF"/>
                </a:solidFill>
                <a:latin typeface="Codec Pro"/>
                <a:ea typeface="Codec Pro"/>
                <a:cs typeface="Codec Pro"/>
                <a:sym typeface="Codec Pro"/>
              </a:rPr>
              <a:t>I. Cappiello, M. Doka, S. Paci, M. Pagan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8599482" cy="2229413"/>
          </a:xfrm>
          <a:prstGeom prst="rect">
            <a:avLst/>
          </a:prstGeom>
          <a:solidFill>
            <a:srgbClr val="7C987C"/>
          </a:solidFill>
        </p:spPr>
        <p:txBody>
          <a:bodyPr/>
          <a:lstStyle/>
          <a:p>
            <a:endParaRPr lang="en-GB"/>
          </a:p>
        </p:txBody>
      </p:sp>
      <p:grpSp>
        <p:nvGrpSpPr>
          <p:cNvPr id="3" name="Group 3"/>
          <p:cNvGrpSpPr/>
          <p:nvPr/>
        </p:nvGrpSpPr>
        <p:grpSpPr>
          <a:xfrm>
            <a:off x="9231410" y="3083558"/>
            <a:ext cx="492409" cy="508759"/>
            <a:chOff x="0" y="0"/>
            <a:chExt cx="608326" cy="628524"/>
          </a:xfrm>
        </p:grpSpPr>
        <p:sp>
          <p:nvSpPr>
            <p:cNvPr id="4" name="Freeform 4"/>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5" name="Group 5"/>
          <p:cNvGrpSpPr/>
          <p:nvPr/>
        </p:nvGrpSpPr>
        <p:grpSpPr>
          <a:xfrm>
            <a:off x="9231410" y="4341408"/>
            <a:ext cx="492409" cy="508759"/>
            <a:chOff x="0" y="0"/>
            <a:chExt cx="608326" cy="628524"/>
          </a:xfrm>
        </p:grpSpPr>
        <p:sp>
          <p:nvSpPr>
            <p:cNvPr id="6" name="Freeform 6"/>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7" name="Group 7"/>
          <p:cNvGrpSpPr/>
          <p:nvPr/>
        </p:nvGrpSpPr>
        <p:grpSpPr>
          <a:xfrm>
            <a:off x="9231410" y="5649520"/>
            <a:ext cx="492409" cy="508759"/>
            <a:chOff x="0" y="0"/>
            <a:chExt cx="608326" cy="628524"/>
          </a:xfrm>
        </p:grpSpPr>
        <p:sp>
          <p:nvSpPr>
            <p:cNvPr id="8" name="Freeform 8"/>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9" name="Group 9"/>
          <p:cNvGrpSpPr/>
          <p:nvPr/>
        </p:nvGrpSpPr>
        <p:grpSpPr>
          <a:xfrm>
            <a:off x="9231410" y="6957632"/>
            <a:ext cx="492409" cy="508759"/>
            <a:chOff x="0" y="0"/>
            <a:chExt cx="608326" cy="628524"/>
          </a:xfrm>
        </p:grpSpPr>
        <p:sp>
          <p:nvSpPr>
            <p:cNvPr id="10" name="Freeform 10"/>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11" name="Group 11"/>
          <p:cNvGrpSpPr/>
          <p:nvPr/>
        </p:nvGrpSpPr>
        <p:grpSpPr>
          <a:xfrm>
            <a:off x="9231410" y="8253810"/>
            <a:ext cx="492409" cy="508759"/>
            <a:chOff x="0" y="0"/>
            <a:chExt cx="608326" cy="628524"/>
          </a:xfrm>
        </p:grpSpPr>
        <p:sp>
          <p:nvSpPr>
            <p:cNvPr id="12" name="Freeform 12"/>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sp>
        <p:nvSpPr>
          <p:cNvPr id="13" name="AutoShape 13"/>
          <p:cNvSpPr/>
          <p:nvPr/>
        </p:nvSpPr>
        <p:spPr>
          <a:xfrm>
            <a:off x="-145227" y="-60817"/>
            <a:ext cx="19366859" cy="2229413"/>
          </a:xfrm>
          <a:prstGeom prst="rect">
            <a:avLst/>
          </a:prstGeom>
          <a:solidFill>
            <a:srgbClr val="7C987C"/>
          </a:solidFill>
        </p:spPr>
        <p:txBody>
          <a:bodyPr/>
          <a:lstStyle/>
          <a:p>
            <a:endParaRPr lang="en-GB"/>
          </a:p>
        </p:txBody>
      </p:sp>
      <p:sp>
        <p:nvSpPr>
          <p:cNvPr id="14" name="Freeform 14"/>
          <p:cNvSpPr/>
          <p:nvPr/>
        </p:nvSpPr>
        <p:spPr>
          <a:xfrm>
            <a:off x="9308306" y="3001338"/>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5" name="Freeform 15"/>
          <p:cNvSpPr/>
          <p:nvPr/>
        </p:nvSpPr>
        <p:spPr>
          <a:xfrm>
            <a:off x="9308306" y="8333015"/>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6" name="Freeform 16"/>
          <p:cNvSpPr/>
          <p:nvPr/>
        </p:nvSpPr>
        <p:spPr>
          <a:xfrm>
            <a:off x="9308306" y="4375685"/>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7" name="Freeform 17"/>
          <p:cNvSpPr/>
          <p:nvPr/>
        </p:nvSpPr>
        <p:spPr>
          <a:xfrm>
            <a:off x="9308306" y="5718073"/>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8" name="Freeform 18"/>
          <p:cNvSpPr/>
          <p:nvPr/>
        </p:nvSpPr>
        <p:spPr>
          <a:xfrm>
            <a:off x="9308306" y="6987723"/>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9" name="TextBox 19"/>
          <p:cNvSpPr txBox="1"/>
          <p:nvPr/>
        </p:nvSpPr>
        <p:spPr>
          <a:xfrm>
            <a:off x="4014863" y="310934"/>
            <a:ext cx="10258274" cy="1352559"/>
          </a:xfrm>
          <a:prstGeom prst="rect">
            <a:avLst/>
          </a:prstGeom>
        </p:spPr>
        <p:txBody>
          <a:bodyPr lIns="0" tIns="0" rIns="0" bIns="0" rtlCol="0" anchor="t">
            <a:spAutoFit/>
          </a:bodyPr>
          <a:lstStyle/>
          <a:p>
            <a:pPr marL="0" lvl="0" indent="0" algn="ctr">
              <a:lnSpc>
                <a:spcPts val="9600"/>
              </a:lnSpc>
            </a:pPr>
            <a:r>
              <a:rPr lang="en-US" sz="8000" b="1">
                <a:solidFill>
                  <a:srgbClr val="FFFFFF"/>
                </a:solidFill>
                <a:latin typeface="Codec Pro Bold"/>
                <a:ea typeface="Codec Pro Bold"/>
                <a:cs typeface="Codec Pro Bold"/>
                <a:sym typeface="Codec Pro Bold"/>
              </a:rPr>
              <a:t>TABLE OF CONTENTS</a:t>
            </a:r>
          </a:p>
        </p:txBody>
      </p:sp>
      <p:sp>
        <p:nvSpPr>
          <p:cNvPr id="20" name="TextBox 20"/>
          <p:cNvSpPr txBox="1"/>
          <p:nvPr/>
        </p:nvSpPr>
        <p:spPr>
          <a:xfrm>
            <a:off x="10052830" y="2893899"/>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Model description</a:t>
            </a:r>
          </a:p>
        </p:txBody>
      </p:sp>
      <p:sp>
        <p:nvSpPr>
          <p:cNvPr id="21" name="TextBox 21"/>
          <p:cNvSpPr txBox="1"/>
          <p:nvPr/>
        </p:nvSpPr>
        <p:spPr>
          <a:xfrm>
            <a:off x="10052830" y="4246532"/>
            <a:ext cx="4383579"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Descriptive statistics</a:t>
            </a:r>
          </a:p>
        </p:txBody>
      </p:sp>
      <p:sp>
        <p:nvSpPr>
          <p:cNvPr id="22" name="TextBox 22"/>
          <p:cNvSpPr txBox="1"/>
          <p:nvPr/>
        </p:nvSpPr>
        <p:spPr>
          <a:xfrm>
            <a:off x="10052830" y="5589107"/>
            <a:ext cx="6400533"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Results and robustness check</a:t>
            </a:r>
          </a:p>
        </p:txBody>
      </p:sp>
      <p:sp>
        <p:nvSpPr>
          <p:cNvPr id="23" name="TextBox 23"/>
          <p:cNvSpPr txBox="1"/>
          <p:nvPr/>
        </p:nvSpPr>
        <p:spPr>
          <a:xfrm>
            <a:off x="10052830" y="6862756"/>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Conclusions and limitations</a:t>
            </a:r>
          </a:p>
        </p:txBody>
      </p:sp>
      <p:sp>
        <p:nvSpPr>
          <p:cNvPr id="24" name="TextBox 24"/>
          <p:cNvSpPr txBox="1"/>
          <p:nvPr/>
        </p:nvSpPr>
        <p:spPr>
          <a:xfrm>
            <a:off x="10052830" y="8158933"/>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Bibliography</a:t>
            </a:r>
          </a:p>
        </p:txBody>
      </p:sp>
      <p:grpSp>
        <p:nvGrpSpPr>
          <p:cNvPr id="25" name="Group 25"/>
          <p:cNvGrpSpPr/>
          <p:nvPr/>
        </p:nvGrpSpPr>
        <p:grpSpPr>
          <a:xfrm>
            <a:off x="1891874" y="3042448"/>
            <a:ext cx="492409" cy="508759"/>
            <a:chOff x="0" y="0"/>
            <a:chExt cx="608326" cy="628524"/>
          </a:xfrm>
        </p:grpSpPr>
        <p:sp>
          <p:nvSpPr>
            <p:cNvPr id="26" name="Freeform 26"/>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27" name="Group 27"/>
          <p:cNvGrpSpPr/>
          <p:nvPr/>
        </p:nvGrpSpPr>
        <p:grpSpPr>
          <a:xfrm>
            <a:off x="1891874" y="4341408"/>
            <a:ext cx="492409" cy="508759"/>
            <a:chOff x="0" y="0"/>
            <a:chExt cx="608326" cy="628524"/>
          </a:xfrm>
        </p:grpSpPr>
        <p:sp>
          <p:nvSpPr>
            <p:cNvPr id="28" name="Freeform 28"/>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29" name="Group 29"/>
          <p:cNvGrpSpPr/>
          <p:nvPr/>
        </p:nvGrpSpPr>
        <p:grpSpPr>
          <a:xfrm>
            <a:off x="1891874" y="5649520"/>
            <a:ext cx="492409" cy="508759"/>
            <a:chOff x="0" y="0"/>
            <a:chExt cx="608326" cy="628524"/>
          </a:xfrm>
        </p:grpSpPr>
        <p:sp>
          <p:nvSpPr>
            <p:cNvPr id="30" name="Freeform 30"/>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31" name="Group 31"/>
          <p:cNvGrpSpPr/>
          <p:nvPr/>
        </p:nvGrpSpPr>
        <p:grpSpPr>
          <a:xfrm>
            <a:off x="1891874" y="6957632"/>
            <a:ext cx="492409" cy="508759"/>
            <a:chOff x="0" y="0"/>
            <a:chExt cx="608326" cy="628524"/>
          </a:xfrm>
        </p:grpSpPr>
        <p:sp>
          <p:nvSpPr>
            <p:cNvPr id="32" name="Freeform 32"/>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grpSp>
        <p:nvGrpSpPr>
          <p:cNvPr id="33" name="Group 33"/>
          <p:cNvGrpSpPr/>
          <p:nvPr/>
        </p:nvGrpSpPr>
        <p:grpSpPr>
          <a:xfrm>
            <a:off x="1891874" y="8264462"/>
            <a:ext cx="492409" cy="508759"/>
            <a:chOff x="0" y="0"/>
            <a:chExt cx="608326" cy="628524"/>
          </a:xfrm>
        </p:grpSpPr>
        <p:sp>
          <p:nvSpPr>
            <p:cNvPr id="34" name="Freeform 34"/>
            <p:cNvSpPr/>
            <p:nvPr/>
          </p:nvSpPr>
          <p:spPr>
            <a:xfrm>
              <a:off x="0" y="0"/>
              <a:ext cx="608326" cy="628524"/>
            </a:xfrm>
            <a:custGeom>
              <a:avLst/>
              <a:gdLst/>
              <a:ahLst/>
              <a:cxnLst/>
              <a:rect l="l" t="t" r="r" b="b"/>
              <a:pathLst>
                <a:path w="608326" h="628524">
                  <a:moveTo>
                    <a:pt x="0" y="0"/>
                  </a:moveTo>
                  <a:lnTo>
                    <a:pt x="0" y="628524"/>
                  </a:lnTo>
                  <a:lnTo>
                    <a:pt x="608326" y="628524"/>
                  </a:lnTo>
                  <a:lnTo>
                    <a:pt x="608326" y="0"/>
                  </a:lnTo>
                  <a:lnTo>
                    <a:pt x="0" y="0"/>
                  </a:lnTo>
                  <a:close/>
                  <a:moveTo>
                    <a:pt x="547366" y="567564"/>
                  </a:moveTo>
                  <a:lnTo>
                    <a:pt x="59690" y="567564"/>
                  </a:lnTo>
                  <a:lnTo>
                    <a:pt x="59690" y="59690"/>
                  </a:lnTo>
                  <a:lnTo>
                    <a:pt x="547366" y="59690"/>
                  </a:lnTo>
                  <a:lnTo>
                    <a:pt x="547366" y="567564"/>
                  </a:lnTo>
                  <a:close/>
                </a:path>
              </a:pathLst>
            </a:custGeom>
            <a:solidFill>
              <a:srgbClr val="FFFFFF"/>
            </a:solidFill>
          </p:spPr>
          <p:txBody>
            <a:bodyPr/>
            <a:lstStyle/>
            <a:p>
              <a:endParaRPr lang="en-GB"/>
            </a:p>
          </p:txBody>
        </p:sp>
      </p:grpSp>
      <p:sp>
        <p:nvSpPr>
          <p:cNvPr id="35" name="Freeform 35"/>
          <p:cNvSpPr/>
          <p:nvPr/>
        </p:nvSpPr>
        <p:spPr>
          <a:xfrm>
            <a:off x="1968771" y="2960227"/>
            <a:ext cx="550258" cy="440206"/>
          </a:xfrm>
          <a:custGeom>
            <a:avLst/>
            <a:gdLst/>
            <a:ahLst/>
            <a:cxnLst/>
            <a:rect l="l" t="t" r="r" b="b"/>
            <a:pathLst>
              <a:path w="550258" h="440206">
                <a:moveTo>
                  <a:pt x="0" y="0"/>
                </a:moveTo>
                <a:lnTo>
                  <a:pt x="550258" y="0"/>
                </a:lnTo>
                <a:lnTo>
                  <a:pt x="550258" y="440207"/>
                </a:lnTo>
                <a:lnTo>
                  <a:pt x="0" y="4402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6" name="Freeform 36"/>
          <p:cNvSpPr/>
          <p:nvPr/>
        </p:nvSpPr>
        <p:spPr>
          <a:xfrm>
            <a:off x="1968771" y="8343667"/>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7" name="Freeform 37"/>
          <p:cNvSpPr/>
          <p:nvPr/>
        </p:nvSpPr>
        <p:spPr>
          <a:xfrm>
            <a:off x="1968771" y="4375685"/>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8" name="Freeform 38"/>
          <p:cNvSpPr/>
          <p:nvPr/>
        </p:nvSpPr>
        <p:spPr>
          <a:xfrm>
            <a:off x="1968771" y="5718073"/>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9" name="Freeform 39"/>
          <p:cNvSpPr/>
          <p:nvPr/>
        </p:nvSpPr>
        <p:spPr>
          <a:xfrm>
            <a:off x="1968771" y="6987723"/>
            <a:ext cx="550258" cy="440206"/>
          </a:xfrm>
          <a:custGeom>
            <a:avLst/>
            <a:gdLst/>
            <a:ahLst/>
            <a:cxnLst/>
            <a:rect l="l" t="t" r="r" b="b"/>
            <a:pathLst>
              <a:path w="550258" h="440206">
                <a:moveTo>
                  <a:pt x="0" y="0"/>
                </a:moveTo>
                <a:lnTo>
                  <a:pt x="550258" y="0"/>
                </a:lnTo>
                <a:lnTo>
                  <a:pt x="550258" y="440206"/>
                </a:lnTo>
                <a:lnTo>
                  <a:pt x="0" y="4402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0" name="TextBox 40"/>
          <p:cNvSpPr txBox="1"/>
          <p:nvPr/>
        </p:nvSpPr>
        <p:spPr>
          <a:xfrm>
            <a:off x="2713294" y="2831075"/>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Research question</a:t>
            </a:r>
          </a:p>
        </p:txBody>
      </p:sp>
      <p:sp>
        <p:nvSpPr>
          <p:cNvPr id="41" name="TextBox 41"/>
          <p:cNvSpPr txBox="1"/>
          <p:nvPr/>
        </p:nvSpPr>
        <p:spPr>
          <a:xfrm>
            <a:off x="2713294" y="4246532"/>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Motivation</a:t>
            </a:r>
          </a:p>
        </p:txBody>
      </p:sp>
      <p:sp>
        <p:nvSpPr>
          <p:cNvPr id="42" name="TextBox 42"/>
          <p:cNvSpPr txBox="1"/>
          <p:nvPr/>
        </p:nvSpPr>
        <p:spPr>
          <a:xfrm>
            <a:off x="2713294" y="5554644"/>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Dataset Description</a:t>
            </a:r>
          </a:p>
        </p:txBody>
      </p:sp>
      <p:sp>
        <p:nvSpPr>
          <p:cNvPr id="43" name="TextBox 43"/>
          <p:cNvSpPr txBox="1"/>
          <p:nvPr/>
        </p:nvSpPr>
        <p:spPr>
          <a:xfrm>
            <a:off x="2713294" y="6862756"/>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Model specification</a:t>
            </a:r>
          </a:p>
        </p:txBody>
      </p:sp>
      <p:sp>
        <p:nvSpPr>
          <p:cNvPr id="44" name="TextBox 44"/>
          <p:cNvSpPr txBox="1"/>
          <p:nvPr/>
        </p:nvSpPr>
        <p:spPr>
          <a:xfrm>
            <a:off x="2713294" y="8169586"/>
            <a:ext cx="5910676" cy="612787"/>
          </a:xfrm>
          <a:prstGeom prst="rect">
            <a:avLst/>
          </a:prstGeom>
        </p:spPr>
        <p:txBody>
          <a:bodyPr lIns="0" tIns="0" rIns="0" bIns="0" rtlCol="0" anchor="t">
            <a:spAutoFit/>
          </a:bodyPr>
          <a:lstStyle/>
          <a:p>
            <a:pPr marL="0" lvl="0" indent="0" algn="l">
              <a:lnSpc>
                <a:spcPts val="4550"/>
              </a:lnSpc>
            </a:pPr>
            <a:r>
              <a:rPr lang="en-US" sz="3500">
                <a:solidFill>
                  <a:srgbClr val="000000"/>
                </a:solidFill>
                <a:latin typeface="Codec Pro"/>
                <a:ea typeface="Codec Pro"/>
                <a:cs typeface="Codec Pro"/>
                <a:sym typeface="Codec Pro"/>
              </a:rPr>
              <a:t>Matching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5490351" cy="2783840"/>
          </a:xfrm>
        </p:grpSpPr>
        <p:sp>
          <p:nvSpPr>
            <p:cNvPr id="3" name="Freeform 3"/>
            <p:cNvSpPr/>
            <p:nvPr/>
          </p:nvSpPr>
          <p:spPr>
            <a:xfrm>
              <a:off x="0" y="0"/>
              <a:ext cx="5490351" cy="2783840"/>
            </a:xfrm>
            <a:custGeom>
              <a:avLst/>
              <a:gdLst/>
              <a:ahLst/>
              <a:cxnLst/>
              <a:rect l="l" t="t" r="r" b="b"/>
              <a:pathLst>
                <a:path w="5490351" h="2783840">
                  <a:moveTo>
                    <a:pt x="5365891" y="2783840"/>
                  </a:moveTo>
                  <a:lnTo>
                    <a:pt x="124460" y="2783840"/>
                  </a:lnTo>
                  <a:cubicBezTo>
                    <a:pt x="55880" y="2783840"/>
                    <a:pt x="0" y="2727960"/>
                    <a:pt x="0" y="2659380"/>
                  </a:cubicBezTo>
                  <a:lnTo>
                    <a:pt x="0" y="124460"/>
                  </a:lnTo>
                  <a:cubicBezTo>
                    <a:pt x="0" y="55880"/>
                    <a:pt x="55880" y="0"/>
                    <a:pt x="124460" y="0"/>
                  </a:cubicBezTo>
                  <a:lnTo>
                    <a:pt x="5365891" y="0"/>
                  </a:lnTo>
                  <a:cubicBezTo>
                    <a:pt x="5434471" y="0"/>
                    <a:pt x="5490351" y="55880"/>
                    <a:pt x="5490351" y="124460"/>
                  </a:cubicBezTo>
                  <a:lnTo>
                    <a:pt x="5490351" y="2659380"/>
                  </a:lnTo>
                  <a:cubicBezTo>
                    <a:pt x="5490351" y="2727960"/>
                    <a:pt x="5434471" y="2783840"/>
                    <a:pt x="5365891" y="2783840"/>
                  </a:cubicBezTo>
                  <a:close/>
                </a:path>
              </a:pathLst>
            </a:custGeom>
            <a:solidFill>
              <a:srgbClr val="637E63"/>
            </a:solidFill>
          </p:spPr>
          <p:txBody>
            <a:bodyPr/>
            <a:lstStyle/>
            <a:p>
              <a:endParaRPr lang="en-GB"/>
            </a:p>
          </p:txBody>
        </p:sp>
      </p:grpSp>
      <p:sp>
        <p:nvSpPr>
          <p:cNvPr id="4" name="TextBox 4"/>
          <p:cNvSpPr txBox="1"/>
          <p:nvPr/>
        </p:nvSpPr>
        <p:spPr>
          <a:xfrm>
            <a:off x="3180067" y="5408971"/>
            <a:ext cx="11927866" cy="1230630"/>
          </a:xfrm>
          <a:prstGeom prst="rect">
            <a:avLst/>
          </a:prstGeom>
        </p:spPr>
        <p:txBody>
          <a:bodyPr lIns="0" tIns="0" rIns="0" bIns="0" rtlCol="0" anchor="t">
            <a:spAutoFit/>
          </a:bodyPr>
          <a:lstStyle/>
          <a:p>
            <a:pPr marL="0" lvl="0" indent="0" algn="l">
              <a:lnSpc>
                <a:spcPts val="4680"/>
              </a:lnSpc>
            </a:pPr>
            <a:r>
              <a:rPr lang="en-US" sz="3600">
                <a:solidFill>
                  <a:srgbClr val="FFFFFF"/>
                </a:solidFill>
                <a:latin typeface="Codec Pro"/>
                <a:ea typeface="Codec Pro"/>
                <a:cs typeface="Codec Pro"/>
                <a:sym typeface="Codec Pro"/>
              </a:rPr>
              <a:t>What is the causal impact of having a high TripAdvisor bubble rating on the number of hotel views?</a:t>
            </a:r>
          </a:p>
        </p:txBody>
      </p:sp>
      <p:sp>
        <p:nvSpPr>
          <p:cNvPr id="5" name="TextBox 5"/>
          <p:cNvSpPr txBox="1"/>
          <p:nvPr/>
        </p:nvSpPr>
        <p:spPr>
          <a:xfrm>
            <a:off x="3180067" y="4208142"/>
            <a:ext cx="11927866" cy="918192"/>
          </a:xfrm>
          <a:prstGeom prst="rect">
            <a:avLst/>
          </a:prstGeom>
        </p:spPr>
        <p:txBody>
          <a:bodyPr lIns="0" tIns="0" rIns="0" bIns="0" rtlCol="0" anchor="t">
            <a:spAutoFit/>
          </a:bodyPr>
          <a:lstStyle/>
          <a:p>
            <a:pPr marL="0" lvl="0" indent="0" algn="ctr">
              <a:lnSpc>
                <a:spcPts val="4500"/>
              </a:lnSpc>
            </a:pPr>
            <a:r>
              <a:rPr lang="en-US" sz="9000" b="1">
                <a:solidFill>
                  <a:srgbClr val="FFFFFF"/>
                </a:solidFill>
                <a:latin typeface="Codec Pro Bold"/>
                <a:ea typeface="Codec Pro Bold"/>
                <a:cs typeface="Codec Pro Bold"/>
                <a:sym typeface="Codec Pro Bold"/>
              </a:rPr>
              <a:t>RESEARCH QUESTION</a:t>
            </a:r>
          </a:p>
        </p:txBody>
      </p:sp>
      <p:sp>
        <p:nvSpPr>
          <p:cNvPr id="6" name="AutoShape 6"/>
          <p:cNvSpPr/>
          <p:nvPr/>
        </p:nvSpPr>
        <p:spPr>
          <a:xfrm>
            <a:off x="3180067" y="5124450"/>
            <a:ext cx="11927866" cy="0"/>
          </a:xfrm>
          <a:prstGeom prst="line">
            <a:avLst/>
          </a:prstGeom>
          <a:ln w="38100" cap="rnd">
            <a:solidFill>
              <a:srgbClr val="FFFFFF"/>
            </a:solidFill>
            <a:prstDash val="solid"/>
            <a:headEnd type="none" w="sm" len="sm"/>
            <a:tailEnd type="none" w="sm" len="sm"/>
          </a:ln>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36912" y="4086439"/>
            <a:ext cx="6876896" cy="5000885"/>
          </a:xfrm>
          <a:prstGeom prst="rect">
            <a:avLst/>
          </a:prstGeom>
        </p:spPr>
        <p:txBody>
          <a:bodyPr lIns="0" tIns="0" rIns="0" bIns="0" rtlCol="0" anchor="t">
            <a:spAutoFit/>
          </a:bodyPr>
          <a:lstStyle/>
          <a:p>
            <a:pPr algn="l">
              <a:lnSpc>
                <a:spcPts val="3900"/>
              </a:lnSpc>
              <a:spcBef>
                <a:spcPct val="0"/>
              </a:spcBef>
            </a:pPr>
            <a:r>
              <a:rPr lang="en-US" sz="3000">
                <a:solidFill>
                  <a:srgbClr val="000000"/>
                </a:solidFill>
                <a:latin typeface="Codec Pro"/>
                <a:ea typeface="Codec Pro"/>
                <a:cs typeface="Codec Pro"/>
                <a:sym typeface="Codec Pro"/>
              </a:rPr>
              <a:t>In digital age, online reviews shape consumer decisions more than ever.</a:t>
            </a:r>
          </a:p>
          <a:p>
            <a:pPr algn="l">
              <a:lnSpc>
                <a:spcPts val="3900"/>
              </a:lnSpc>
              <a:spcBef>
                <a:spcPct val="0"/>
              </a:spcBef>
            </a:pPr>
            <a:r>
              <a:rPr lang="en-US" sz="3000">
                <a:solidFill>
                  <a:srgbClr val="000000"/>
                </a:solidFill>
                <a:latin typeface="Codec Pro"/>
                <a:ea typeface="Codec Pro"/>
                <a:cs typeface="Codec Pro"/>
                <a:sym typeface="Codec Pro"/>
              </a:rPr>
              <a:t>Understanding how bubble ratings impact hotel popularity is crucial for:</a:t>
            </a:r>
          </a:p>
          <a:p>
            <a:pPr marL="647700" lvl="1" indent="-323850" algn="l">
              <a:lnSpc>
                <a:spcPts val="3900"/>
              </a:lnSpc>
              <a:buFont typeface="Arial"/>
              <a:buChar char="•"/>
            </a:pPr>
            <a:r>
              <a:rPr lang="en-US" sz="3000" b="1">
                <a:solidFill>
                  <a:srgbClr val="000000"/>
                </a:solidFill>
                <a:latin typeface="Codec Pro Bold"/>
                <a:ea typeface="Codec Pro Bold"/>
                <a:cs typeface="Codec Pro Bold"/>
                <a:sym typeface="Codec Pro Bold"/>
              </a:rPr>
              <a:t>Hotel owners</a:t>
            </a:r>
            <a:r>
              <a:rPr lang="en-US" sz="3000">
                <a:solidFill>
                  <a:srgbClr val="000000"/>
                </a:solidFill>
                <a:latin typeface="Codec Pro"/>
                <a:ea typeface="Codec Pro"/>
                <a:cs typeface="Codec Pro"/>
                <a:sym typeface="Codec Pro"/>
              </a:rPr>
              <a:t> seeking to improve their online reputation</a:t>
            </a:r>
          </a:p>
          <a:p>
            <a:pPr marL="647700" lvl="1" indent="-323850" algn="l">
              <a:lnSpc>
                <a:spcPts val="3900"/>
              </a:lnSpc>
              <a:buFont typeface="Arial"/>
              <a:buChar char="•"/>
            </a:pPr>
            <a:r>
              <a:rPr lang="en-US" sz="3000" b="1">
                <a:solidFill>
                  <a:srgbClr val="000000"/>
                </a:solidFill>
                <a:latin typeface="Codec Pro Bold"/>
                <a:ea typeface="Codec Pro Bold"/>
                <a:cs typeface="Codec Pro Bold"/>
                <a:sym typeface="Codec Pro Bold"/>
              </a:rPr>
              <a:t>Consumers </a:t>
            </a:r>
            <a:r>
              <a:rPr lang="en-US" sz="3000">
                <a:solidFill>
                  <a:srgbClr val="000000"/>
                </a:solidFill>
                <a:latin typeface="Codec Pro"/>
                <a:ea typeface="Codec Pro"/>
                <a:cs typeface="Codec Pro"/>
                <a:sym typeface="Codec Pro"/>
              </a:rPr>
              <a:t>making informed travel decisions</a:t>
            </a:r>
          </a:p>
          <a:p>
            <a:pPr marL="647700" lvl="1" indent="-323850" algn="l">
              <a:lnSpc>
                <a:spcPts val="3900"/>
              </a:lnSpc>
              <a:spcBef>
                <a:spcPct val="0"/>
              </a:spcBef>
              <a:buFont typeface="Arial"/>
              <a:buChar char="•"/>
            </a:pPr>
            <a:r>
              <a:rPr lang="en-US" sz="3000" b="1">
                <a:solidFill>
                  <a:srgbClr val="000000"/>
                </a:solidFill>
                <a:latin typeface="Codec Pro Bold"/>
                <a:ea typeface="Codec Pro Bold"/>
                <a:cs typeface="Codec Pro Bold"/>
                <a:sym typeface="Codec Pro Bold"/>
              </a:rPr>
              <a:t>Platforms </a:t>
            </a:r>
            <a:r>
              <a:rPr lang="en-US" sz="3000">
                <a:solidFill>
                  <a:srgbClr val="000000"/>
                </a:solidFill>
                <a:latin typeface="Codec Pro"/>
                <a:ea typeface="Codec Pro"/>
                <a:cs typeface="Codec Pro"/>
                <a:sym typeface="Codec Pro"/>
              </a:rPr>
              <a:t>optimizing their review systems</a:t>
            </a:r>
          </a:p>
        </p:txBody>
      </p:sp>
      <p:sp>
        <p:nvSpPr>
          <p:cNvPr id="3" name="AutoShape 3"/>
          <p:cNvSpPr/>
          <p:nvPr/>
        </p:nvSpPr>
        <p:spPr>
          <a:xfrm>
            <a:off x="-145227" y="-60817"/>
            <a:ext cx="18669388" cy="2229413"/>
          </a:xfrm>
          <a:prstGeom prst="rect">
            <a:avLst/>
          </a:prstGeom>
          <a:solidFill>
            <a:srgbClr val="7C987C"/>
          </a:solidFill>
        </p:spPr>
        <p:txBody>
          <a:bodyPr/>
          <a:lstStyle/>
          <a:p>
            <a:endParaRPr lang="en-GB"/>
          </a:p>
        </p:txBody>
      </p:sp>
      <p:sp>
        <p:nvSpPr>
          <p:cNvPr id="4" name="TextBox 4"/>
          <p:cNvSpPr txBox="1"/>
          <p:nvPr/>
        </p:nvSpPr>
        <p:spPr>
          <a:xfrm>
            <a:off x="6008688" y="306706"/>
            <a:ext cx="6270625" cy="1361017"/>
          </a:xfrm>
          <a:prstGeom prst="rect">
            <a:avLst/>
          </a:prstGeom>
        </p:spPr>
        <p:txBody>
          <a:bodyPr lIns="0" tIns="0" rIns="0" bIns="0" rtlCol="0" anchor="t">
            <a:spAutoFit/>
          </a:bodyPr>
          <a:lstStyle/>
          <a:p>
            <a:pPr marL="0" lvl="0" indent="0" algn="ctr">
              <a:lnSpc>
                <a:spcPts val="9600"/>
              </a:lnSpc>
            </a:pPr>
            <a:r>
              <a:rPr lang="en-US" sz="8000" b="1">
                <a:solidFill>
                  <a:srgbClr val="FFFFFF"/>
                </a:solidFill>
                <a:latin typeface="Codec Pro Bold"/>
                <a:ea typeface="Codec Pro Bold"/>
                <a:cs typeface="Codec Pro Bold"/>
                <a:sym typeface="Codec Pro Bold"/>
              </a:rPr>
              <a:t>MOTIVATION</a:t>
            </a:r>
          </a:p>
        </p:txBody>
      </p:sp>
      <p:sp>
        <p:nvSpPr>
          <p:cNvPr id="5" name="TextBox 5"/>
          <p:cNvSpPr txBox="1"/>
          <p:nvPr/>
        </p:nvSpPr>
        <p:spPr>
          <a:xfrm>
            <a:off x="10274192" y="4086439"/>
            <a:ext cx="6876896" cy="4505559"/>
          </a:xfrm>
          <a:prstGeom prst="rect">
            <a:avLst/>
          </a:prstGeom>
        </p:spPr>
        <p:txBody>
          <a:bodyPr lIns="0" tIns="0" rIns="0" bIns="0" rtlCol="0" anchor="t">
            <a:spAutoFit/>
          </a:bodyPr>
          <a:lstStyle/>
          <a:p>
            <a:pPr algn="l">
              <a:lnSpc>
                <a:spcPts val="3900"/>
              </a:lnSpc>
              <a:spcBef>
                <a:spcPct val="0"/>
              </a:spcBef>
            </a:pPr>
            <a:r>
              <a:rPr lang="en-US" sz="3000">
                <a:solidFill>
                  <a:srgbClr val="000000"/>
                </a:solidFill>
                <a:latin typeface="Codec Pro"/>
                <a:ea typeface="Codec Pro"/>
                <a:cs typeface="Codec Pro"/>
                <a:sym typeface="Codec Pro"/>
              </a:rPr>
              <a:t>For a hotel, advantages in ratings could mean: </a:t>
            </a:r>
          </a:p>
          <a:p>
            <a:pPr marL="647700" lvl="1" indent="-323850" algn="l">
              <a:lnSpc>
                <a:spcPts val="3900"/>
              </a:lnSpc>
              <a:buFont typeface="Arial"/>
              <a:buChar char="•"/>
            </a:pPr>
            <a:r>
              <a:rPr lang="en-US" sz="3000">
                <a:solidFill>
                  <a:srgbClr val="000000"/>
                </a:solidFill>
                <a:latin typeface="Codec Pro"/>
                <a:ea typeface="Codec Pro"/>
                <a:cs typeface="Codec Pro"/>
                <a:sym typeface="Codec Pro"/>
              </a:rPr>
              <a:t>Higher </a:t>
            </a:r>
            <a:r>
              <a:rPr lang="en-US" sz="3000" b="1">
                <a:solidFill>
                  <a:srgbClr val="000000"/>
                </a:solidFill>
                <a:latin typeface="Codec Pro Bold"/>
                <a:ea typeface="Codec Pro Bold"/>
                <a:cs typeface="Codec Pro Bold"/>
                <a:sym typeface="Codec Pro Bold"/>
              </a:rPr>
              <a:t>booking </a:t>
            </a:r>
            <a:r>
              <a:rPr lang="en-US" sz="3000">
                <a:solidFill>
                  <a:srgbClr val="000000"/>
                </a:solidFill>
                <a:latin typeface="Codec Pro"/>
                <a:ea typeface="Codec Pro"/>
                <a:cs typeface="Codec Pro"/>
                <a:sym typeface="Codec Pro"/>
              </a:rPr>
              <a:t>rates</a:t>
            </a:r>
          </a:p>
          <a:p>
            <a:pPr marL="647700" lvl="1" indent="-323850" algn="l">
              <a:lnSpc>
                <a:spcPts val="3900"/>
              </a:lnSpc>
              <a:buFont typeface="Arial"/>
              <a:buChar char="•"/>
            </a:pPr>
            <a:r>
              <a:rPr lang="en-US" sz="3000">
                <a:solidFill>
                  <a:srgbClr val="000000"/>
                </a:solidFill>
                <a:latin typeface="Codec Pro"/>
                <a:ea typeface="Codec Pro"/>
                <a:cs typeface="Codec Pro"/>
                <a:sym typeface="Codec Pro"/>
              </a:rPr>
              <a:t>Increased </a:t>
            </a:r>
            <a:r>
              <a:rPr lang="en-US" sz="3000" b="1">
                <a:solidFill>
                  <a:srgbClr val="000000"/>
                </a:solidFill>
                <a:latin typeface="Codec Pro Bold"/>
                <a:ea typeface="Codec Pro Bold"/>
                <a:cs typeface="Codec Pro Bold"/>
                <a:sym typeface="Codec Pro Bold"/>
              </a:rPr>
              <a:t>pricing </a:t>
            </a:r>
            <a:r>
              <a:rPr lang="en-US" sz="3000">
                <a:solidFill>
                  <a:srgbClr val="000000"/>
                </a:solidFill>
                <a:latin typeface="Codec Pro"/>
                <a:ea typeface="Codec Pro"/>
                <a:cs typeface="Codec Pro"/>
                <a:sym typeface="Codec Pro"/>
              </a:rPr>
              <a:t>power</a:t>
            </a:r>
          </a:p>
          <a:p>
            <a:pPr marL="647700" lvl="1" indent="-323850" algn="l">
              <a:lnSpc>
                <a:spcPts val="3900"/>
              </a:lnSpc>
              <a:buFont typeface="Arial"/>
              <a:buChar char="•"/>
            </a:pPr>
            <a:r>
              <a:rPr lang="en-US" sz="3000">
                <a:solidFill>
                  <a:srgbClr val="000000"/>
                </a:solidFill>
                <a:latin typeface="Codec Pro"/>
                <a:ea typeface="Codec Pro"/>
                <a:cs typeface="Codec Pro"/>
                <a:sym typeface="Codec Pro"/>
              </a:rPr>
              <a:t>Better customer </a:t>
            </a:r>
            <a:r>
              <a:rPr lang="en-US" sz="3000" b="1">
                <a:solidFill>
                  <a:srgbClr val="000000"/>
                </a:solidFill>
                <a:latin typeface="Codec Pro Bold"/>
                <a:ea typeface="Codec Pro Bold"/>
                <a:cs typeface="Codec Pro Bold"/>
                <a:sym typeface="Codec Pro Bold"/>
              </a:rPr>
              <a:t>trust </a:t>
            </a:r>
            <a:r>
              <a:rPr lang="en-US" sz="3000">
                <a:solidFill>
                  <a:srgbClr val="000000"/>
                </a:solidFill>
                <a:latin typeface="Codec Pro"/>
                <a:ea typeface="Codec Pro"/>
                <a:cs typeface="Codec Pro"/>
                <a:sym typeface="Codec Pro"/>
              </a:rPr>
              <a:t>and </a:t>
            </a:r>
            <a:r>
              <a:rPr lang="en-US" sz="3000" b="1">
                <a:solidFill>
                  <a:srgbClr val="000000"/>
                </a:solidFill>
                <a:latin typeface="Codec Pro Bold"/>
                <a:ea typeface="Codec Pro Bold"/>
                <a:cs typeface="Codec Pro Bold"/>
                <a:sym typeface="Codec Pro Bold"/>
              </a:rPr>
              <a:t>engagement</a:t>
            </a:r>
          </a:p>
          <a:p>
            <a:pPr algn="l">
              <a:lnSpc>
                <a:spcPts val="3900"/>
              </a:lnSpc>
            </a:pPr>
            <a:endParaRPr lang="en-US" sz="3000" b="1">
              <a:solidFill>
                <a:srgbClr val="000000"/>
              </a:solidFill>
              <a:latin typeface="Codec Pro Bold"/>
              <a:ea typeface="Codec Pro Bold"/>
              <a:cs typeface="Codec Pro Bold"/>
              <a:sym typeface="Codec Pro Bold"/>
            </a:endParaRPr>
          </a:p>
          <a:p>
            <a:pPr algn="l">
              <a:lnSpc>
                <a:spcPts val="3900"/>
              </a:lnSpc>
              <a:spcBef>
                <a:spcPct val="0"/>
              </a:spcBef>
            </a:pPr>
            <a:r>
              <a:rPr lang="en-US" sz="3000">
                <a:solidFill>
                  <a:srgbClr val="000000"/>
                </a:solidFill>
                <a:latin typeface="Codec Pro"/>
                <a:ea typeface="Codec Pro"/>
                <a:cs typeface="Codec Pro"/>
                <a:sym typeface="Codec Pro"/>
              </a:rPr>
              <a:t>Understanding these effects helps hotels adjust their strategies</a:t>
            </a:r>
          </a:p>
        </p:txBody>
      </p:sp>
      <p:grpSp>
        <p:nvGrpSpPr>
          <p:cNvPr id="6" name="Group 6"/>
          <p:cNvGrpSpPr/>
          <p:nvPr/>
        </p:nvGrpSpPr>
        <p:grpSpPr>
          <a:xfrm>
            <a:off x="509130" y="2424432"/>
            <a:ext cx="8132460" cy="1652267"/>
            <a:chOff x="-1" y="-48027"/>
            <a:chExt cx="2141882" cy="435165"/>
          </a:xfrm>
        </p:grpSpPr>
        <p:sp>
          <p:nvSpPr>
            <p:cNvPr id="7" name="Freeform 7"/>
            <p:cNvSpPr/>
            <p:nvPr/>
          </p:nvSpPr>
          <p:spPr>
            <a:xfrm>
              <a:off x="0" y="0"/>
              <a:ext cx="2141881" cy="349440"/>
            </a:xfrm>
            <a:custGeom>
              <a:avLst/>
              <a:gdLst/>
              <a:ahLst/>
              <a:cxnLst/>
              <a:rect l="l" t="t" r="r" b="b"/>
              <a:pathLst>
                <a:path w="2141881" h="349440">
                  <a:moveTo>
                    <a:pt x="48551" y="0"/>
                  </a:moveTo>
                  <a:lnTo>
                    <a:pt x="2093330" y="0"/>
                  </a:lnTo>
                  <a:cubicBezTo>
                    <a:pt x="2106206" y="0"/>
                    <a:pt x="2118555" y="5115"/>
                    <a:pt x="2127660" y="14220"/>
                  </a:cubicBezTo>
                  <a:cubicBezTo>
                    <a:pt x="2136765" y="23325"/>
                    <a:pt x="2141881" y="35674"/>
                    <a:pt x="2141881" y="48551"/>
                  </a:cubicBezTo>
                  <a:lnTo>
                    <a:pt x="2141881" y="300889"/>
                  </a:lnTo>
                  <a:cubicBezTo>
                    <a:pt x="2141881" y="313766"/>
                    <a:pt x="2136765" y="326115"/>
                    <a:pt x="2127660" y="335220"/>
                  </a:cubicBezTo>
                  <a:cubicBezTo>
                    <a:pt x="2118555" y="344325"/>
                    <a:pt x="2106206" y="349440"/>
                    <a:pt x="2093330" y="349440"/>
                  </a:cubicBezTo>
                  <a:lnTo>
                    <a:pt x="48551" y="349440"/>
                  </a:lnTo>
                  <a:cubicBezTo>
                    <a:pt x="35674" y="349440"/>
                    <a:pt x="23325" y="344325"/>
                    <a:pt x="14220" y="335220"/>
                  </a:cubicBezTo>
                  <a:cubicBezTo>
                    <a:pt x="5115" y="326115"/>
                    <a:pt x="0" y="313766"/>
                    <a:pt x="0" y="300889"/>
                  </a:cubicBezTo>
                  <a:lnTo>
                    <a:pt x="0" y="48551"/>
                  </a:lnTo>
                  <a:cubicBezTo>
                    <a:pt x="0" y="35674"/>
                    <a:pt x="5115" y="23325"/>
                    <a:pt x="14220" y="14220"/>
                  </a:cubicBezTo>
                  <a:cubicBezTo>
                    <a:pt x="23325" y="5115"/>
                    <a:pt x="35674" y="0"/>
                    <a:pt x="48551" y="0"/>
                  </a:cubicBezTo>
                  <a:close/>
                </a:path>
              </a:pathLst>
            </a:custGeom>
            <a:solidFill>
              <a:srgbClr val="4B654B"/>
            </a:solidFill>
          </p:spPr>
          <p:txBody>
            <a:bodyPr/>
            <a:lstStyle/>
            <a:p>
              <a:endParaRPr lang="en-GB"/>
            </a:p>
          </p:txBody>
        </p:sp>
        <p:sp>
          <p:nvSpPr>
            <p:cNvPr id="8" name="TextBox 8"/>
            <p:cNvSpPr txBox="1"/>
            <p:nvPr/>
          </p:nvSpPr>
          <p:spPr>
            <a:xfrm>
              <a:off x="-1" y="-48027"/>
              <a:ext cx="2141881" cy="435165"/>
            </a:xfrm>
            <a:prstGeom prst="rect">
              <a:avLst/>
            </a:prstGeom>
          </p:spPr>
          <p:txBody>
            <a:bodyPr lIns="50800" tIns="50800" rIns="50800" bIns="50800" rtlCol="0" anchor="ctr"/>
            <a:lstStyle/>
            <a:p>
              <a:pPr algn="ctr">
                <a:lnSpc>
                  <a:spcPts val="3900"/>
                </a:lnSpc>
              </a:pPr>
              <a:r>
                <a:rPr lang="en-US" sz="3000" dirty="0">
                  <a:solidFill>
                    <a:srgbClr val="FFFFFF"/>
                  </a:solidFill>
                  <a:latin typeface="Codec Pro"/>
                  <a:ea typeface="Codec Pro"/>
                  <a:cs typeface="Codec Pro"/>
                  <a:sym typeface="Codec Pro"/>
                </a:rPr>
                <a:t>Online Reviews and Consumer Behavior</a:t>
              </a:r>
            </a:p>
          </p:txBody>
        </p:sp>
      </p:grpSp>
      <p:grpSp>
        <p:nvGrpSpPr>
          <p:cNvPr id="9" name="Group 9"/>
          <p:cNvGrpSpPr/>
          <p:nvPr/>
        </p:nvGrpSpPr>
        <p:grpSpPr>
          <a:xfrm>
            <a:off x="9646410" y="2400299"/>
            <a:ext cx="8132460" cy="1652267"/>
            <a:chOff x="-1" y="-54383"/>
            <a:chExt cx="2141882" cy="435165"/>
          </a:xfrm>
        </p:grpSpPr>
        <p:sp>
          <p:nvSpPr>
            <p:cNvPr id="10" name="Freeform 10"/>
            <p:cNvSpPr/>
            <p:nvPr/>
          </p:nvSpPr>
          <p:spPr>
            <a:xfrm>
              <a:off x="0" y="0"/>
              <a:ext cx="2141881" cy="349440"/>
            </a:xfrm>
            <a:custGeom>
              <a:avLst/>
              <a:gdLst/>
              <a:ahLst/>
              <a:cxnLst/>
              <a:rect l="l" t="t" r="r" b="b"/>
              <a:pathLst>
                <a:path w="2141881" h="349440">
                  <a:moveTo>
                    <a:pt x="48551" y="0"/>
                  </a:moveTo>
                  <a:lnTo>
                    <a:pt x="2093330" y="0"/>
                  </a:lnTo>
                  <a:cubicBezTo>
                    <a:pt x="2106206" y="0"/>
                    <a:pt x="2118555" y="5115"/>
                    <a:pt x="2127660" y="14220"/>
                  </a:cubicBezTo>
                  <a:cubicBezTo>
                    <a:pt x="2136765" y="23325"/>
                    <a:pt x="2141881" y="35674"/>
                    <a:pt x="2141881" y="48551"/>
                  </a:cubicBezTo>
                  <a:lnTo>
                    <a:pt x="2141881" y="300889"/>
                  </a:lnTo>
                  <a:cubicBezTo>
                    <a:pt x="2141881" y="313766"/>
                    <a:pt x="2136765" y="326115"/>
                    <a:pt x="2127660" y="335220"/>
                  </a:cubicBezTo>
                  <a:cubicBezTo>
                    <a:pt x="2118555" y="344325"/>
                    <a:pt x="2106206" y="349440"/>
                    <a:pt x="2093330" y="349440"/>
                  </a:cubicBezTo>
                  <a:lnTo>
                    <a:pt x="48551" y="349440"/>
                  </a:lnTo>
                  <a:cubicBezTo>
                    <a:pt x="35674" y="349440"/>
                    <a:pt x="23325" y="344325"/>
                    <a:pt x="14220" y="335220"/>
                  </a:cubicBezTo>
                  <a:cubicBezTo>
                    <a:pt x="5115" y="326115"/>
                    <a:pt x="0" y="313766"/>
                    <a:pt x="0" y="300889"/>
                  </a:cubicBezTo>
                  <a:lnTo>
                    <a:pt x="0" y="48551"/>
                  </a:lnTo>
                  <a:cubicBezTo>
                    <a:pt x="0" y="35674"/>
                    <a:pt x="5115" y="23325"/>
                    <a:pt x="14220" y="14220"/>
                  </a:cubicBezTo>
                  <a:cubicBezTo>
                    <a:pt x="23325" y="5115"/>
                    <a:pt x="35674" y="0"/>
                    <a:pt x="48551" y="0"/>
                  </a:cubicBezTo>
                  <a:close/>
                </a:path>
              </a:pathLst>
            </a:custGeom>
            <a:solidFill>
              <a:srgbClr val="4B654B"/>
            </a:solidFill>
          </p:spPr>
          <p:txBody>
            <a:bodyPr/>
            <a:lstStyle/>
            <a:p>
              <a:endParaRPr lang="en-GB"/>
            </a:p>
          </p:txBody>
        </p:sp>
        <p:sp>
          <p:nvSpPr>
            <p:cNvPr id="11" name="TextBox 11"/>
            <p:cNvSpPr txBox="1"/>
            <p:nvPr/>
          </p:nvSpPr>
          <p:spPr>
            <a:xfrm>
              <a:off x="-1" y="-54383"/>
              <a:ext cx="2141881" cy="435165"/>
            </a:xfrm>
            <a:prstGeom prst="rect">
              <a:avLst/>
            </a:prstGeom>
          </p:spPr>
          <p:txBody>
            <a:bodyPr lIns="50800" tIns="50800" rIns="50800" bIns="50800" rtlCol="0" anchor="ctr"/>
            <a:lstStyle/>
            <a:p>
              <a:pPr algn="ctr">
                <a:lnSpc>
                  <a:spcPts val="3900"/>
                </a:lnSpc>
              </a:pPr>
              <a:r>
                <a:rPr lang="en-US" sz="3000" dirty="0">
                  <a:solidFill>
                    <a:srgbClr val="FFFFFF"/>
                  </a:solidFill>
                  <a:latin typeface="Codec Pro"/>
                  <a:ea typeface="Codec Pro"/>
                  <a:cs typeface="Codec Pro"/>
                  <a:sym typeface="Codec Pro"/>
                </a:rPr>
                <a:t>Economic Implications for Hotel Industry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8551397" cy="10287000"/>
          </a:xfrm>
          <a:prstGeom prst="rect">
            <a:avLst/>
          </a:prstGeom>
          <a:solidFill>
            <a:srgbClr val="7C987C"/>
          </a:solidFill>
        </p:spPr>
        <p:txBody>
          <a:bodyPr/>
          <a:lstStyle/>
          <a:p>
            <a:endParaRPr lang="en-GB"/>
          </a:p>
        </p:txBody>
      </p:sp>
      <p:sp>
        <p:nvSpPr>
          <p:cNvPr id="3" name="Freeform 3"/>
          <p:cNvSpPr/>
          <p:nvPr/>
        </p:nvSpPr>
        <p:spPr>
          <a:xfrm rot="-4668375">
            <a:off x="7024824" y="5836198"/>
            <a:ext cx="4172156" cy="2283797"/>
          </a:xfrm>
          <a:custGeom>
            <a:avLst/>
            <a:gdLst/>
            <a:ahLst/>
            <a:cxnLst/>
            <a:rect l="l" t="t" r="r" b="b"/>
            <a:pathLst>
              <a:path w="4172156" h="2283797">
                <a:moveTo>
                  <a:pt x="0" y="0"/>
                </a:moveTo>
                <a:lnTo>
                  <a:pt x="4172156" y="0"/>
                </a:lnTo>
                <a:lnTo>
                  <a:pt x="4172156" y="2283797"/>
                </a:lnTo>
                <a:lnTo>
                  <a:pt x="0" y="22837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9144000" y="2317671"/>
            <a:ext cx="8303572" cy="1929011"/>
          </a:xfrm>
          <a:custGeom>
            <a:avLst/>
            <a:gdLst/>
            <a:ahLst/>
            <a:cxnLst/>
            <a:rect l="l" t="t" r="r" b="b"/>
            <a:pathLst>
              <a:path w="8303572" h="1929011">
                <a:moveTo>
                  <a:pt x="0" y="0"/>
                </a:moveTo>
                <a:lnTo>
                  <a:pt x="8303572" y="0"/>
                </a:lnTo>
                <a:lnTo>
                  <a:pt x="8303572" y="1929011"/>
                </a:lnTo>
                <a:lnTo>
                  <a:pt x="0" y="1929011"/>
                </a:lnTo>
                <a:lnTo>
                  <a:pt x="0" y="0"/>
                </a:lnTo>
                <a:close/>
              </a:path>
            </a:pathLst>
          </a:custGeom>
          <a:blipFill>
            <a:blip r:embed="rId4"/>
            <a:stretch>
              <a:fillRect t="-69260" b="-72871"/>
            </a:stretch>
          </a:blipFill>
        </p:spPr>
        <p:txBody>
          <a:bodyPr/>
          <a:lstStyle/>
          <a:p>
            <a:endParaRPr lang="en-GB"/>
          </a:p>
        </p:txBody>
      </p:sp>
      <p:grpSp>
        <p:nvGrpSpPr>
          <p:cNvPr id="5" name="Group 5"/>
          <p:cNvGrpSpPr/>
          <p:nvPr/>
        </p:nvGrpSpPr>
        <p:grpSpPr>
          <a:xfrm>
            <a:off x="1623266" y="2705099"/>
            <a:ext cx="5304865" cy="1612616"/>
            <a:chOff x="0" y="-56865"/>
            <a:chExt cx="1397166" cy="424722"/>
          </a:xfrm>
        </p:grpSpPr>
        <p:sp>
          <p:nvSpPr>
            <p:cNvPr id="6" name="Freeform 6"/>
            <p:cNvSpPr/>
            <p:nvPr/>
          </p:nvSpPr>
          <p:spPr>
            <a:xfrm>
              <a:off x="0" y="0"/>
              <a:ext cx="1397166" cy="338997"/>
            </a:xfrm>
            <a:custGeom>
              <a:avLst/>
              <a:gdLst/>
              <a:ahLst/>
              <a:cxnLst/>
              <a:rect l="l" t="t" r="r" b="b"/>
              <a:pathLst>
                <a:path w="1397166" h="338997">
                  <a:moveTo>
                    <a:pt x="74429" y="0"/>
                  </a:moveTo>
                  <a:lnTo>
                    <a:pt x="1322737" y="0"/>
                  </a:lnTo>
                  <a:cubicBezTo>
                    <a:pt x="1342477" y="0"/>
                    <a:pt x="1361408" y="7842"/>
                    <a:pt x="1375366" y="21800"/>
                  </a:cubicBezTo>
                  <a:cubicBezTo>
                    <a:pt x="1389325" y="35758"/>
                    <a:pt x="1397166" y="54689"/>
                    <a:pt x="1397166" y="74429"/>
                  </a:cubicBezTo>
                  <a:lnTo>
                    <a:pt x="1397166" y="264567"/>
                  </a:lnTo>
                  <a:cubicBezTo>
                    <a:pt x="1397166" y="284307"/>
                    <a:pt x="1389325" y="303239"/>
                    <a:pt x="1375366" y="317197"/>
                  </a:cubicBezTo>
                  <a:cubicBezTo>
                    <a:pt x="1361408" y="331155"/>
                    <a:pt x="1342477" y="338997"/>
                    <a:pt x="1322737" y="338997"/>
                  </a:cubicBezTo>
                  <a:lnTo>
                    <a:pt x="74429" y="338997"/>
                  </a:lnTo>
                  <a:cubicBezTo>
                    <a:pt x="54689" y="338997"/>
                    <a:pt x="35758" y="331155"/>
                    <a:pt x="21800" y="317197"/>
                  </a:cubicBezTo>
                  <a:cubicBezTo>
                    <a:pt x="7842" y="303239"/>
                    <a:pt x="0" y="284307"/>
                    <a:pt x="0" y="264567"/>
                  </a:cubicBezTo>
                  <a:lnTo>
                    <a:pt x="0" y="74429"/>
                  </a:lnTo>
                  <a:cubicBezTo>
                    <a:pt x="0" y="54689"/>
                    <a:pt x="7842" y="35758"/>
                    <a:pt x="21800" y="21800"/>
                  </a:cubicBezTo>
                  <a:cubicBezTo>
                    <a:pt x="35758" y="7842"/>
                    <a:pt x="54689" y="0"/>
                    <a:pt x="74429" y="0"/>
                  </a:cubicBezTo>
                  <a:close/>
                </a:path>
              </a:pathLst>
            </a:custGeom>
            <a:solidFill>
              <a:srgbClr val="365236"/>
            </a:solidFill>
          </p:spPr>
          <p:txBody>
            <a:bodyPr/>
            <a:lstStyle/>
            <a:p>
              <a:endParaRPr lang="en-GB"/>
            </a:p>
          </p:txBody>
        </p:sp>
        <p:sp>
          <p:nvSpPr>
            <p:cNvPr id="7" name="TextBox 7"/>
            <p:cNvSpPr txBox="1"/>
            <p:nvPr/>
          </p:nvSpPr>
          <p:spPr>
            <a:xfrm>
              <a:off x="0" y="-56865"/>
              <a:ext cx="1397166" cy="424722"/>
            </a:xfrm>
            <a:prstGeom prst="rect">
              <a:avLst/>
            </a:prstGeom>
          </p:spPr>
          <p:txBody>
            <a:bodyPr lIns="50800" tIns="50800" rIns="50800" bIns="50800" rtlCol="0" anchor="ctr"/>
            <a:lstStyle/>
            <a:p>
              <a:pPr algn="ctr">
                <a:lnSpc>
                  <a:spcPts val="4550"/>
                </a:lnSpc>
              </a:pPr>
              <a:r>
                <a:rPr lang="en-US" sz="3500" dirty="0">
                  <a:solidFill>
                    <a:srgbClr val="FFFFFF"/>
                  </a:solidFill>
                  <a:latin typeface="Codec Pro"/>
                  <a:ea typeface="Codec Pro"/>
                  <a:cs typeface="Codec Pro"/>
                  <a:sym typeface="Codec Pro"/>
                </a:rPr>
                <a:t>4,599 Hotels data</a:t>
              </a:r>
            </a:p>
          </p:txBody>
        </p:sp>
      </p:grpSp>
      <p:sp>
        <p:nvSpPr>
          <p:cNvPr id="8" name="TextBox 8"/>
          <p:cNvSpPr txBox="1"/>
          <p:nvPr/>
        </p:nvSpPr>
        <p:spPr>
          <a:xfrm>
            <a:off x="1028700" y="236804"/>
            <a:ext cx="6972300" cy="2462213"/>
          </a:xfrm>
          <a:prstGeom prst="rect">
            <a:avLst/>
          </a:prstGeom>
        </p:spPr>
        <p:txBody>
          <a:bodyPr wrap="square" lIns="0" tIns="0" rIns="0" bIns="0" rtlCol="0" anchor="t">
            <a:spAutoFit/>
          </a:bodyPr>
          <a:lstStyle/>
          <a:p>
            <a:pPr algn="l">
              <a:lnSpc>
                <a:spcPts val="9600"/>
              </a:lnSpc>
            </a:pPr>
            <a:r>
              <a:rPr lang="en-US" sz="8000" b="1" dirty="0">
                <a:solidFill>
                  <a:srgbClr val="FFFFFF"/>
                </a:solidFill>
                <a:latin typeface="Codec Pro Bold"/>
                <a:ea typeface="Codec Pro Bold"/>
                <a:cs typeface="Codec Pro Bold"/>
                <a:sym typeface="Codec Pro Bold"/>
              </a:rPr>
              <a:t>DATASET </a:t>
            </a:r>
          </a:p>
          <a:p>
            <a:pPr algn="l">
              <a:lnSpc>
                <a:spcPts val="9600"/>
              </a:lnSpc>
            </a:pPr>
            <a:r>
              <a:rPr lang="en-US" sz="8000" b="1" dirty="0">
                <a:solidFill>
                  <a:srgbClr val="FFFFFF"/>
                </a:solidFill>
                <a:latin typeface="Codec Pro Bold"/>
                <a:ea typeface="Codec Pro Bold"/>
                <a:cs typeface="Codec Pro Bold"/>
                <a:sym typeface="Codec Pro Bold"/>
              </a:rPr>
              <a:t>DESCRIPTION</a:t>
            </a:r>
          </a:p>
        </p:txBody>
      </p:sp>
      <p:sp>
        <p:nvSpPr>
          <p:cNvPr id="9" name="TextBox 9"/>
          <p:cNvSpPr txBox="1"/>
          <p:nvPr/>
        </p:nvSpPr>
        <p:spPr>
          <a:xfrm>
            <a:off x="11293672" y="4243027"/>
            <a:ext cx="6153900" cy="4041858"/>
          </a:xfrm>
          <a:prstGeom prst="rect">
            <a:avLst/>
          </a:prstGeom>
        </p:spPr>
        <p:txBody>
          <a:bodyPr lIns="0" tIns="0" rIns="0" bIns="0" rtlCol="0" anchor="t">
            <a:spAutoFit/>
          </a:bodyPr>
          <a:lstStyle/>
          <a:p>
            <a:pPr algn="r">
              <a:lnSpc>
                <a:spcPts val="4550"/>
              </a:lnSpc>
              <a:spcBef>
                <a:spcPct val="0"/>
              </a:spcBef>
            </a:pPr>
            <a:r>
              <a:rPr lang="en-US" sz="3500" b="1">
                <a:solidFill>
                  <a:srgbClr val="000000"/>
                </a:solidFill>
                <a:latin typeface="Codec Pro Bold"/>
                <a:ea typeface="Codec Pro Bold"/>
                <a:cs typeface="Codec Pro Bold"/>
                <a:sym typeface="Codec Pro Bold"/>
              </a:rPr>
              <a:t>TripAdvisor </a:t>
            </a:r>
            <a:r>
              <a:rPr lang="en-US" sz="3500">
                <a:solidFill>
                  <a:srgbClr val="000000"/>
                </a:solidFill>
                <a:latin typeface="Codec Pro"/>
                <a:ea typeface="Codec Pro"/>
                <a:cs typeface="Codec Pro"/>
                <a:sym typeface="Codec Pro"/>
              </a:rPr>
              <a:t>is one of the world's largest travel platforms, allowing users to review hotels, restaurants, and attractions to help travelers make informed decisions.</a:t>
            </a:r>
          </a:p>
        </p:txBody>
      </p:sp>
      <p:grpSp>
        <p:nvGrpSpPr>
          <p:cNvPr id="10" name="Group 10"/>
          <p:cNvGrpSpPr/>
          <p:nvPr/>
        </p:nvGrpSpPr>
        <p:grpSpPr>
          <a:xfrm>
            <a:off x="1623266" y="4445282"/>
            <a:ext cx="5304865" cy="1612616"/>
            <a:chOff x="0" y="-55949"/>
            <a:chExt cx="1397166" cy="424722"/>
          </a:xfrm>
        </p:grpSpPr>
        <p:sp>
          <p:nvSpPr>
            <p:cNvPr id="11" name="Freeform 11"/>
            <p:cNvSpPr/>
            <p:nvPr/>
          </p:nvSpPr>
          <p:spPr>
            <a:xfrm>
              <a:off x="0" y="0"/>
              <a:ext cx="1397166" cy="338997"/>
            </a:xfrm>
            <a:custGeom>
              <a:avLst/>
              <a:gdLst/>
              <a:ahLst/>
              <a:cxnLst/>
              <a:rect l="l" t="t" r="r" b="b"/>
              <a:pathLst>
                <a:path w="1397166" h="338997">
                  <a:moveTo>
                    <a:pt x="74429" y="0"/>
                  </a:moveTo>
                  <a:lnTo>
                    <a:pt x="1322737" y="0"/>
                  </a:lnTo>
                  <a:cubicBezTo>
                    <a:pt x="1342477" y="0"/>
                    <a:pt x="1361408" y="7842"/>
                    <a:pt x="1375366" y="21800"/>
                  </a:cubicBezTo>
                  <a:cubicBezTo>
                    <a:pt x="1389325" y="35758"/>
                    <a:pt x="1397166" y="54689"/>
                    <a:pt x="1397166" y="74429"/>
                  </a:cubicBezTo>
                  <a:lnTo>
                    <a:pt x="1397166" y="264567"/>
                  </a:lnTo>
                  <a:cubicBezTo>
                    <a:pt x="1397166" y="284307"/>
                    <a:pt x="1389325" y="303239"/>
                    <a:pt x="1375366" y="317197"/>
                  </a:cubicBezTo>
                  <a:cubicBezTo>
                    <a:pt x="1361408" y="331155"/>
                    <a:pt x="1342477" y="338997"/>
                    <a:pt x="1322737" y="338997"/>
                  </a:cubicBezTo>
                  <a:lnTo>
                    <a:pt x="74429" y="338997"/>
                  </a:lnTo>
                  <a:cubicBezTo>
                    <a:pt x="54689" y="338997"/>
                    <a:pt x="35758" y="331155"/>
                    <a:pt x="21800" y="317197"/>
                  </a:cubicBezTo>
                  <a:cubicBezTo>
                    <a:pt x="7842" y="303239"/>
                    <a:pt x="0" y="284307"/>
                    <a:pt x="0" y="264567"/>
                  </a:cubicBezTo>
                  <a:lnTo>
                    <a:pt x="0" y="74429"/>
                  </a:lnTo>
                  <a:cubicBezTo>
                    <a:pt x="0" y="54689"/>
                    <a:pt x="7842" y="35758"/>
                    <a:pt x="21800" y="21800"/>
                  </a:cubicBezTo>
                  <a:cubicBezTo>
                    <a:pt x="35758" y="7842"/>
                    <a:pt x="54689" y="0"/>
                    <a:pt x="74429" y="0"/>
                  </a:cubicBezTo>
                  <a:close/>
                </a:path>
              </a:pathLst>
            </a:custGeom>
            <a:solidFill>
              <a:srgbClr val="365236"/>
            </a:solidFill>
          </p:spPr>
          <p:txBody>
            <a:bodyPr/>
            <a:lstStyle/>
            <a:p>
              <a:endParaRPr lang="en-GB"/>
            </a:p>
          </p:txBody>
        </p:sp>
        <p:sp>
          <p:nvSpPr>
            <p:cNvPr id="12" name="TextBox 12"/>
            <p:cNvSpPr txBox="1"/>
            <p:nvPr/>
          </p:nvSpPr>
          <p:spPr>
            <a:xfrm>
              <a:off x="0" y="-55949"/>
              <a:ext cx="1397166" cy="424722"/>
            </a:xfrm>
            <a:prstGeom prst="rect">
              <a:avLst/>
            </a:prstGeom>
          </p:spPr>
          <p:txBody>
            <a:bodyPr lIns="50800" tIns="50800" rIns="50800" bIns="50800" rtlCol="0" anchor="ctr"/>
            <a:lstStyle/>
            <a:p>
              <a:pPr algn="ctr">
                <a:lnSpc>
                  <a:spcPts val="4550"/>
                </a:lnSpc>
              </a:pPr>
              <a:r>
                <a:rPr lang="en-US" sz="3500" dirty="0">
                  <a:solidFill>
                    <a:srgbClr val="FFFFFF"/>
                  </a:solidFill>
                  <a:latin typeface="Codec Pro"/>
                  <a:ea typeface="Codec Pro"/>
                  <a:cs typeface="Codec Pro"/>
                  <a:sym typeface="Codec Pro"/>
                </a:rPr>
                <a:t>Rome, Italy</a:t>
              </a:r>
            </a:p>
          </p:txBody>
        </p:sp>
      </p:grpSp>
      <p:grpSp>
        <p:nvGrpSpPr>
          <p:cNvPr id="13" name="Group 13"/>
          <p:cNvGrpSpPr/>
          <p:nvPr/>
        </p:nvGrpSpPr>
        <p:grpSpPr>
          <a:xfrm>
            <a:off x="1623266" y="7950485"/>
            <a:ext cx="5304865" cy="1612616"/>
            <a:chOff x="0" y="-46574"/>
            <a:chExt cx="1397166" cy="424722"/>
          </a:xfrm>
        </p:grpSpPr>
        <p:sp>
          <p:nvSpPr>
            <p:cNvPr id="14" name="Freeform 14"/>
            <p:cNvSpPr/>
            <p:nvPr/>
          </p:nvSpPr>
          <p:spPr>
            <a:xfrm>
              <a:off x="0" y="0"/>
              <a:ext cx="1397166" cy="338997"/>
            </a:xfrm>
            <a:custGeom>
              <a:avLst/>
              <a:gdLst/>
              <a:ahLst/>
              <a:cxnLst/>
              <a:rect l="l" t="t" r="r" b="b"/>
              <a:pathLst>
                <a:path w="1397166" h="338997">
                  <a:moveTo>
                    <a:pt x="74429" y="0"/>
                  </a:moveTo>
                  <a:lnTo>
                    <a:pt x="1322737" y="0"/>
                  </a:lnTo>
                  <a:cubicBezTo>
                    <a:pt x="1342477" y="0"/>
                    <a:pt x="1361408" y="7842"/>
                    <a:pt x="1375366" y="21800"/>
                  </a:cubicBezTo>
                  <a:cubicBezTo>
                    <a:pt x="1389325" y="35758"/>
                    <a:pt x="1397166" y="54689"/>
                    <a:pt x="1397166" y="74429"/>
                  </a:cubicBezTo>
                  <a:lnTo>
                    <a:pt x="1397166" y="264567"/>
                  </a:lnTo>
                  <a:cubicBezTo>
                    <a:pt x="1397166" y="284307"/>
                    <a:pt x="1389325" y="303239"/>
                    <a:pt x="1375366" y="317197"/>
                  </a:cubicBezTo>
                  <a:cubicBezTo>
                    <a:pt x="1361408" y="331155"/>
                    <a:pt x="1342477" y="338997"/>
                    <a:pt x="1322737" y="338997"/>
                  </a:cubicBezTo>
                  <a:lnTo>
                    <a:pt x="74429" y="338997"/>
                  </a:lnTo>
                  <a:cubicBezTo>
                    <a:pt x="54689" y="338997"/>
                    <a:pt x="35758" y="331155"/>
                    <a:pt x="21800" y="317197"/>
                  </a:cubicBezTo>
                  <a:cubicBezTo>
                    <a:pt x="7842" y="303239"/>
                    <a:pt x="0" y="284307"/>
                    <a:pt x="0" y="264567"/>
                  </a:cubicBezTo>
                  <a:lnTo>
                    <a:pt x="0" y="74429"/>
                  </a:lnTo>
                  <a:cubicBezTo>
                    <a:pt x="0" y="54689"/>
                    <a:pt x="7842" y="35758"/>
                    <a:pt x="21800" y="21800"/>
                  </a:cubicBezTo>
                  <a:cubicBezTo>
                    <a:pt x="35758" y="7842"/>
                    <a:pt x="54689" y="0"/>
                    <a:pt x="74429" y="0"/>
                  </a:cubicBezTo>
                  <a:close/>
                </a:path>
              </a:pathLst>
            </a:custGeom>
            <a:solidFill>
              <a:srgbClr val="365236"/>
            </a:solidFill>
          </p:spPr>
          <p:txBody>
            <a:bodyPr/>
            <a:lstStyle/>
            <a:p>
              <a:endParaRPr lang="en-GB"/>
            </a:p>
          </p:txBody>
        </p:sp>
        <p:sp>
          <p:nvSpPr>
            <p:cNvPr id="15" name="TextBox 15"/>
            <p:cNvSpPr txBox="1"/>
            <p:nvPr/>
          </p:nvSpPr>
          <p:spPr>
            <a:xfrm>
              <a:off x="0" y="-46574"/>
              <a:ext cx="1397166" cy="424722"/>
            </a:xfrm>
            <a:prstGeom prst="rect">
              <a:avLst/>
            </a:prstGeom>
          </p:spPr>
          <p:txBody>
            <a:bodyPr lIns="50800" tIns="50800" rIns="50800" bIns="50800" rtlCol="0" anchor="ctr"/>
            <a:lstStyle/>
            <a:p>
              <a:pPr algn="ctr">
                <a:lnSpc>
                  <a:spcPts val="4550"/>
                </a:lnSpc>
              </a:pPr>
              <a:r>
                <a:rPr lang="en-US" sz="3500" dirty="0">
                  <a:solidFill>
                    <a:srgbClr val="FFFFFF"/>
                  </a:solidFill>
                  <a:latin typeface="Codec Pro"/>
                  <a:ea typeface="Codec Pro"/>
                  <a:cs typeface="Codec Pro"/>
                  <a:sym typeface="Codec Pro"/>
                </a:rPr>
                <a:t>TripAdvisor</a:t>
              </a:r>
            </a:p>
          </p:txBody>
        </p:sp>
      </p:grpSp>
      <p:grpSp>
        <p:nvGrpSpPr>
          <p:cNvPr id="16" name="Group 16"/>
          <p:cNvGrpSpPr/>
          <p:nvPr/>
        </p:nvGrpSpPr>
        <p:grpSpPr>
          <a:xfrm>
            <a:off x="1623266" y="6197882"/>
            <a:ext cx="5304865" cy="1612616"/>
            <a:chOff x="0" y="-51262"/>
            <a:chExt cx="1397166" cy="424722"/>
          </a:xfrm>
        </p:grpSpPr>
        <p:sp>
          <p:nvSpPr>
            <p:cNvPr id="17" name="Freeform 17"/>
            <p:cNvSpPr/>
            <p:nvPr/>
          </p:nvSpPr>
          <p:spPr>
            <a:xfrm>
              <a:off x="0" y="0"/>
              <a:ext cx="1397166" cy="338997"/>
            </a:xfrm>
            <a:custGeom>
              <a:avLst/>
              <a:gdLst/>
              <a:ahLst/>
              <a:cxnLst/>
              <a:rect l="l" t="t" r="r" b="b"/>
              <a:pathLst>
                <a:path w="1397166" h="338997">
                  <a:moveTo>
                    <a:pt x="74429" y="0"/>
                  </a:moveTo>
                  <a:lnTo>
                    <a:pt x="1322737" y="0"/>
                  </a:lnTo>
                  <a:cubicBezTo>
                    <a:pt x="1342477" y="0"/>
                    <a:pt x="1361408" y="7842"/>
                    <a:pt x="1375366" y="21800"/>
                  </a:cubicBezTo>
                  <a:cubicBezTo>
                    <a:pt x="1389325" y="35758"/>
                    <a:pt x="1397166" y="54689"/>
                    <a:pt x="1397166" y="74429"/>
                  </a:cubicBezTo>
                  <a:lnTo>
                    <a:pt x="1397166" y="264567"/>
                  </a:lnTo>
                  <a:cubicBezTo>
                    <a:pt x="1397166" y="284307"/>
                    <a:pt x="1389325" y="303239"/>
                    <a:pt x="1375366" y="317197"/>
                  </a:cubicBezTo>
                  <a:cubicBezTo>
                    <a:pt x="1361408" y="331155"/>
                    <a:pt x="1342477" y="338997"/>
                    <a:pt x="1322737" y="338997"/>
                  </a:cubicBezTo>
                  <a:lnTo>
                    <a:pt x="74429" y="338997"/>
                  </a:lnTo>
                  <a:cubicBezTo>
                    <a:pt x="54689" y="338997"/>
                    <a:pt x="35758" y="331155"/>
                    <a:pt x="21800" y="317197"/>
                  </a:cubicBezTo>
                  <a:cubicBezTo>
                    <a:pt x="7842" y="303239"/>
                    <a:pt x="0" y="284307"/>
                    <a:pt x="0" y="264567"/>
                  </a:cubicBezTo>
                  <a:lnTo>
                    <a:pt x="0" y="74429"/>
                  </a:lnTo>
                  <a:cubicBezTo>
                    <a:pt x="0" y="54689"/>
                    <a:pt x="7842" y="35758"/>
                    <a:pt x="21800" y="21800"/>
                  </a:cubicBezTo>
                  <a:cubicBezTo>
                    <a:pt x="35758" y="7842"/>
                    <a:pt x="54689" y="0"/>
                    <a:pt x="74429" y="0"/>
                  </a:cubicBezTo>
                  <a:close/>
                </a:path>
              </a:pathLst>
            </a:custGeom>
            <a:solidFill>
              <a:srgbClr val="365236"/>
            </a:solidFill>
          </p:spPr>
          <p:txBody>
            <a:bodyPr/>
            <a:lstStyle/>
            <a:p>
              <a:endParaRPr lang="en-GB"/>
            </a:p>
          </p:txBody>
        </p:sp>
        <p:sp>
          <p:nvSpPr>
            <p:cNvPr id="18" name="TextBox 18"/>
            <p:cNvSpPr txBox="1"/>
            <p:nvPr/>
          </p:nvSpPr>
          <p:spPr>
            <a:xfrm>
              <a:off x="0" y="-51262"/>
              <a:ext cx="1397166" cy="424722"/>
            </a:xfrm>
            <a:prstGeom prst="rect">
              <a:avLst/>
            </a:prstGeom>
          </p:spPr>
          <p:txBody>
            <a:bodyPr lIns="50800" tIns="50800" rIns="50800" bIns="50800" rtlCol="0" anchor="ctr"/>
            <a:lstStyle/>
            <a:p>
              <a:pPr algn="ctr">
                <a:lnSpc>
                  <a:spcPts val="4550"/>
                </a:lnSpc>
              </a:pPr>
              <a:r>
                <a:rPr lang="en-US" sz="3500" dirty="0">
                  <a:solidFill>
                    <a:srgbClr val="FFFFFF"/>
                  </a:solidFill>
                  <a:latin typeface="Codec Pro"/>
                  <a:ea typeface="Codec Pro"/>
                  <a:cs typeface="Codec Pro"/>
                  <a:sym typeface="Codec Pro"/>
                </a:rPr>
                <a:t>December, 2019</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sp>
        <p:nvSpPr>
          <p:cNvPr id="5" name="Freeform 5"/>
          <p:cNvSpPr/>
          <p:nvPr/>
        </p:nvSpPr>
        <p:spPr>
          <a:xfrm>
            <a:off x="1524000" y="4533900"/>
            <a:ext cx="16230600" cy="4889468"/>
          </a:xfrm>
          <a:custGeom>
            <a:avLst/>
            <a:gdLst/>
            <a:ahLst/>
            <a:cxnLst/>
            <a:rect l="l" t="t" r="r" b="b"/>
            <a:pathLst>
              <a:path w="16230600" h="4889468">
                <a:moveTo>
                  <a:pt x="0" y="0"/>
                </a:moveTo>
                <a:lnTo>
                  <a:pt x="16230600" y="0"/>
                </a:lnTo>
                <a:lnTo>
                  <a:pt x="16230600" y="4889468"/>
                </a:lnTo>
                <a:lnTo>
                  <a:pt x="0" y="4889468"/>
                </a:lnTo>
                <a:lnTo>
                  <a:pt x="0" y="0"/>
                </a:lnTo>
                <a:close/>
              </a:path>
            </a:pathLst>
          </a:custGeom>
          <a:blipFill>
            <a:blip r:embed="rId2"/>
            <a:stretch>
              <a:fillRect/>
            </a:stretch>
          </a:blipFill>
        </p:spPr>
        <p:txBody>
          <a:bodyPr/>
          <a:lstStyle/>
          <a:p>
            <a:endParaRPr lang="en-GB"/>
          </a:p>
        </p:txBody>
      </p:sp>
      <p:sp>
        <p:nvSpPr>
          <p:cNvPr id="6" name="TextBox 6"/>
          <p:cNvSpPr txBox="1"/>
          <p:nvPr/>
        </p:nvSpPr>
        <p:spPr>
          <a:xfrm>
            <a:off x="3516289" y="237904"/>
            <a:ext cx="11255422" cy="1422421"/>
          </a:xfrm>
          <a:prstGeom prst="rect">
            <a:avLst/>
          </a:prstGeom>
        </p:spPr>
        <p:txBody>
          <a:bodyPr lIns="0" tIns="0" rIns="0" bIns="0" rtlCol="0" anchor="t">
            <a:spAutoFit/>
          </a:bodyPr>
          <a:lstStyle/>
          <a:p>
            <a:pPr algn="ctr">
              <a:lnSpc>
                <a:spcPts val="10400"/>
              </a:lnSpc>
              <a:spcBef>
                <a:spcPct val="0"/>
              </a:spcBef>
            </a:pPr>
            <a:r>
              <a:rPr lang="en-US" sz="8000" b="1">
                <a:solidFill>
                  <a:srgbClr val="FFFFFF"/>
                </a:solidFill>
                <a:latin typeface="Codec Pro Bold"/>
                <a:ea typeface="Codec Pro Bold"/>
                <a:cs typeface="Codec Pro Bold"/>
                <a:sym typeface="Codec Pro Bold"/>
              </a:rPr>
              <a:t>MODEL SPECIFICATION</a:t>
            </a:r>
          </a:p>
        </p:txBody>
      </p:sp>
      <p:sp>
        <p:nvSpPr>
          <p:cNvPr id="7" name="TextBox 7"/>
          <p:cNvSpPr txBox="1"/>
          <p:nvPr/>
        </p:nvSpPr>
        <p:spPr>
          <a:xfrm>
            <a:off x="1028700" y="3879167"/>
            <a:ext cx="1866900" cy="549125"/>
          </a:xfrm>
          <a:prstGeom prst="rect">
            <a:avLst/>
          </a:prstGeom>
        </p:spPr>
        <p:txBody>
          <a:bodyPr wrap="square" lIns="0" tIns="0" rIns="0" bIns="0" rtlCol="0" anchor="t">
            <a:spAutoFit/>
          </a:bodyPr>
          <a:lstStyle/>
          <a:p>
            <a:pPr algn="ctr">
              <a:lnSpc>
                <a:spcPts val="4550"/>
              </a:lnSpc>
              <a:spcBef>
                <a:spcPct val="0"/>
              </a:spcBef>
            </a:pPr>
            <a:r>
              <a:rPr lang="en-US" sz="3500" dirty="0">
                <a:solidFill>
                  <a:srgbClr val="000000"/>
                </a:solidFill>
                <a:latin typeface="Codec Pro"/>
                <a:ea typeface="Codec Pro"/>
                <a:cs typeface="Codec Pro"/>
                <a:sym typeface="Codec Pro"/>
              </a:rPr>
              <a:t>Where:</a:t>
            </a:r>
          </a:p>
        </p:txBody>
      </p:sp>
      <p:pic>
        <p:nvPicPr>
          <p:cNvPr id="9" name="Immagine 8">
            <a:extLst>
              <a:ext uri="{FF2B5EF4-FFF2-40B4-BE49-F238E27FC236}">
                <a16:creationId xmlns:a16="http://schemas.microsoft.com/office/drawing/2014/main" id="{5BBCDE87-6D91-FB90-096F-0E66FAEB8F9E}"/>
              </a:ext>
            </a:extLst>
          </p:cNvPr>
          <p:cNvPicPr>
            <a:picLocks noChangeAspect="1"/>
          </p:cNvPicPr>
          <p:nvPr/>
        </p:nvPicPr>
        <p:blipFill>
          <a:blip r:embed="rId3"/>
          <a:stretch>
            <a:fillRect/>
          </a:stretch>
        </p:blipFill>
        <p:spPr>
          <a:xfrm>
            <a:off x="1149522" y="2755882"/>
            <a:ext cx="15988955" cy="710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5490351" cy="2783840"/>
          </a:xfrm>
        </p:grpSpPr>
        <p:sp>
          <p:nvSpPr>
            <p:cNvPr id="3" name="Freeform 3"/>
            <p:cNvSpPr/>
            <p:nvPr/>
          </p:nvSpPr>
          <p:spPr>
            <a:xfrm>
              <a:off x="0" y="0"/>
              <a:ext cx="5490351" cy="2783840"/>
            </a:xfrm>
            <a:custGeom>
              <a:avLst/>
              <a:gdLst/>
              <a:ahLst/>
              <a:cxnLst/>
              <a:rect l="l" t="t" r="r" b="b"/>
              <a:pathLst>
                <a:path w="5490351" h="2783840">
                  <a:moveTo>
                    <a:pt x="5365891" y="2783840"/>
                  </a:moveTo>
                  <a:lnTo>
                    <a:pt x="124460" y="2783840"/>
                  </a:lnTo>
                  <a:cubicBezTo>
                    <a:pt x="55880" y="2783840"/>
                    <a:pt x="0" y="2727960"/>
                    <a:pt x="0" y="2659380"/>
                  </a:cubicBezTo>
                  <a:lnTo>
                    <a:pt x="0" y="124460"/>
                  </a:lnTo>
                  <a:cubicBezTo>
                    <a:pt x="0" y="55880"/>
                    <a:pt x="55880" y="0"/>
                    <a:pt x="124460" y="0"/>
                  </a:cubicBezTo>
                  <a:lnTo>
                    <a:pt x="5365891" y="0"/>
                  </a:lnTo>
                  <a:cubicBezTo>
                    <a:pt x="5434471" y="0"/>
                    <a:pt x="5490351" y="55880"/>
                    <a:pt x="5490351" y="124460"/>
                  </a:cubicBezTo>
                  <a:lnTo>
                    <a:pt x="5490351" y="2659380"/>
                  </a:lnTo>
                  <a:cubicBezTo>
                    <a:pt x="5490351" y="2727960"/>
                    <a:pt x="5434471" y="2783840"/>
                    <a:pt x="5365891" y="2783840"/>
                  </a:cubicBezTo>
                  <a:close/>
                </a:path>
              </a:pathLst>
            </a:custGeom>
            <a:solidFill>
              <a:srgbClr val="637E63"/>
            </a:solidFill>
          </p:spPr>
          <p:txBody>
            <a:bodyPr/>
            <a:lstStyle/>
            <a:p>
              <a:endParaRPr lang="en-GB"/>
            </a:p>
          </p:txBody>
        </p:sp>
      </p:grpSp>
      <p:sp>
        <p:nvSpPr>
          <p:cNvPr id="4" name="TextBox 4"/>
          <p:cNvSpPr txBox="1"/>
          <p:nvPr/>
        </p:nvSpPr>
        <p:spPr>
          <a:xfrm>
            <a:off x="4009959" y="5408992"/>
            <a:ext cx="10268083" cy="1230587"/>
          </a:xfrm>
          <a:prstGeom prst="rect">
            <a:avLst/>
          </a:prstGeom>
        </p:spPr>
        <p:txBody>
          <a:bodyPr lIns="0" tIns="0" rIns="0" bIns="0" rtlCol="0" anchor="t">
            <a:spAutoFit/>
          </a:bodyPr>
          <a:lstStyle/>
          <a:p>
            <a:pPr marL="0" lvl="0" indent="0" algn="l">
              <a:lnSpc>
                <a:spcPts val="4680"/>
              </a:lnSpc>
            </a:pPr>
            <a:r>
              <a:rPr lang="en-US" sz="3600">
                <a:solidFill>
                  <a:srgbClr val="FFFFFF"/>
                </a:solidFill>
                <a:latin typeface="Codec Pro"/>
                <a:ea typeface="Codec Pro"/>
                <a:cs typeface="Codec Pro"/>
                <a:sym typeface="Codec Pro"/>
              </a:rPr>
              <a:t>Estimates causal effects by pairing treated and control units with similar characteristics</a:t>
            </a:r>
          </a:p>
        </p:txBody>
      </p:sp>
      <p:sp>
        <p:nvSpPr>
          <p:cNvPr id="5" name="TextBox 5"/>
          <p:cNvSpPr txBox="1"/>
          <p:nvPr/>
        </p:nvSpPr>
        <p:spPr>
          <a:xfrm>
            <a:off x="4009959" y="4210038"/>
            <a:ext cx="10268083" cy="914400"/>
          </a:xfrm>
          <a:prstGeom prst="rect">
            <a:avLst/>
          </a:prstGeom>
        </p:spPr>
        <p:txBody>
          <a:bodyPr lIns="0" tIns="0" rIns="0" bIns="0" rtlCol="0" anchor="t">
            <a:spAutoFit/>
          </a:bodyPr>
          <a:lstStyle/>
          <a:p>
            <a:pPr marL="0" lvl="0" indent="0" algn="ctr">
              <a:lnSpc>
                <a:spcPts val="4500"/>
              </a:lnSpc>
            </a:pPr>
            <a:r>
              <a:rPr lang="en-US" sz="9000" b="1">
                <a:solidFill>
                  <a:srgbClr val="FFFFFF"/>
                </a:solidFill>
                <a:latin typeface="Codec Pro Bold"/>
                <a:ea typeface="Codec Pro Bold"/>
                <a:cs typeface="Codec Pro Bold"/>
                <a:sym typeface="Codec Pro Bold"/>
              </a:rPr>
              <a:t>MATCHING MODEL</a:t>
            </a:r>
          </a:p>
        </p:txBody>
      </p:sp>
      <p:sp>
        <p:nvSpPr>
          <p:cNvPr id="6" name="AutoShape 6"/>
          <p:cNvSpPr/>
          <p:nvPr/>
        </p:nvSpPr>
        <p:spPr>
          <a:xfrm>
            <a:off x="4009959" y="5105388"/>
            <a:ext cx="10268083" cy="0"/>
          </a:xfrm>
          <a:prstGeom prst="line">
            <a:avLst/>
          </a:prstGeom>
          <a:ln w="38100" cap="rnd">
            <a:solidFill>
              <a:srgbClr val="FFFFFF"/>
            </a:solidFill>
            <a:prstDash val="solid"/>
            <a:headEnd type="none" w="sm" len="sm"/>
            <a:tailEnd type="none" w="sm" len="sm"/>
          </a:ln>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grpSp>
        <p:nvGrpSpPr>
          <p:cNvPr id="3" name="Group 3"/>
          <p:cNvGrpSpPr/>
          <p:nvPr/>
        </p:nvGrpSpPr>
        <p:grpSpPr>
          <a:xfrm>
            <a:off x="4396619" y="1354663"/>
            <a:ext cx="9494762" cy="1502837"/>
            <a:chOff x="0" y="-59327"/>
            <a:chExt cx="2500678" cy="395809"/>
          </a:xfrm>
        </p:grpSpPr>
        <p:sp>
          <p:nvSpPr>
            <p:cNvPr id="4" name="Freeform 4"/>
            <p:cNvSpPr/>
            <p:nvPr/>
          </p:nvSpPr>
          <p:spPr>
            <a:xfrm>
              <a:off x="0" y="0"/>
              <a:ext cx="2500678" cy="310084"/>
            </a:xfrm>
            <a:custGeom>
              <a:avLst/>
              <a:gdLst/>
              <a:ahLst/>
              <a:cxnLst/>
              <a:rect l="l" t="t" r="r" b="b"/>
              <a:pathLst>
                <a:path w="2500678" h="310084">
                  <a:moveTo>
                    <a:pt x="41585" y="0"/>
                  </a:moveTo>
                  <a:lnTo>
                    <a:pt x="2459093" y="0"/>
                  </a:lnTo>
                  <a:cubicBezTo>
                    <a:pt x="2482060" y="0"/>
                    <a:pt x="2500678" y="18618"/>
                    <a:pt x="2500678" y="41585"/>
                  </a:cubicBezTo>
                  <a:lnTo>
                    <a:pt x="2500678" y="268499"/>
                  </a:lnTo>
                  <a:cubicBezTo>
                    <a:pt x="2500678" y="279528"/>
                    <a:pt x="2496297" y="290105"/>
                    <a:pt x="2488498" y="297904"/>
                  </a:cubicBezTo>
                  <a:cubicBezTo>
                    <a:pt x="2480700" y="305703"/>
                    <a:pt x="2470122" y="310084"/>
                    <a:pt x="2459093" y="310084"/>
                  </a:cubicBezTo>
                  <a:lnTo>
                    <a:pt x="41585" y="310084"/>
                  </a:lnTo>
                  <a:cubicBezTo>
                    <a:pt x="30556" y="310084"/>
                    <a:pt x="19979" y="305703"/>
                    <a:pt x="12180" y="297904"/>
                  </a:cubicBezTo>
                  <a:cubicBezTo>
                    <a:pt x="4381" y="290105"/>
                    <a:pt x="0" y="279528"/>
                    <a:pt x="0" y="268499"/>
                  </a:cubicBezTo>
                  <a:lnTo>
                    <a:pt x="0" y="41585"/>
                  </a:lnTo>
                  <a:cubicBezTo>
                    <a:pt x="0" y="30556"/>
                    <a:pt x="4381" y="19979"/>
                    <a:pt x="12180" y="12180"/>
                  </a:cubicBezTo>
                  <a:cubicBezTo>
                    <a:pt x="19979" y="4381"/>
                    <a:pt x="30556" y="0"/>
                    <a:pt x="41585" y="0"/>
                  </a:cubicBezTo>
                  <a:close/>
                </a:path>
              </a:pathLst>
            </a:custGeom>
            <a:solidFill>
              <a:srgbClr val="365236"/>
            </a:solidFill>
          </p:spPr>
          <p:txBody>
            <a:bodyPr/>
            <a:lstStyle/>
            <a:p>
              <a:endParaRPr lang="en-GB"/>
            </a:p>
          </p:txBody>
        </p:sp>
        <p:sp>
          <p:nvSpPr>
            <p:cNvPr id="5" name="TextBox 5"/>
            <p:cNvSpPr txBox="1"/>
            <p:nvPr/>
          </p:nvSpPr>
          <p:spPr>
            <a:xfrm>
              <a:off x="0" y="-59327"/>
              <a:ext cx="2500678" cy="395809"/>
            </a:xfrm>
            <a:prstGeom prst="rect">
              <a:avLst/>
            </a:prstGeom>
          </p:spPr>
          <p:txBody>
            <a:bodyPr lIns="50800" tIns="50800" rIns="50800" bIns="50800" rtlCol="0" anchor="ctr"/>
            <a:lstStyle/>
            <a:p>
              <a:pPr algn="ctr">
                <a:lnSpc>
                  <a:spcPts val="4550"/>
                </a:lnSpc>
              </a:pPr>
              <a:r>
                <a:rPr lang="en-US" sz="3500" b="1" dirty="0">
                  <a:solidFill>
                    <a:srgbClr val="FFFFFF"/>
                  </a:solidFill>
                  <a:latin typeface="Codec Pro Bold"/>
                  <a:ea typeface="Codec Pro Bold"/>
                  <a:cs typeface="Codec Pro Bold"/>
                  <a:sym typeface="Codec Pro Bold"/>
                </a:rPr>
                <a:t>BUBBLE RATING</a:t>
              </a:r>
            </a:p>
          </p:txBody>
        </p:sp>
      </p:grpSp>
      <p:grpSp>
        <p:nvGrpSpPr>
          <p:cNvPr id="6" name="Group 6"/>
          <p:cNvGrpSpPr/>
          <p:nvPr/>
        </p:nvGrpSpPr>
        <p:grpSpPr>
          <a:xfrm>
            <a:off x="1605898" y="4533901"/>
            <a:ext cx="5581442" cy="2899337"/>
            <a:chOff x="0" y="-103492"/>
            <a:chExt cx="1470009" cy="763612"/>
          </a:xfrm>
        </p:grpSpPr>
        <p:sp>
          <p:nvSpPr>
            <p:cNvPr id="7" name="Freeform 7"/>
            <p:cNvSpPr/>
            <p:nvPr/>
          </p:nvSpPr>
          <p:spPr>
            <a:xfrm>
              <a:off x="0" y="0"/>
              <a:ext cx="1470009" cy="660120"/>
            </a:xfrm>
            <a:custGeom>
              <a:avLst/>
              <a:gdLst/>
              <a:ahLst/>
              <a:cxnLst/>
              <a:rect l="l" t="t" r="r" b="b"/>
              <a:pathLst>
                <a:path w="1470009" h="660120">
                  <a:moveTo>
                    <a:pt x="70741" y="0"/>
                  </a:moveTo>
                  <a:lnTo>
                    <a:pt x="1399268" y="0"/>
                  </a:lnTo>
                  <a:cubicBezTo>
                    <a:pt x="1418030" y="0"/>
                    <a:pt x="1436023" y="7453"/>
                    <a:pt x="1449290" y="20720"/>
                  </a:cubicBezTo>
                  <a:cubicBezTo>
                    <a:pt x="1462556" y="33986"/>
                    <a:pt x="1470009" y="51979"/>
                    <a:pt x="1470009" y="70741"/>
                  </a:cubicBezTo>
                  <a:lnTo>
                    <a:pt x="1470009" y="589378"/>
                  </a:lnTo>
                  <a:cubicBezTo>
                    <a:pt x="1470009" y="628448"/>
                    <a:pt x="1438338" y="660120"/>
                    <a:pt x="1399268" y="660120"/>
                  </a:cubicBezTo>
                  <a:lnTo>
                    <a:pt x="70741" y="660120"/>
                  </a:lnTo>
                  <a:cubicBezTo>
                    <a:pt x="31672" y="660120"/>
                    <a:pt x="0" y="628448"/>
                    <a:pt x="0" y="589378"/>
                  </a:cubicBezTo>
                  <a:lnTo>
                    <a:pt x="0" y="70741"/>
                  </a:lnTo>
                  <a:cubicBezTo>
                    <a:pt x="0" y="31672"/>
                    <a:pt x="31672" y="0"/>
                    <a:pt x="70741" y="0"/>
                  </a:cubicBezTo>
                  <a:close/>
                </a:path>
              </a:pathLst>
            </a:custGeom>
            <a:solidFill>
              <a:srgbClr val="000000">
                <a:alpha val="0"/>
              </a:srgbClr>
            </a:solidFill>
            <a:ln w="38100" cap="rnd">
              <a:solidFill>
                <a:srgbClr val="000000"/>
              </a:solidFill>
              <a:prstDash val="solid"/>
              <a:round/>
            </a:ln>
          </p:spPr>
          <p:txBody>
            <a:bodyPr/>
            <a:lstStyle/>
            <a:p>
              <a:endParaRPr lang="en-GB"/>
            </a:p>
          </p:txBody>
        </p:sp>
        <p:sp>
          <p:nvSpPr>
            <p:cNvPr id="8" name="TextBox 8"/>
            <p:cNvSpPr txBox="1"/>
            <p:nvPr/>
          </p:nvSpPr>
          <p:spPr>
            <a:xfrm>
              <a:off x="0" y="-103492"/>
              <a:ext cx="1470009" cy="745845"/>
            </a:xfrm>
            <a:prstGeom prst="rect">
              <a:avLst/>
            </a:prstGeom>
          </p:spPr>
          <p:txBody>
            <a:bodyPr lIns="50800" tIns="50800" rIns="50800" bIns="50800" rtlCol="0" anchor="b"/>
            <a:lstStyle/>
            <a:p>
              <a:pPr algn="ctr">
                <a:lnSpc>
                  <a:spcPts val="4550"/>
                </a:lnSpc>
              </a:pPr>
              <a:r>
                <a:rPr lang="en-US" sz="3500" dirty="0">
                  <a:solidFill>
                    <a:srgbClr val="000000"/>
                  </a:solidFill>
                  <a:latin typeface="Codec Pro"/>
                  <a:ea typeface="Codec Pro"/>
                  <a:cs typeface="Codec Pro"/>
                  <a:sym typeface="Codec Pro"/>
                </a:rPr>
                <a:t>Bubble rating = 0 </a:t>
              </a:r>
            </a:p>
            <a:p>
              <a:pPr algn="ctr">
                <a:lnSpc>
                  <a:spcPts val="4550"/>
                </a:lnSpc>
              </a:pPr>
              <a:r>
                <a:rPr lang="en-US" sz="3500" dirty="0">
                  <a:solidFill>
                    <a:srgbClr val="000000"/>
                  </a:solidFill>
                  <a:latin typeface="Codec Pro"/>
                  <a:ea typeface="Codec Pro"/>
                  <a:cs typeface="Codec Pro"/>
                  <a:sym typeface="Codec Pro"/>
                </a:rPr>
                <a:t>if ≤ 4</a:t>
              </a:r>
            </a:p>
          </p:txBody>
        </p:sp>
      </p:grpSp>
      <p:grpSp>
        <p:nvGrpSpPr>
          <p:cNvPr id="9" name="Group 9"/>
          <p:cNvGrpSpPr/>
          <p:nvPr/>
        </p:nvGrpSpPr>
        <p:grpSpPr>
          <a:xfrm>
            <a:off x="1605898" y="3600450"/>
            <a:ext cx="5581442" cy="1146318"/>
            <a:chOff x="0" y="0"/>
            <a:chExt cx="1470009" cy="301911"/>
          </a:xfrm>
        </p:grpSpPr>
        <p:sp>
          <p:nvSpPr>
            <p:cNvPr id="10" name="Freeform 10"/>
            <p:cNvSpPr/>
            <p:nvPr/>
          </p:nvSpPr>
          <p:spPr>
            <a:xfrm>
              <a:off x="0" y="0"/>
              <a:ext cx="1470009" cy="301911"/>
            </a:xfrm>
            <a:custGeom>
              <a:avLst/>
              <a:gdLst/>
              <a:ahLst/>
              <a:cxnLst/>
              <a:rect l="l" t="t" r="r" b="b"/>
              <a:pathLst>
                <a:path w="1470009" h="301911">
                  <a:moveTo>
                    <a:pt x="70741" y="0"/>
                  </a:moveTo>
                  <a:lnTo>
                    <a:pt x="1399268" y="0"/>
                  </a:lnTo>
                  <a:cubicBezTo>
                    <a:pt x="1418030" y="0"/>
                    <a:pt x="1436023" y="7453"/>
                    <a:pt x="1449290" y="20720"/>
                  </a:cubicBezTo>
                  <a:cubicBezTo>
                    <a:pt x="1462556" y="33986"/>
                    <a:pt x="1470009" y="51979"/>
                    <a:pt x="1470009" y="70741"/>
                  </a:cubicBezTo>
                  <a:lnTo>
                    <a:pt x="1470009" y="231170"/>
                  </a:lnTo>
                  <a:cubicBezTo>
                    <a:pt x="1470009" y="270239"/>
                    <a:pt x="1438338" y="301911"/>
                    <a:pt x="1399268" y="301911"/>
                  </a:cubicBezTo>
                  <a:lnTo>
                    <a:pt x="70741" y="301911"/>
                  </a:lnTo>
                  <a:cubicBezTo>
                    <a:pt x="31672" y="301911"/>
                    <a:pt x="0" y="270239"/>
                    <a:pt x="0" y="231170"/>
                  </a:cubicBezTo>
                  <a:lnTo>
                    <a:pt x="0" y="70741"/>
                  </a:lnTo>
                  <a:cubicBezTo>
                    <a:pt x="0" y="31672"/>
                    <a:pt x="31672" y="0"/>
                    <a:pt x="70741" y="0"/>
                  </a:cubicBezTo>
                  <a:close/>
                </a:path>
              </a:pathLst>
            </a:custGeom>
            <a:solidFill>
              <a:srgbClr val="365236"/>
            </a:solidFill>
          </p:spPr>
          <p:txBody>
            <a:bodyPr/>
            <a:lstStyle/>
            <a:p>
              <a:endParaRPr lang="en-GB"/>
            </a:p>
          </p:txBody>
        </p:sp>
        <p:sp>
          <p:nvSpPr>
            <p:cNvPr id="11" name="TextBox 11"/>
            <p:cNvSpPr txBox="1"/>
            <p:nvPr/>
          </p:nvSpPr>
          <p:spPr>
            <a:xfrm>
              <a:off x="0" y="-85725"/>
              <a:ext cx="1470009" cy="387636"/>
            </a:xfrm>
            <a:prstGeom prst="rect">
              <a:avLst/>
            </a:prstGeom>
          </p:spPr>
          <p:txBody>
            <a:bodyPr lIns="50800" tIns="50800" rIns="50800" bIns="50800" rtlCol="0" anchor="ctr"/>
            <a:lstStyle/>
            <a:p>
              <a:pPr algn="ctr">
                <a:lnSpc>
                  <a:spcPts val="3900"/>
                </a:lnSpc>
              </a:pPr>
              <a:r>
                <a:rPr lang="en-US" sz="3000">
                  <a:solidFill>
                    <a:srgbClr val="FFFFFF"/>
                  </a:solidFill>
                  <a:latin typeface="Codec Pro"/>
                  <a:ea typeface="Codec Pro"/>
                  <a:cs typeface="Codec Pro"/>
                  <a:sym typeface="Codec Pro"/>
                </a:rPr>
                <a:t>CONTROL UNITS</a:t>
              </a:r>
            </a:p>
          </p:txBody>
        </p:sp>
      </p:grpSp>
      <p:grpSp>
        <p:nvGrpSpPr>
          <p:cNvPr id="12" name="Group 12"/>
          <p:cNvGrpSpPr/>
          <p:nvPr/>
        </p:nvGrpSpPr>
        <p:grpSpPr>
          <a:xfrm>
            <a:off x="11100660" y="3600450"/>
            <a:ext cx="5581442" cy="1146318"/>
            <a:chOff x="0" y="0"/>
            <a:chExt cx="1470009" cy="301911"/>
          </a:xfrm>
        </p:grpSpPr>
        <p:sp>
          <p:nvSpPr>
            <p:cNvPr id="13" name="Freeform 13"/>
            <p:cNvSpPr/>
            <p:nvPr/>
          </p:nvSpPr>
          <p:spPr>
            <a:xfrm>
              <a:off x="0" y="0"/>
              <a:ext cx="1470009" cy="301911"/>
            </a:xfrm>
            <a:custGeom>
              <a:avLst/>
              <a:gdLst/>
              <a:ahLst/>
              <a:cxnLst/>
              <a:rect l="l" t="t" r="r" b="b"/>
              <a:pathLst>
                <a:path w="1470009" h="301911">
                  <a:moveTo>
                    <a:pt x="70741" y="0"/>
                  </a:moveTo>
                  <a:lnTo>
                    <a:pt x="1399268" y="0"/>
                  </a:lnTo>
                  <a:cubicBezTo>
                    <a:pt x="1418030" y="0"/>
                    <a:pt x="1436023" y="7453"/>
                    <a:pt x="1449290" y="20720"/>
                  </a:cubicBezTo>
                  <a:cubicBezTo>
                    <a:pt x="1462556" y="33986"/>
                    <a:pt x="1470009" y="51979"/>
                    <a:pt x="1470009" y="70741"/>
                  </a:cubicBezTo>
                  <a:lnTo>
                    <a:pt x="1470009" y="231170"/>
                  </a:lnTo>
                  <a:cubicBezTo>
                    <a:pt x="1470009" y="270239"/>
                    <a:pt x="1438338" y="301911"/>
                    <a:pt x="1399268" y="301911"/>
                  </a:cubicBezTo>
                  <a:lnTo>
                    <a:pt x="70741" y="301911"/>
                  </a:lnTo>
                  <a:cubicBezTo>
                    <a:pt x="31672" y="301911"/>
                    <a:pt x="0" y="270239"/>
                    <a:pt x="0" y="231170"/>
                  </a:cubicBezTo>
                  <a:lnTo>
                    <a:pt x="0" y="70741"/>
                  </a:lnTo>
                  <a:cubicBezTo>
                    <a:pt x="0" y="31672"/>
                    <a:pt x="31672" y="0"/>
                    <a:pt x="70741" y="0"/>
                  </a:cubicBezTo>
                  <a:close/>
                </a:path>
              </a:pathLst>
            </a:custGeom>
            <a:solidFill>
              <a:srgbClr val="365236"/>
            </a:solidFill>
          </p:spPr>
          <p:txBody>
            <a:bodyPr/>
            <a:lstStyle/>
            <a:p>
              <a:endParaRPr lang="en-GB"/>
            </a:p>
          </p:txBody>
        </p:sp>
        <p:sp>
          <p:nvSpPr>
            <p:cNvPr id="14" name="TextBox 14"/>
            <p:cNvSpPr txBox="1"/>
            <p:nvPr/>
          </p:nvSpPr>
          <p:spPr>
            <a:xfrm>
              <a:off x="0" y="-85725"/>
              <a:ext cx="1470009" cy="387636"/>
            </a:xfrm>
            <a:prstGeom prst="rect">
              <a:avLst/>
            </a:prstGeom>
          </p:spPr>
          <p:txBody>
            <a:bodyPr lIns="50800" tIns="50800" rIns="50800" bIns="50800" rtlCol="0" anchor="ctr"/>
            <a:lstStyle/>
            <a:p>
              <a:pPr algn="ctr">
                <a:lnSpc>
                  <a:spcPts val="3900"/>
                </a:lnSpc>
              </a:pPr>
              <a:r>
                <a:rPr lang="en-US" sz="3000">
                  <a:solidFill>
                    <a:srgbClr val="FFFFFF"/>
                  </a:solidFill>
                  <a:latin typeface="Codec Pro"/>
                  <a:ea typeface="Codec Pro"/>
                  <a:cs typeface="Codec Pro"/>
                  <a:sym typeface="Codec Pro"/>
                </a:rPr>
                <a:t>TREATED UNITS</a:t>
              </a:r>
            </a:p>
          </p:txBody>
        </p:sp>
      </p:grpSp>
      <p:grpSp>
        <p:nvGrpSpPr>
          <p:cNvPr id="15" name="Group 15"/>
          <p:cNvGrpSpPr/>
          <p:nvPr/>
        </p:nvGrpSpPr>
        <p:grpSpPr>
          <a:xfrm>
            <a:off x="11100660" y="7710293"/>
            <a:ext cx="5581442" cy="1471805"/>
            <a:chOff x="0" y="-51233"/>
            <a:chExt cx="1470009" cy="387636"/>
          </a:xfrm>
        </p:grpSpPr>
        <p:sp>
          <p:nvSpPr>
            <p:cNvPr id="16" name="Freeform 16"/>
            <p:cNvSpPr/>
            <p:nvPr/>
          </p:nvSpPr>
          <p:spPr>
            <a:xfrm>
              <a:off x="0" y="0"/>
              <a:ext cx="1470009" cy="301911"/>
            </a:xfrm>
            <a:custGeom>
              <a:avLst/>
              <a:gdLst/>
              <a:ahLst/>
              <a:cxnLst/>
              <a:rect l="l" t="t" r="r" b="b"/>
              <a:pathLst>
                <a:path w="1470009" h="301911">
                  <a:moveTo>
                    <a:pt x="70741" y="0"/>
                  </a:moveTo>
                  <a:lnTo>
                    <a:pt x="1399268" y="0"/>
                  </a:lnTo>
                  <a:cubicBezTo>
                    <a:pt x="1418030" y="0"/>
                    <a:pt x="1436023" y="7453"/>
                    <a:pt x="1449290" y="20720"/>
                  </a:cubicBezTo>
                  <a:cubicBezTo>
                    <a:pt x="1462556" y="33986"/>
                    <a:pt x="1470009" y="51979"/>
                    <a:pt x="1470009" y="70741"/>
                  </a:cubicBezTo>
                  <a:lnTo>
                    <a:pt x="1470009" y="231170"/>
                  </a:lnTo>
                  <a:cubicBezTo>
                    <a:pt x="1470009" y="270239"/>
                    <a:pt x="1438338" y="301911"/>
                    <a:pt x="1399268" y="301911"/>
                  </a:cubicBezTo>
                  <a:lnTo>
                    <a:pt x="70741" y="301911"/>
                  </a:lnTo>
                  <a:cubicBezTo>
                    <a:pt x="31672" y="301911"/>
                    <a:pt x="0" y="270239"/>
                    <a:pt x="0" y="231170"/>
                  </a:cubicBezTo>
                  <a:lnTo>
                    <a:pt x="0" y="70741"/>
                  </a:lnTo>
                  <a:cubicBezTo>
                    <a:pt x="0" y="31672"/>
                    <a:pt x="31672" y="0"/>
                    <a:pt x="70741" y="0"/>
                  </a:cubicBezTo>
                  <a:close/>
                </a:path>
              </a:pathLst>
            </a:custGeom>
            <a:solidFill>
              <a:srgbClr val="000000">
                <a:alpha val="0"/>
              </a:srgbClr>
            </a:solidFill>
            <a:ln w="28575" cap="rnd">
              <a:solidFill>
                <a:srgbClr val="000000"/>
              </a:solidFill>
              <a:prstDash val="solid"/>
              <a:round/>
            </a:ln>
          </p:spPr>
          <p:txBody>
            <a:bodyPr/>
            <a:lstStyle/>
            <a:p>
              <a:endParaRPr lang="en-GB"/>
            </a:p>
          </p:txBody>
        </p:sp>
        <p:sp>
          <p:nvSpPr>
            <p:cNvPr id="17" name="TextBox 17"/>
            <p:cNvSpPr txBox="1"/>
            <p:nvPr/>
          </p:nvSpPr>
          <p:spPr>
            <a:xfrm>
              <a:off x="0" y="-51233"/>
              <a:ext cx="1470009" cy="387636"/>
            </a:xfrm>
            <a:prstGeom prst="rect">
              <a:avLst/>
            </a:prstGeom>
          </p:spPr>
          <p:txBody>
            <a:bodyPr lIns="50800" tIns="50800" rIns="50800" bIns="50800" rtlCol="0" anchor="ctr"/>
            <a:lstStyle/>
            <a:p>
              <a:pPr algn="ctr">
                <a:lnSpc>
                  <a:spcPts val="4550"/>
                </a:lnSpc>
              </a:pPr>
              <a:r>
                <a:rPr lang="en-US" sz="3500" dirty="0">
                  <a:solidFill>
                    <a:srgbClr val="000000"/>
                  </a:solidFill>
                  <a:latin typeface="Codec Pro"/>
                  <a:ea typeface="Codec Pro"/>
                  <a:cs typeface="Codec Pro"/>
                  <a:sym typeface="Codec Pro"/>
                </a:rPr>
                <a:t>Total = 1830</a:t>
              </a:r>
            </a:p>
          </p:txBody>
        </p:sp>
      </p:grpSp>
      <p:grpSp>
        <p:nvGrpSpPr>
          <p:cNvPr id="18" name="Group 18"/>
          <p:cNvGrpSpPr/>
          <p:nvPr/>
        </p:nvGrpSpPr>
        <p:grpSpPr>
          <a:xfrm>
            <a:off x="11100660" y="4533901"/>
            <a:ext cx="5581442" cy="2899337"/>
            <a:chOff x="0" y="-103492"/>
            <a:chExt cx="1470009" cy="763612"/>
          </a:xfrm>
        </p:grpSpPr>
        <p:sp>
          <p:nvSpPr>
            <p:cNvPr id="19" name="Freeform 19"/>
            <p:cNvSpPr/>
            <p:nvPr/>
          </p:nvSpPr>
          <p:spPr>
            <a:xfrm>
              <a:off x="0" y="0"/>
              <a:ext cx="1470009" cy="660120"/>
            </a:xfrm>
            <a:custGeom>
              <a:avLst/>
              <a:gdLst/>
              <a:ahLst/>
              <a:cxnLst/>
              <a:rect l="l" t="t" r="r" b="b"/>
              <a:pathLst>
                <a:path w="1470009" h="660120">
                  <a:moveTo>
                    <a:pt x="70741" y="0"/>
                  </a:moveTo>
                  <a:lnTo>
                    <a:pt x="1399268" y="0"/>
                  </a:lnTo>
                  <a:cubicBezTo>
                    <a:pt x="1418030" y="0"/>
                    <a:pt x="1436023" y="7453"/>
                    <a:pt x="1449290" y="20720"/>
                  </a:cubicBezTo>
                  <a:cubicBezTo>
                    <a:pt x="1462556" y="33986"/>
                    <a:pt x="1470009" y="51979"/>
                    <a:pt x="1470009" y="70741"/>
                  </a:cubicBezTo>
                  <a:lnTo>
                    <a:pt x="1470009" y="589378"/>
                  </a:lnTo>
                  <a:cubicBezTo>
                    <a:pt x="1470009" y="628448"/>
                    <a:pt x="1438338" y="660120"/>
                    <a:pt x="1399268" y="660120"/>
                  </a:cubicBezTo>
                  <a:lnTo>
                    <a:pt x="70741" y="660120"/>
                  </a:lnTo>
                  <a:cubicBezTo>
                    <a:pt x="31672" y="660120"/>
                    <a:pt x="0" y="628448"/>
                    <a:pt x="0" y="589378"/>
                  </a:cubicBezTo>
                  <a:lnTo>
                    <a:pt x="0" y="70741"/>
                  </a:lnTo>
                  <a:cubicBezTo>
                    <a:pt x="0" y="31672"/>
                    <a:pt x="31672" y="0"/>
                    <a:pt x="70741" y="0"/>
                  </a:cubicBezTo>
                  <a:close/>
                </a:path>
              </a:pathLst>
            </a:custGeom>
            <a:solidFill>
              <a:srgbClr val="000000">
                <a:alpha val="0"/>
              </a:srgbClr>
            </a:solidFill>
            <a:ln w="28575" cap="rnd">
              <a:solidFill>
                <a:srgbClr val="000000"/>
              </a:solidFill>
              <a:prstDash val="solid"/>
              <a:round/>
            </a:ln>
          </p:spPr>
          <p:txBody>
            <a:bodyPr/>
            <a:lstStyle/>
            <a:p>
              <a:endParaRPr lang="en-GB"/>
            </a:p>
          </p:txBody>
        </p:sp>
        <p:sp>
          <p:nvSpPr>
            <p:cNvPr id="20" name="TextBox 20"/>
            <p:cNvSpPr txBox="1"/>
            <p:nvPr/>
          </p:nvSpPr>
          <p:spPr>
            <a:xfrm>
              <a:off x="0" y="-103492"/>
              <a:ext cx="1470009" cy="745845"/>
            </a:xfrm>
            <a:prstGeom prst="rect">
              <a:avLst/>
            </a:prstGeom>
          </p:spPr>
          <p:txBody>
            <a:bodyPr lIns="50800" tIns="50800" rIns="50800" bIns="50800" rtlCol="0" anchor="b"/>
            <a:lstStyle/>
            <a:p>
              <a:pPr algn="ctr">
                <a:lnSpc>
                  <a:spcPts val="4550"/>
                </a:lnSpc>
              </a:pPr>
              <a:r>
                <a:rPr lang="en-US" sz="3500" dirty="0">
                  <a:solidFill>
                    <a:srgbClr val="000000"/>
                  </a:solidFill>
                  <a:latin typeface="Codec Pro"/>
                  <a:ea typeface="Codec Pro"/>
                  <a:cs typeface="Codec Pro"/>
                  <a:sym typeface="Codec Pro"/>
                </a:rPr>
                <a:t>Bubble rating = 1 </a:t>
              </a:r>
            </a:p>
            <a:p>
              <a:pPr algn="ctr">
                <a:lnSpc>
                  <a:spcPts val="4550"/>
                </a:lnSpc>
              </a:pPr>
              <a:r>
                <a:rPr lang="en-US" sz="3500" dirty="0">
                  <a:solidFill>
                    <a:srgbClr val="000000"/>
                  </a:solidFill>
                  <a:latin typeface="Codec Pro"/>
                  <a:ea typeface="Codec Pro"/>
                  <a:cs typeface="Codec Pro"/>
                  <a:sym typeface="Codec Pro"/>
                </a:rPr>
                <a:t>if &gt; 4</a:t>
              </a:r>
            </a:p>
          </p:txBody>
        </p:sp>
      </p:grpSp>
      <p:grpSp>
        <p:nvGrpSpPr>
          <p:cNvPr id="21" name="Group 21"/>
          <p:cNvGrpSpPr/>
          <p:nvPr/>
        </p:nvGrpSpPr>
        <p:grpSpPr>
          <a:xfrm>
            <a:off x="1605898" y="7710293"/>
            <a:ext cx="5581442" cy="1471805"/>
            <a:chOff x="0" y="-51233"/>
            <a:chExt cx="1470009" cy="387636"/>
          </a:xfrm>
        </p:grpSpPr>
        <p:sp>
          <p:nvSpPr>
            <p:cNvPr id="22" name="Freeform 22"/>
            <p:cNvSpPr/>
            <p:nvPr/>
          </p:nvSpPr>
          <p:spPr>
            <a:xfrm>
              <a:off x="0" y="0"/>
              <a:ext cx="1470009" cy="301911"/>
            </a:xfrm>
            <a:custGeom>
              <a:avLst/>
              <a:gdLst/>
              <a:ahLst/>
              <a:cxnLst/>
              <a:rect l="l" t="t" r="r" b="b"/>
              <a:pathLst>
                <a:path w="1470009" h="301911">
                  <a:moveTo>
                    <a:pt x="70741" y="0"/>
                  </a:moveTo>
                  <a:lnTo>
                    <a:pt x="1399268" y="0"/>
                  </a:lnTo>
                  <a:cubicBezTo>
                    <a:pt x="1418030" y="0"/>
                    <a:pt x="1436023" y="7453"/>
                    <a:pt x="1449290" y="20720"/>
                  </a:cubicBezTo>
                  <a:cubicBezTo>
                    <a:pt x="1462556" y="33986"/>
                    <a:pt x="1470009" y="51979"/>
                    <a:pt x="1470009" y="70741"/>
                  </a:cubicBezTo>
                  <a:lnTo>
                    <a:pt x="1470009" y="231170"/>
                  </a:lnTo>
                  <a:cubicBezTo>
                    <a:pt x="1470009" y="270239"/>
                    <a:pt x="1438338" y="301911"/>
                    <a:pt x="1399268" y="301911"/>
                  </a:cubicBezTo>
                  <a:lnTo>
                    <a:pt x="70741" y="301911"/>
                  </a:lnTo>
                  <a:cubicBezTo>
                    <a:pt x="31672" y="301911"/>
                    <a:pt x="0" y="270239"/>
                    <a:pt x="0" y="231170"/>
                  </a:cubicBezTo>
                  <a:lnTo>
                    <a:pt x="0" y="70741"/>
                  </a:lnTo>
                  <a:cubicBezTo>
                    <a:pt x="0" y="31672"/>
                    <a:pt x="31672" y="0"/>
                    <a:pt x="70741" y="0"/>
                  </a:cubicBezTo>
                  <a:close/>
                </a:path>
              </a:pathLst>
            </a:custGeom>
            <a:solidFill>
              <a:srgbClr val="000000">
                <a:alpha val="0"/>
              </a:srgbClr>
            </a:solidFill>
            <a:ln w="28575" cap="rnd">
              <a:solidFill>
                <a:srgbClr val="000000"/>
              </a:solidFill>
              <a:prstDash val="solid"/>
              <a:round/>
            </a:ln>
          </p:spPr>
          <p:txBody>
            <a:bodyPr/>
            <a:lstStyle/>
            <a:p>
              <a:endParaRPr lang="en-GB"/>
            </a:p>
          </p:txBody>
        </p:sp>
        <p:sp>
          <p:nvSpPr>
            <p:cNvPr id="23" name="TextBox 23"/>
            <p:cNvSpPr txBox="1"/>
            <p:nvPr/>
          </p:nvSpPr>
          <p:spPr>
            <a:xfrm>
              <a:off x="0" y="-51233"/>
              <a:ext cx="1470009" cy="387636"/>
            </a:xfrm>
            <a:prstGeom prst="rect">
              <a:avLst/>
            </a:prstGeom>
          </p:spPr>
          <p:txBody>
            <a:bodyPr lIns="50800" tIns="50800" rIns="50800" bIns="50800" rtlCol="0" anchor="ctr"/>
            <a:lstStyle/>
            <a:p>
              <a:pPr algn="ctr">
                <a:lnSpc>
                  <a:spcPts val="4550"/>
                </a:lnSpc>
              </a:pPr>
              <a:r>
                <a:rPr lang="en-US" sz="3500" dirty="0">
                  <a:solidFill>
                    <a:srgbClr val="000000"/>
                  </a:solidFill>
                  <a:latin typeface="Codec Pro"/>
                  <a:ea typeface="Codec Pro"/>
                  <a:cs typeface="Codec Pro"/>
                  <a:sym typeface="Codec Pro"/>
                </a:rPr>
                <a:t>Total = 1375</a:t>
              </a:r>
            </a:p>
          </p:txBody>
        </p:sp>
      </p:grpSp>
      <p:sp>
        <p:nvSpPr>
          <p:cNvPr id="24" name="Freeform 24"/>
          <p:cNvSpPr/>
          <p:nvPr/>
        </p:nvSpPr>
        <p:spPr>
          <a:xfrm>
            <a:off x="2668598" y="5143500"/>
            <a:ext cx="3456041" cy="802943"/>
          </a:xfrm>
          <a:custGeom>
            <a:avLst/>
            <a:gdLst/>
            <a:ahLst/>
            <a:cxnLst/>
            <a:rect l="l" t="t" r="r" b="b"/>
            <a:pathLst>
              <a:path w="3456041" h="802943">
                <a:moveTo>
                  <a:pt x="0" y="0"/>
                </a:moveTo>
                <a:lnTo>
                  <a:pt x="3456041" y="0"/>
                </a:lnTo>
                <a:lnTo>
                  <a:pt x="3456041" y="802943"/>
                </a:lnTo>
                <a:lnTo>
                  <a:pt x="0" y="802943"/>
                </a:lnTo>
                <a:lnTo>
                  <a:pt x="0" y="0"/>
                </a:lnTo>
                <a:close/>
              </a:path>
            </a:pathLst>
          </a:custGeom>
          <a:blipFill>
            <a:blip r:embed="rId2"/>
            <a:stretch>
              <a:fillRect l="-872" t="-1489"/>
            </a:stretch>
          </a:blipFill>
        </p:spPr>
        <p:txBody>
          <a:bodyPr/>
          <a:lstStyle/>
          <a:p>
            <a:endParaRPr lang="en-GB"/>
          </a:p>
        </p:txBody>
      </p:sp>
      <p:sp>
        <p:nvSpPr>
          <p:cNvPr id="25" name="Freeform 25"/>
          <p:cNvSpPr/>
          <p:nvPr/>
        </p:nvSpPr>
        <p:spPr>
          <a:xfrm>
            <a:off x="12173205" y="5143500"/>
            <a:ext cx="3436351" cy="802943"/>
          </a:xfrm>
          <a:custGeom>
            <a:avLst/>
            <a:gdLst/>
            <a:ahLst/>
            <a:cxnLst/>
            <a:rect l="l" t="t" r="r" b="b"/>
            <a:pathLst>
              <a:path w="3436351" h="802943">
                <a:moveTo>
                  <a:pt x="0" y="0"/>
                </a:moveTo>
                <a:lnTo>
                  <a:pt x="3436352" y="0"/>
                </a:lnTo>
                <a:lnTo>
                  <a:pt x="3436352" y="802943"/>
                </a:lnTo>
                <a:lnTo>
                  <a:pt x="0" y="802943"/>
                </a:lnTo>
                <a:lnTo>
                  <a:pt x="0" y="0"/>
                </a:lnTo>
                <a:close/>
              </a:path>
            </a:pathLst>
          </a:custGeom>
          <a:blipFill>
            <a:blip r:embed="rId3"/>
            <a:stretch>
              <a:fillRect l="-377" b="-1489"/>
            </a:stretch>
          </a:blipFill>
        </p:spPr>
        <p:txBody>
          <a:bodyPr/>
          <a:lstStyle/>
          <a:p>
            <a:endParaRPr lang="en-GB"/>
          </a:p>
        </p:txBody>
      </p:sp>
      <p:sp>
        <p:nvSpPr>
          <p:cNvPr id="26" name="TextBox 26"/>
          <p:cNvSpPr txBox="1"/>
          <p:nvPr/>
        </p:nvSpPr>
        <p:spPr>
          <a:xfrm>
            <a:off x="6248053" y="237904"/>
            <a:ext cx="5791895" cy="1422421"/>
          </a:xfrm>
          <a:prstGeom prst="rect">
            <a:avLst/>
          </a:prstGeom>
        </p:spPr>
        <p:txBody>
          <a:bodyPr lIns="0" tIns="0" rIns="0" bIns="0" rtlCol="0" anchor="t">
            <a:spAutoFit/>
          </a:bodyPr>
          <a:lstStyle/>
          <a:p>
            <a:pPr algn="ctr">
              <a:lnSpc>
                <a:spcPts val="10400"/>
              </a:lnSpc>
              <a:spcBef>
                <a:spcPct val="0"/>
              </a:spcBef>
            </a:pPr>
            <a:r>
              <a:rPr lang="en-US" sz="8000" b="1">
                <a:solidFill>
                  <a:srgbClr val="FFFFFF"/>
                </a:solidFill>
                <a:latin typeface="Codec Pro Bold"/>
                <a:ea typeface="Codec Pro Bold"/>
                <a:cs typeface="Codec Pro Bold"/>
                <a:sym typeface="Codec Pro Bold"/>
              </a:rPr>
              <a:t>TREATMENT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grpSp>
        <p:nvGrpSpPr>
          <p:cNvPr id="3" name="Group 3"/>
          <p:cNvGrpSpPr/>
          <p:nvPr/>
        </p:nvGrpSpPr>
        <p:grpSpPr>
          <a:xfrm>
            <a:off x="4396619" y="1354663"/>
            <a:ext cx="9494762" cy="1502837"/>
            <a:chOff x="0" y="-59327"/>
            <a:chExt cx="2500678" cy="395809"/>
          </a:xfrm>
        </p:grpSpPr>
        <p:sp>
          <p:nvSpPr>
            <p:cNvPr id="4" name="Freeform 4"/>
            <p:cNvSpPr/>
            <p:nvPr/>
          </p:nvSpPr>
          <p:spPr>
            <a:xfrm>
              <a:off x="0" y="0"/>
              <a:ext cx="2500678" cy="310084"/>
            </a:xfrm>
            <a:custGeom>
              <a:avLst/>
              <a:gdLst/>
              <a:ahLst/>
              <a:cxnLst/>
              <a:rect l="l" t="t" r="r" b="b"/>
              <a:pathLst>
                <a:path w="2500678" h="310084">
                  <a:moveTo>
                    <a:pt x="41585" y="0"/>
                  </a:moveTo>
                  <a:lnTo>
                    <a:pt x="2459093" y="0"/>
                  </a:lnTo>
                  <a:cubicBezTo>
                    <a:pt x="2482060" y="0"/>
                    <a:pt x="2500678" y="18618"/>
                    <a:pt x="2500678" y="41585"/>
                  </a:cubicBezTo>
                  <a:lnTo>
                    <a:pt x="2500678" y="268499"/>
                  </a:lnTo>
                  <a:cubicBezTo>
                    <a:pt x="2500678" y="279528"/>
                    <a:pt x="2496297" y="290105"/>
                    <a:pt x="2488498" y="297904"/>
                  </a:cubicBezTo>
                  <a:cubicBezTo>
                    <a:pt x="2480700" y="305703"/>
                    <a:pt x="2470122" y="310084"/>
                    <a:pt x="2459093" y="310084"/>
                  </a:cubicBezTo>
                  <a:lnTo>
                    <a:pt x="41585" y="310084"/>
                  </a:lnTo>
                  <a:cubicBezTo>
                    <a:pt x="30556" y="310084"/>
                    <a:pt x="19979" y="305703"/>
                    <a:pt x="12180" y="297904"/>
                  </a:cubicBezTo>
                  <a:cubicBezTo>
                    <a:pt x="4381" y="290105"/>
                    <a:pt x="0" y="279528"/>
                    <a:pt x="0" y="268499"/>
                  </a:cubicBezTo>
                  <a:lnTo>
                    <a:pt x="0" y="41585"/>
                  </a:lnTo>
                  <a:cubicBezTo>
                    <a:pt x="0" y="30556"/>
                    <a:pt x="4381" y="19979"/>
                    <a:pt x="12180" y="12180"/>
                  </a:cubicBezTo>
                  <a:cubicBezTo>
                    <a:pt x="19979" y="4381"/>
                    <a:pt x="30556" y="0"/>
                    <a:pt x="41585" y="0"/>
                  </a:cubicBezTo>
                  <a:close/>
                </a:path>
              </a:pathLst>
            </a:custGeom>
            <a:solidFill>
              <a:srgbClr val="365236"/>
            </a:solidFill>
          </p:spPr>
          <p:txBody>
            <a:bodyPr/>
            <a:lstStyle/>
            <a:p>
              <a:endParaRPr lang="en-GB"/>
            </a:p>
          </p:txBody>
        </p:sp>
        <p:sp>
          <p:nvSpPr>
            <p:cNvPr id="5" name="TextBox 5"/>
            <p:cNvSpPr txBox="1"/>
            <p:nvPr/>
          </p:nvSpPr>
          <p:spPr>
            <a:xfrm>
              <a:off x="0" y="-59327"/>
              <a:ext cx="2500678" cy="395809"/>
            </a:xfrm>
            <a:prstGeom prst="rect">
              <a:avLst/>
            </a:prstGeom>
          </p:spPr>
          <p:txBody>
            <a:bodyPr lIns="50800" tIns="50800" rIns="50800" bIns="50800" rtlCol="0" anchor="ctr"/>
            <a:lstStyle/>
            <a:p>
              <a:pPr algn="ctr">
                <a:lnSpc>
                  <a:spcPts val="4550"/>
                </a:lnSpc>
              </a:pPr>
              <a:r>
                <a:rPr lang="en-US" sz="3500" b="1" dirty="0">
                  <a:solidFill>
                    <a:srgbClr val="FFFFFF"/>
                  </a:solidFill>
                  <a:latin typeface="Codec Pro Bold"/>
                  <a:ea typeface="Codec Pro Bold"/>
                  <a:cs typeface="Codec Pro Bold"/>
                  <a:sym typeface="Codec Pro Bold"/>
                </a:rPr>
                <a:t>VIEWS</a:t>
              </a:r>
            </a:p>
          </p:txBody>
        </p:sp>
      </p:grpSp>
      <p:grpSp>
        <p:nvGrpSpPr>
          <p:cNvPr id="6" name="Group 6"/>
          <p:cNvGrpSpPr/>
          <p:nvPr/>
        </p:nvGrpSpPr>
        <p:grpSpPr>
          <a:xfrm>
            <a:off x="1880421" y="3465555"/>
            <a:ext cx="14264471" cy="1582098"/>
            <a:chOff x="0" y="0"/>
            <a:chExt cx="19019295" cy="2109463"/>
          </a:xfrm>
        </p:grpSpPr>
        <p:sp>
          <p:nvSpPr>
            <p:cNvPr id="7" name="Freeform 7"/>
            <p:cNvSpPr/>
            <p:nvPr/>
          </p:nvSpPr>
          <p:spPr>
            <a:xfrm>
              <a:off x="0" y="0"/>
              <a:ext cx="1094284" cy="2109463"/>
            </a:xfrm>
            <a:custGeom>
              <a:avLst/>
              <a:gdLst/>
              <a:ahLst/>
              <a:cxnLst/>
              <a:rect l="l" t="t" r="r" b="b"/>
              <a:pathLst>
                <a:path w="1094284" h="2109463">
                  <a:moveTo>
                    <a:pt x="0" y="0"/>
                  </a:moveTo>
                  <a:lnTo>
                    <a:pt x="1094284" y="0"/>
                  </a:lnTo>
                  <a:lnTo>
                    <a:pt x="1094284" y="2109463"/>
                  </a:lnTo>
                  <a:lnTo>
                    <a:pt x="0" y="21094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Freeform 8"/>
            <p:cNvSpPr/>
            <p:nvPr/>
          </p:nvSpPr>
          <p:spPr>
            <a:xfrm>
              <a:off x="1461018" y="677077"/>
              <a:ext cx="169000" cy="755309"/>
            </a:xfrm>
            <a:custGeom>
              <a:avLst/>
              <a:gdLst/>
              <a:ahLst/>
              <a:cxnLst/>
              <a:rect l="l" t="t" r="r" b="b"/>
              <a:pathLst>
                <a:path w="169000" h="755309">
                  <a:moveTo>
                    <a:pt x="0" y="0"/>
                  </a:moveTo>
                  <a:lnTo>
                    <a:pt x="169000" y="0"/>
                  </a:lnTo>
                  <a:lnTo>
                    <a:pt x="169000" y="755309"/>
                  </a:lnTo>
                  <a:lnTo>
                    <a:pt x="0" y="7553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 name="TextBox 9"/>
            <p:cNvSpPr txBox="1"/>
            <p:nvPr/>
          </p:nvSpPr>
          <p:spPr>
            <a:xfrm>
              <a:off x="1998318" y="617632"/>
              <a:ext cx="17020977" cy="788474"/>
            </a:xfrm>
            <a:prstGeom prst="rect">
              <a:avLst/>
            </a:prstGeom>
          </p:spPr>
          <p:txBody>
            <a:bodyPr lIns="0" tIns="0" rIns="0" bIns="0" rtlCol="0" anchor="t">
              <a:spAutoFit/>
            </a:bodyPr>
            <a:lstStyle/>
            <a:p>
              <a:pPr algn="ctr">
                <a:lnSpc>
                  <a:spcPts val="4550"/>
                </a:lnSpc>
                <a:spcBef>
                  <a:spcPct val="0"/>
                </a:spcBef>
              </a:pPr>
              <a:r>
                <a:rPr lang="en-US" sz="3500">
                  <a:solidFill>
                    <a:srgbClr val="000000"/>
                  </a:solidFill>
                  <a:latin typeface="Codec Pro"/>
                  <a:ea typeface="Codec Pro"/>
                  <a:cs typeface="Codec Pro"/>
                  <a:sym typeface="Codec Pro"/>
                </a:rPr>
                <a:t>Number of views of a hotel, on Tripadvisor, in December 2019</a:t>
              </a:r>
            </a:p>
          </p:txBody>
        </p:sp>
      </p:grpSp>
      <p:sp>
        <p:nvSpPr>
          <p:cNvPr id="10" name="Freeform 10"/>
          <p:cNvSpPr/>
          <p:nvPr/>
        </p:nvSpPr>
        <p:spPr>
          <a:xfrm rot="1461479" flipH="1">
            <a:off x="12852001" y="4518032"/>
            <a:ext cx="1254627" cy="2000129"/>
          </a:xfrm>
          <a:custGeom>
            <a:avLst/>
            <a:gdLst/>
            <a:ahLst/>
            <a:cxnLst/>
            <a:rect l="l" t="t" r="r" b="b"/>
            <a:pathLst>
              <a:path w="1254627" h="2000129">
                <a:moveTo>
                  <a:pt x="1254626" y="0"/>
                </a:moveTo>
                <a:lnTo>
                  <a:pt x="0" y="0"/>
                </a:lnTo>
                <a:lnTo>
                  <a:pt x="0" y="2000129"/>
                </a:lnTo>
                <a:lnTo>
                  <a:pt x="1254626" y="2000129"/>
                </a:lnTo>
                <a:lnTo>
                  <a:pt x="1254626"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1" name="TextBox 11"/>
          <p:cNvSpPr txBox="1"/>
          <p:nvPr/>
        </p:nvSpPr>
        <p:spPr>
          <a:xfrm>
            <a:off x="3693406" y="212715"/>
            <a:ext cx="10901188" cy="1422421"/>
          </a:xfrm>
          <a:prstGeom prst="rect">
            <a:avLst/>
          </a:prstGeom>
        </p:spPr>
        <p:txBody>
          <a:bodyPr lIns="0" tIns="0" rIns="0" bIns="0" rtlCol="0" anchor="t">
            <a:spAutoFit/>
          </a:bodyPr>
          <a:lstStyle/>
          <a:p>
            <a:pPr algn="ctr">
              <a:lnSpc>
                <a:spcPts val="10400"/>
              </a:lnSpc>
              <a:spcBef>
                <a:spcPct val="0"/>
              </a:spcBef>
            </a:pPr>
            <a:r>
              <a:rPr lang="en-US" sz="8000" b="1">
                <a:solidFill>
                  <a:srgbClr val="FFFFFF"/>
                </a:solidFill>
                <a:latin typeface="Codec Pro Bold"/>
                <a:ea typeface="Codec Pro Bold"/>
                <a:cs typeface="Codec Pro Bold"/>
                <a:sym typeface="Codec Pro Bold"/>
              </a:rPr>
              <a:t>DEPENDENT VARIABLE</a:t>
            </a:r>
          </a:p>
        </p:txBody>
      </p:sp>
      <p:sp>
        <p:nvSpPr>
          <p:cNvPr id="12" name="TextBox 12"/>
          <p:cNvSpPr txBox="1"/>
          <p:nvPr/>
        </p:nvSpPr>
        <p:spPr>
          <a:xfrm>
            <a:off x="4127613" y="5773521"/>
            <a:ext cx="7924448" cy="612787"/>
          </a:xfrm>
          <a:prstGeom prst="rect">
            <a:avLst/>
          </a:prstGeom>
        </p:spPr>
        <p:txBody>
          <a:bodyPr lIns="0" tIns="0" rIns="0" bIns="0" rtlCol="0" anchor="t">
            <a:spAutoFit/>
          </a:bodyPr>
          <a:lstStyle/>
          <a:p>
            <a:pPr algn="ctr">
              <a:lnSpc>
                <a:spcPts val="4550"/>
              </a:lnSpc>
              <a:spcBef>
                <a:spcPct val="0"/>
              </a:spcBef>
            </a:pPr>
            <a:r>
              <a:rPr lang="en-US" sz="3500">
                <a:solidFill>
                  <a:srgbClr val="000000"/>
                </a:solidFill>
                <a:latin typeface="Codec Pro"/>
                <a:ea typeface="Codec Pro"/>
                <a:cs typeface="Codec Pro"/>
                <a:sym typeface="Codec Pro"/>
              </a:rPr>
              <a:t>Views have a </a:t>
            </a:r>
            <a:r>
              <a:rPr lang="en-US" sz="3500" b="1">
                <a:solidFill>
                  <a:srgbClr val="000000"/>
                </a:solidFill>
                <a:latin typeface="Codec Pro Bold"/>
                <a:ea typeface="Codec Pro Bold"/>
                <a:cs typeface="Codec Pro Bold"/>
                <a:sym typeface="Codec Pro Bold"/>
              </a:rPr>
              <a:t>left-skewed distribution</a:t>
            </a:r>
          </a:p>
        </p:txBody>
      </p:sp>
      <p:sp>
        <p:nvSpPr>
          <p:cNvPr id="13" name="Freeform 13"/>
          <p:cNvSpPr/>
          <p:nvPr/>
        </p:nvSpPr>
        <p:spPr>
          <a:xfrm rot="-2191522">
            <a:off x="4034072" y="6563252"/>
            <a:ext cx="1254627" cy="2000129"/>
          </a:xfrm>
          <a:custGeom>
            <a:avLst/>
            <a:gdLst/>
            <a:ahLst/>
            <a:cxnLst/>
            <a:rect l="l" t="t" r="r" b="b"/>
            <a:pathLst>
              <a:path w="1254627" h="2000129">
                <a:moveTo>
                  <a:pt x="0" y="0"/>
                </a:moveTo>
                <a:lnTo>
                  <a:pt x="1254626" y="0"/>
                </a:lnTo>
                <a:lnTo>
                  <a:pt x="1254626" y="2000129"/>
                </a:lnTo>
                <a:lnTo>
                  <a:pt x="0" y="200012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4" name="TextBox 14"/>
          <p:cNvSpPr txBox="1"/>
          <p:nvPr/>
        </p:nvSpPr>
        <p:spPr>
          <a:xfrm>
            <a:off x="6182200" y="7411769"/>
            <a:ext cx="10225378" cy="1184299"/>
          </a:xfrm>
          <a:prstGeom prst="rect">
            <a:avLst/>
          </a:prstGeom>
        </p:spPr>
        <p:txBody>
          <a:bodyPr lIns="0" tIns="0" rIns="0" bIns="0" rtlCol="0" anchor="t">
            <a:spAutoFit/>
          </a:bodyPr>
          <a:lstStyle/>
          <a:p>
            <a:pPr algn="ctr">
              <a:lnSpc>
                <a:spcPts val="4550"/>
              </a:lnSpc>
              <a:spcBef>
                <a:spcPct val="0"/>
              </a:spcBef>
            </a:pPr>
            <a:r>
              <a:rPr lang="en-US" sz="3500">
                <a:solidFill>
                  <a:srgbClr val="000000"/>
                </a:solidFill>
                <a:latin typeface="Codec Pro"/>
                <a:ea typeface="Codec Pro"/>
                <a:cs typeface="Codec Pro"/>
                <a:sym typeface="Codec Pro"/>
              </a:rPr>
              <a:t>Using the </a:t>
            </a:r>
            <a:r>
              <a:rPr lang="en-US" sz="3500" b="1">
                <a:solidFill>
                  <a:srgbClr val="000000"/>
                </a:solidFill>
                <a:latin typeface="Codec Pro Bold"/>
                <a:ea typeface="Codec Pro Bold"/>
                <a:cs typeface="Codec Pro Bold"/>
                <a:sym typeface="Codec Pro Bold"/>
              </a:rPr>
              <a:t>logarithm </a:t>
            </a:r>
            <a:r>
              <a:rPr lang="en-US" sz="3500">
                <a:solidFill>
                  <a:srgbClr val="000000"/>
                </a:solidFill>
                <a:latin typeface="Codec Pro"/>
                <a:ea typeface="Codec Pro"/>
                <a:cs typeface="Codec Pro"/>
                <a:sym typeface="Codec Pro"/>
              </a:rPr>
              <a:t>helps make the distribution </a:t>
            </a:r>
          </a:p>
          <a:p>
            <a:pPr algn="ctr">
              <a:lnSpc>
                <a:spcPts val="4550"/>
              </a:lnSpc>
              <a:spcBef>
                <a:spcPct val="0"/>
              </a:spcBef>
            </a:pPr>
            <a:r>
              <a:rPr lang="en-US" sz="3500">
                <a:solidFill>
                  <a:srgbClr val="000000"/>
                </a:solidFill>
                <a:latin typeface="Codec Pro"/>
                <a:ea typeface="Codec Pro"/>
                <a:cs typeface="Codec Pro"/>
                <a:sym typeface="Codec Pro"/>
              </a:rPr>
              <a:t>more symmetric and reduce variance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971298" y="0"/>
            <a:ext cx="10316702" cy="10287000"/>
          </a:xfrm>
          <a:prstGeom prst="rect">
            <a:avLst/>
          </a:prstGeom>
          <a:solidFill>
            <a:srgbClr val="7C987C"/>
          </a:solidFill>
        </p:spPr>
        <p:txBody>
          <a:bodyPr/>
          <a:lstStyle/>
          <a:p>
            <a:endParaRPr lang="en-GB"/>
          </a:p>
        </p:txBody>
      </p:sp>
      <p:sp>
        <p:nvSpPr>
          <p:cNvPr id="3" name="Freeform 3"/>
          <p:cNvSpPr/>
          <p:nvPr/>
        </p:nvSpPr>
        <p:spPr>
          <a:xfrm>
            <a:off x="8270528" y="1408051"/>
            <a:ext cx="9718242" cy="7470899"/>
          </a:xfrm>
          <a:custGeom>
            <a:avLst/>
            <a:gdLst/>
            <a:ahLst/>
            <a:cxnLst/>
            <a:rect l="l" t="t" r="r" b="b"/>
            <a:pathLst>
              <a:path w="9718242" h="7470899">
                <a:moveTo>
                  <a:pt x="0" y="0"/>
                </a:moveTo>
                <a:lnTo>
                  <a:pt x="9718242" y="0"/>
                </a:lnTo>
                <a:lnTo>
                  <a:pt x="9718242" y="7470898"/>
                </a:lnTo>
                <a:lnTo>
                  <a:pt x="0" y="7470898"/>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769364" y="764121"/>
            <a:ext cx="6623667" cy="2588683"/>
          </a:xfrm>
          <a:prstGeom prst="rect">
            <a:avLst/>
          </a:prstGeom>
        </p:spPr>
        <p:txBody>
          <a:bodyPr lIns="0" tIns="0" rIns="0" bIns="0" rtlCol="0" anchor="t">
            <a:spAutoFit/>
          </a:bodyPr>
          <a:lstStyle/>
          <a:p>
            <a:pPr algn="just">
              <a:lnSpc>
                <a:spcPts val="9600"/>
              </a:lnSpc>
            </a:pPr>
            <a:r>
              <a:rPr lang="en-US" sz="8000" b="1">
                <a:solidFill>
                  <a:srgbClr val="4B654B"/>
                </a:solidFill>
                <a:latin typeface="Codec Pro Bold"/>
                <a:ea typeface="Codec Pro Bold"/>
                <a:cs typeface="Codec Pro Bold"/>
                <a:sym typeface="Codec Pro Bold"/>
              </a:rPr>
              <a:t>MODEL DESCRIPTION</a:t>
            </a:r>
          </a:p>
        </p:txBody>
      </p:sp>
      <p:sp>
        <p:nvSpPr>
          <p:cNvPr id="5" name="AutoShape 5"/>
          <p:cNvSpPr/>
          <p:nvPr/>
        </p:nvSpPr>
        <p:spPr>
          <a:xfrm flipV="1">
            <a:off x="769364" y="3352805"/>
            <a:ext cx="6416268" cy="0"/>
          </a:xfrm>
          <a:prstGeom prst="line">
            <a:avLst/>
          </a:prstGeom>
          <a:ln w="38100" cap="flat">
            <a:solidFill>
              <a:srgbClr val="365236"/>
            </a:solidFill>
            <a:prstDash val="solid"/>
            <a:headEnd type="none" w="sm" len="sm"/>
            <a:tailEnd type="none" w="sm" len="sm"/>
          </a:ln>
        </p:spPr>
        <p:txBody>
          <a:bodyPr/>
          <a:lstStyle/>
          <a:p>
            <a:endParaRPr lang="en-GB"/>
          </a:p>
        </p:txBody>
      </p:sp>
      <p:grpSp>
        <p:nvGrpSpPr>
          <p:cNvPr id="6" name="Group 6"/>
          <p:cNvGrpSpPr/>
          <p:nvPr/>
        </p:nvGrpSpPr>
        <p:grpSpPr>
          <a:xfrm>
            <a:off x="769364" y="3535701"/>
            <a:ext cx="6416268" cy="4613287"/>
            <a:chOff x="0" y="0"/>
            <a:chExt cx="8555024" cy="6151049"/>
          </a:xfrm>
        </p:grpSpPr>
        <p:sp>
          <p:nvSpPr>
            <p:cNvPr id="7" name="TextBox 7"/>
            <p:cNvSpPr txBox="1"/>
            <p:nvPr/>
          </p:nvSpPr>
          <p:spPr>
            <a:xfrm>
              <a:off x="0" y="-85725"/>
              <a:ext cx="4096002" cy="788474"/>
            </a:xfrm>
            <a:prstGeom prst="rect">
              <a:avLst/>
            </a:prstGeom>
          </p:spPr>
          <p:txBody>
            <a:bodyPr lIns="0" tIns="0" rIns="0" bIns="0" rtlCol="0" anchor="t">
              <a:spAutoFit/>
            </a:bodyPr>
            <a:lstStyle/>
            <a:p>
              <a:pPr algn="l">
                <a:lnSpc>
                  <a:spcPts val="4550"/>
                </a:lnSpc>
              </a:pPr>
              <a:r>
                <a:rPr lang="en-US" sz="3500" b="1">
                  <a:solidFill>
                    <a:srgbClr val="365236"/>
                  </a:solidFill>
                  <a:latin typeface="Codec Pro Bold"/>
                  <a:ea typeface="Codec Pro Bold"/>
                  <a:cs typeface="Codec Pro Bold"/>
                  <a:sym typeface="Codec Pro Bold"/>
                </a:rPr>
                <a:t>WITHOUT LOG</a:t>
              </a:r>
            </a:p>
          </p:txBody>
        </p:sp>
        <p:sp>
          <p:nvSpPr>
            <p:cNvPr id="8" name="TextBox 8"/>
            <p:cNvSpPr txBox="1"/>
            <p:nvPr/>
          </p:nvSpPr>
          <p:spPr>
            <a:xfrm>
              <a:off x="0" y="832924"/>
              <a:ext cx="8555024" cy="5318125"/>
            </a:xfrm>
            <a:prstGeom prst="rect">
              <a:avLst/>
            </a:prstGeom>
          </p:spPr>
          <p:txBody>
            <a:bodyPr lIns="0" tIns="0" rIns="0" bIns="0" rtlCol="0" anchor="t">
              <a:spAutoFit/>
            </a:bodyPr>
            <a:lstStyle/>
            <a:p>
              <a:pPr algn="l">
                <a:lnSpc>
                  <a:spcPts val="3900"/>
                </a:lnSpc>
                <a:spcBef>
                  <a:spcPct val="0"/>
                </a:spcBef>
              </a:pPr>
              <a:r>
                <a:rPr lang="en-US" sz="3000">
                  <a:solidFill>
                    <a:srgbClr val="000000"/>
                  </a:solidFill>
                  <a:latin typeface="Codec Pro"/>
                  <a:ea typeface="Codec Pro"/>
                  <a:cs typeface="Codec Pro"/>
                  <a:sym typeface="Codec Pro"/>
                </a:rPr>
                <a:t>Without the logarithmic transformation, many variables show lower statistical significance and the model fit is weak (low R²).</a:t>
              </a:r>
            </a:p>
            <a:p>
              <a:pPr algn="l">
                <a:lnSpc>
                  <a:spcPts val="3900"/>
                </a:lnSpc>
                <a:spcBef>
                  <a:spcPct val="0"/>
                </a:spcBef>
              </a:pPr>
              <a:endParaRPr lang="en-US" sz="3000">
                <a:solidFill>
                  <a:srgbClr val="000000"/>
                </a:solidFill>
                <a:latin typeface="Codec Pro"/>
                <a:ea typeface="Codec Pro"/>
                <a:cs typeface="Codec Pro"/>
                <a:sym typeface="Codec Pro"/>
              </a:endParaRPr>
            </a:p>
            <a:p>
              <a:pPr algn="l">
                <a:lnSpc>
                  <a:spcPts val="3900"/>
                </a:lnSpc>
                <a:spcBef>
                  <a:spcPct val="0"/>
                </a:spcBef>
              </a:pPr>
              <a:r>
                <a:rPr lang="en-US" sz="3000">
                  <a:solidFill>
                    <a:srgbClr val="000000"/>
                  </a:solidFill>
                  <a:latin typeface="Codec Pro"/>
                  <a:ea typeface="Codec Pro"/>
                  <a:cs typeface="Codec Pro"/>
                  <a:sym typeface="Codec Pro"/>
                </a:rPr>
                <a:t>The model has more difficulty capturing the relationship between the variables.</a:t>
              </a:r>
            </a:p>
          </p:txBody>
        </p:sp>
      </p:grpSp>
      <p:grpSp>
        <p:nvGrpSpPr>
          <p:cNvPr id="9" name="Group 9"/>
          <p:cNvGrpSpPr/>
          <p:nvPr/>
        </p:nvGrpSpPr>
        <p:grpSpPr>
          <a:xfrm>
            <a:off x="11354260" y="4493779"/>
            <a:ext cx="5624122" cy="253972"/>
            <a:chOff x="0" y="0"/>
            <a:chExt cx="1774304" cy="80123"/>
          </a:xfrm>
        </p:grpSpPr>
        <p:sp>
          <p:nvSpPr>
            <p:cNvPr id="10" name="Freeform 10"/>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FF3131"/>
              </a:solidFill>
              <a:prstDash val="solid"/>
              <a:miter/>
            </a:ln>
          </p:spPr>
          <p:txBody>
            <a:bodyPr/>
            <a:lstStyle/>
            <a:p>
              <a:endParaRPr lang="en-GB"/>
            </a:p>
          </p:txBody>
        </p:sp>
        <p:sp>
          <p:nvSpPr>
            <p:cNvPr id="11" name="TextBox 11"/>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2" name="Group 12"/>
          <p:cNvGrpSpPr/>
          <p:nvPr/>
        </p:nvGrpSpPr>
        <p:grpSpPr>
          <a:xfrm>
            <a:off x="11354260" y="5259077"/>
            <a:ext cx="5624122" cy="253972"/>
            <a:chOff x="0" y="0"/>
            <a:chExt cx="1774304" cy="80123"/>
          </a:xfrm>
        </p:grpSpPr>
        <p:sp>
          <p:nvSpPr>
            <p:cNvPr id="13" name="Freeform 13"/>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14" name="TextBox 14"/>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5" name="Group 15"/>
          <p:cNvGrpSpPr/>
          <p:nvPr/>
        </p:nvGrpSpPr>
        <p:grpSpPr>
          <a:xfrm>
            <a:off x="11354260" y="5767022"/>
            <a:ext cx="5624122" cy="253972"/>
            <a:chOff x="0" y="0"/>
            <a:chExt cx="1774304" cy="80123"/>
          </a:xfrm>
        </p:grpSpPr>
        <p:sp>
          <p:nvSpPr>
            <p:cNvPr id="16" name="Freeform 16"/>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17" name="TextBox 17"/>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8" name="Group 18"/>
          <p:cNvGrpSpPr/>
          <p:nvPr/>
        </p:nvGrpSpPr>
        <p:grpSpPr>
          <a:xfrm>
            <a:off x="11354260" y="6020994"/>
            <a:ext cx="5624122" cy="253972"/>
            <a:chOff x="0" y="0"/>
            <a:chExt cx="1774304" cy="80123"/>
          </a:xfrm>
        </p:grpSpPr>
        <p:sp>
          <p:nvSpPr>
            <p:cNvPr id="19" name="Freeform 19"/>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0" name="TextBox 20"/>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1" name="Group 21"/>
          <p:cNvGrpSpPr/>
          <p:nvPr/>
        </p:nvGrpSpPr>
        <p:grpSpPr>
          <a:xfrm>
            <a:off x="11354260" y="6560716"/>
            <a:ext cx="5624122" cy="253972"/>
            <a:chOff x="0" y="0"/>
            <a:chExt cx="1774304" cy="80123"/>
          </a:xfrm>
        </p:grpSpPr>
        <p:sp>
          <p:nvSpPr>
            <p:cNvPr id="22" name="Freeform 22"/>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3" name="TextBox 23"/>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4" name="Group 24"/>
          <p:cNvGrpSpPr/>
          <p:nvPr/>
        </p:nvGrpSpPr>
        <p:grpSpPr>
          <a:xfrm>
            <a:off x="12384547" y="8341808"/>
            <a:ext cx="3613902" cy="253972"/>
            <a:chOff x="0" y="0"/>
            <a:chExt cx="1140117" cy="80123"/>
          </a:xfrm>
        </p:grpSpPr>
        <p:sp>
          <p:nvSpPr>
            <p:cNvPr id="25" name="Freeform 25"/>
            <p:cNvSpPr/>
            <p:nvPr/>
          </p:nvSpPr>
          <p:spPr>
            <a:xfrm>
              <a:off x="0" y="0"/>
              <a:ext cx="1140117" cy="80123"/>
            </a:xfrm>
            <a:custGeom>
              <a:avLst/>
              <a:gdLst/>
              <a:ahLst/>
              <a:cxnLst/>
              <a:rect l="l" t="t" r="r" b="b"/>
              <a:pathLst>
                <a:path w="1140117" h="80123">
                  <a:moveTo>
                    <a:pt x="0" y="0"/>
                  </a:moveTo>
                  <a:lnTo>
                    <a:pt x="1140117" y="0"/>
                  </a:lnTo>
                  <a:lnTo>
                    <a:pt x="1140117"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6" name="TextBox 26"/>
            <p:cNvSpPr txBox="1"/>
            <p:nvPr/>
          </p:nvSpPr>
          <p:spPr>
            <a:xfrm>
              <a:off x="0" y="-38100"/>
              <a:ext cx="1140117" cy="118223"/>
            </a:xfrm>
            <a:prstGeom prst="rect">
              <a:avLst/>
            </a:prstGeom>
          </p:spPr>
          <p:txBody>
            <a:bodyPr lIns="42410" tIns="42410" rIns="42410" bIns="42410" rtlCol="0" anchor="ctr"/>
            <a:lstStyle/>
            <a:p>
              <a:pPr algn="ctr">
                <a:lnSpc>
                  <a:spcPts val="2659"/>
                </a:lnSpc>
                <a:spcBef>
                  <a:spcPct val="0"/>
                </a:spcBef>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98179" y="3352805"/>
            <a:ext cx="6416268" cy="0"/>
          </a:xfrm>
          <a:prstGeom prst="line">
            <a:avLst/>
          </a:prstGeom>
          <a:ln w="38100" cap="flat">
            <a:solidFill>
              <a:srgbClr val="365236"/>
            </a:solidFill>
            <a:prstDash val="solid"/>
            <a:headEnd type="none" w="sm" len="sm"/>
            <a:tailEnd type="none" w="sm" len="sm"/>
          </a:ln>
        </p:spPr>
        <p:txBody>
          <a:bodyPr/>
          <a:lstStyle/>
          <a:p>
            <a:endParaRPr lang="en-GB"/>
          </a:p>
        </p:txBody>
      </p:sp>
      <p:sp>
        <p:nvSpPr>
          <p:cNvPr id="3" name="TextBox 3"/>
          <p:cNvSpPr txBox="1"/>
          <p:nvPr/>
        </p:nvSpPr>
        <p:spPr>
          <a:xfrm>
            <a:off x="798179" y="3444038"/>
            <a:ext cx="2164800" cy="612787"/>
          </a:xfrm>
          <a:prstGeom prst="rect">
            <a:avLst/>
          </a:prstGeom>
        </p:spPr>
        <p:txBody>
          <a:bodyPr lIns="0" tIns="0" rIns="0" bIns="0" rtlCol="0" anchor="t">
            <a:spAutoFit/>
          </a:bodyPr>
          <a:lstStyle/>
          <a:p>
            <a:pPr algn="l">
              <a:lnSpc>
                <a:spcPts val="4550"/>
              </a:lnSpc>
            </a:pPr>
            <a:r>
              <a:rPr lang="en-US" sz="3500" b="1">
                <a:solidFill>
                  <a:srgbClr val="365236"/>
                </a:solidFill>
                <a:latin typeface="Codec Pro Bold"/>
                <a:ea typeface="Codec Pro Bold"/>
                <a:cs typeface="Codec Pro Bold"/>
                <a:sym typeface="Codec Pro Bold"/>
              </a:rPr>
              <a:t>WITH LOG</a:t>
            </a:r>
          </a:p>
        </p:txBody>
      </p:sp>
      <p:sp>
        <p:nvSpPr>
          <p:cNvPr id="4" name="TextBox 4"/>
          <p:cNvSpPr txBox="1"/>
          <p:nvPr/>
        </p:nvSpPr>
        <p:spPr>
          <a:xfrm>
            <a:off x="798179" y="4133025"/>
            <a:ext cx="6594852" cy="5000625"/>
          </a:xfrm>
          <a:prstGeom prst="rect">
            <a:avLst/>
          </a:prstGeom>
        </p:spPr>
        <p:txBody>
          <a:bodyPr lIns="0" tIns="0" rIns="0" bIns="0" rtlCol="0" anchor="t">
            <a:spAutoFit/>
          </a:bodyPr>
          <a:lstStyle/>
          <a:p>
            <a:pPr algn="l">
              <a:lnSpc>
                <a:spcPts val="3900"/>
              </a:lnSpc>
              <a:spcBef>
                <a:spcPct val="0"/>
              </a:spcBef>
            </a:pPr>
            <a:r>
              <a:rPr lang="en-US" sz="3000">
                <a:solidFill>
                  <a:srgbClr val="000000"/>
                </a:solidFill>
                <a:latin typeface="Codec Pro"/>
                <a:ea typeface="Codec Pro"/>
                <a:cs typeface="Codec Pro"/>
                <a:sym typeface="Codec Pro"/>
              </a:rPr>
              <a:t>By applying the log to the dependent variable, the quality of the model improves (higher R²): the independent variables’ coefficients have higher significance (lower p-value).</a:t>
            </a:r>
          </a:p>
          <a:p>
            <a:pPr algn="l">
              <a:lnSpc>
                <a:spcPts val="3900"/>
              </a:lnSpc>
              <a:spcBef>
                <a:spcPct val="0"/>
              </a:spcBef>
            </a:pPr>
            <a:endParaRPr lang="en-US" sz="3000">
              <a:solidFill>
                <a:srgbClr val="000000"/>
              </a:solidFill>
              <a:latin typeface="Codec Pro"/>
              <a:ea typeface="Codec Pro"/>
              <a:cs typeface="Codec Pro"/>
              <a:sym typeface="Codec Pro"/>
            </a:endParaRPr>
          </a:p>
          <a:p>
            <a:pPr algn="l">
              <a:lnSpc>
                <a:spcPts val="3900"/>
              </a:lnSpc>
              <a:spcBef>
                <a:spcPct val="0"/>
              </a:spcBef>
            </a:pPr>
            <a:r>
              <a:rPr lang="en-US" sz="3000">
                <a:solidFill>
                  <a:srgbClr val="000000"/>
                </a:solidFill>
                <a:latin typeface="Codec Pro"/>
                <a:ea typeface="Codec Pro"/>
                <a:cs typeface="Codec Pro"/>
                <a:sym typeface="Codec Pro"/>
              </a:rPr>
              <a:t>This suggests that the relationship between the variables is better captured.</a:t>
            </a:r>
          </a:p>
        </p:txBody>
      </p:sp>
      <p:sp>
        <p:nvSpPr>
          <p:cNvPr id="5" name="AutoShape 5"/>
          <p:cNvSpPr/>
          <p:nvPr/>
        </p:nvSpPr>
        <p:spPr>
          <a:xfrm>
            <a:off x="7971298" y="0"/>
            <a:ext cx="10316702" cy="10287000"/>
          </a:xfrm>
          <a:prstGeom prst="rect">
            <a:avLst/>
          </a:prstGeom>
          <a:solidFill>
            <a:srgbClr val="7C987C"/>
          </a:solidFill>
        </p:spPr>
        <p:txBody>
          <a:bodyPr/>
          <a:lstStyle/>
          <a:p>
            <a:endParaRPr lang="en-GB"/>
          </a:p>
        </p:txBody>
      </p:sp>
      <p:grpSp>
        <p:nvGrpSpPr>
          <p:cNvPr id="6" name="Group 6"/>
          <p:cNvGrpSpPr/>
          <p:nvPr/>
        </p:nvGrpSpPr>
        <p:grpSpPr>
          <a:xfrm>
            <a:off x="8245693" y="1407274"/>
            <a:ext cx="9767912" cy="7472452"/>
            <a:chOff x="0" y="0"/>
            <a:chExt cx="13023882" cy="9963270"/>
          </a:xfrm>
        </p:grpSpPr>
        <p:sp>
          <p:nvSpPr>
            <p:cNvPr id="7" name="Freeform 7"/>
            <p:cNvSpPr/>
            <p:nvPr/>
          </p:nvSpPr>
          <p:spPr>
            <a:xfrm>
              <a:off x="0" y="0"/>
              <a:ext cx="13023882" cy="9963270"/>
            </a:xfrm>
            <a:custGeom>
              <a:avLst/>
              <a:gdLst/>
              <a:ahLst/>
              <a:cxnLst/>
              <a:rect l="l" t="t" r="r" b="b"/>
              <a:pathLst>
                <a:path w="13023882" h="9963270">
                  <a:moveTo>
                    <a:pt x="0" y="0"/>
                  </a:moveTo>
                  <a:lnTo>
                    <a:pt x="13023882" y="0"/>
                  </a:lnTo>
                  <a:lnTo>
                    <a:pt x="13023882" y="9963270"/>
                  </a:lnTo>
                  <a:lnTo>
                    <a:pt x="0" y="9963270"/>
                  </a:lnTo>
                  <a:lnTo>
                    <a:pt x="0" y="0"/>
                  </a:lnTo>
                  <a:close/>
                </a:path>
              </a:pathLst>
            </a:custGeom>
            <a:blipFill>
              <a:blip r:embed="rId2"/>
              <a:stretch>
                <a:fillRect/>
              </a:stretch>
            </a:blipFill>
          </p:spPr>
          <p:txBody>
            <a:bodyPr/>
            <a:lstStyle/>
            <a:p>
              <a:endParaRPr lang="en-GB"/>
            </a:p>
          </p:txBody>
        </p:sp>
        <p:grpSp>
          <p:nvGrpSpPr>
            <p:cNvPr id="8" name="Group 8"/>
            <p:cNvGrpSpPr/>
            <p:nvPr/>
          </p:nvGrpSpPr>
          <p:grpSpPr>
            <a:xfrm>
              <a:off x="4106655" y="4128040"/>
              <a:ext cx="7498829" cy="338630"/>
              <a:chOff x="0" y="0"/>
              <a:chExt cx="1774304" cy="80123"/>
            </a:xfrm>
          </p:grpSpPr>
          <p:sp>
            <p:nvSpPr>
              <p:cNvPr id="9" name="Freeform 9"/>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FF3131"/>
                </a:solidFill>
                <a:prstDash val="solid"/>
                <a:miter/>
              </a:ln>
            </p:spPr>
            <p:txBody>
              <a:bodyPr/>
              <a:lstStyle/>
              <a:p>
                <a:endParaRPr lang="en-GB"/>
              </a:p>
            </p:txBody>
          </p:sp>
          <p:sp>
            <p:nvSpPr>
              <p:cNvPr id="10" name="TextBox 10"/>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1" name="Group 11"/>
            <p:cNvGrpSpPr/>
            <p:nvPr/>
          </p:nvGrpSpPr>
          <p:grpSpPr>
            <a:xfrm>
              <a:off x="4106655" y="4471178"/>
              <a:ext cx="7498829" cy="338630"/>
              <a:chOff x="0" y="0"/>
              <a:chExt cx="1774304" cy="80123"/>
            </a:xfrm>
          </p:grpSpPr>
          <p:sp>
            <p:nvSpPr>
              <p:cNvPr id="12" name="Freeform 12"/>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13" name="TextBox 13"/>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4" name="Group 14"/>
            <p:cNvGrpSpPr/>
            <p:nvPr/>
          </p:nvGrpSpPr>
          <p:grpSpPr>
            <a:xfrm>
              <a:off x="4106655" y="4822508"/>
              <a:ext cx="7498829" cy="338630"/>
              <a:chOff x="0" y="0"/>
              <a:chExt cx="1774304" cy="80123"/>
            </a:xfrm>
          </p:grpSpPr>
          <p:sp>
            <p:nvSpPr>
              <p:cNvPr id="15" name="Freeform 15"/>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16" name="TextBox 16"/>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17" name="Group 17"/>
            <p:cNvGrpSpPr/>
            <p:nvPr/>
          </p:nvGrpSpPr>
          <p:grpSpPr>
            <a:xfrm>
              <a:off x="4106655" y="5148438"/>
              <a:ext cx="7498829" cy="338630"/>
              <a:chOff x="0" y="0"/>
              <a:chExt cx="1774304" cy="80123"/>
            </a:xfrm>
          </p:grpSpPr>
          <p:sp>
            <p:nvSpPr>
              <p:cNvPr id="18" name="Freeform 18"/>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19" name="TextBox 19"/>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0" name="Group 20"/>
            <p:cNvGrpSpPr/>
            <p:nvPr/>
          </p:nvGrpSpPr>
          <p:grpSpPr>
            <a:xfrm>
              <a:off x="4106655" y="5487068"/>
              <a:ext cx="7498829" cy="338630"/>
              <a:chOff x="0" y="0"/>
              <a:chExt cx="1774304" cy="80123"/>
            </a:xfrm>
          </p:grpSpPr>
          <p:sp>
            <p:nvSpPr>
              <p:cNvPr id="21" name="Freeform 21"/>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2" name="TextBox 22"/>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3" name="Group 23"/>
            <p:cNvGrpSpPr/>
            <p:nvPr/>
          </p:nvGrpSpPr>
          <p:grpSpPr>
            <a:xfrm>
              <a:off x="4106655" y="5825697"/>
              <a:ext cx="7498829" cy="338630"/>
              <a:chOff x="0" y="0"/>
              <a:chExt cx="1774304" cy="80123"/>
            </a:xfrm>
          </p:grpSpPr>
          <p:sp>
            <p:nvSpPr>
              <p:cNvPr id="24" name="Freeform 24"/>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5" name="TextBox 25"/>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6" name="Group 26"/>
            <p:cNvGrpSpPr/>
            <p:nvPr/>
          </p:nvGrpSpPr>
          <p:grpSpPr>
            <a:xfrm>
              <a:off x="4106655" y="6164327"/>
              <a:ext cx="7498829" cy="338630"/>
              <a:chOff x="0" y="0"/>
              <a:chExt cx="1774304" cy="80123"/>
            </a:xfrm>
          </p:grpSpPr>
          <p:sp>
            <p:nvSpPr>
              <p:cNvPr id="27" name="Freeform 27"/>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28" name="TextBox 28"/>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29" name="Group 29"/>
            <p:cNvGrpSpPr/>
            <p:nvPr/>
          </p:nvGrpSpPr>
          <p:grpSpPr>
            <a:xfrm>
              <a:off x="5518472" y="9246046"/>
              <a:ext cx="4818536" cy="338630"/>
              <a:chOff x="0" y="0"/>
              <a:chExt cx="1140117" cy="80123"/>
            </a:xfrm>
          </p:grpSpPr>
          <p:sp>
            <p:nvSpPr>
              <p:cNvPr id="30" name="Freeform 30"/>
              <p:cNvSpPr/>
              <p:nvPr/>
            </p:nvSpPr>
            <p:spPr>
              <a:xfrm>
                <a:off x="0" y="0"/>
                <a:ext cx="1140117" cy="80123"/>
              </a:xfrm>
              <a:custGeom>
                <a:avLst/>
                <a:gdLst/>
                <a:ahLst/>
                <a:cxnLst/>
                <a:rect l="l" t="t" r="r" b="b"/>
                <a:pathLst>
                  <a:path w="1140117" h="80123">
                    <a:moveTo>
                      <a:pt x="0" y="0"/>
                    </a:moveTo>
                    <a:lnTo>
                      <a:pt x="1140117" y="0"/>
                    </a:lnTo>
                    <a:lnTo>
                      <a:pt x="1140117"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31" name="TextBox 31"/>
              <p:cNvSpPr txBox="1"/>
              <p:nvPr/>
            </p:nvSpPr>
            <p:spPr>
              <a:xfrm>
                <a:off x="0" y="-38100"/>
                <a:ext cx="1140117"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32" name="Group 32"/>
            <p:cNvGrpSpPr/>
            <p:nvPr/>
          </p:nvGrpSpPr>
          <p:grpSpPr>
            <a:xfrm>
              <a:off x="4106655" y="6883957"/>
              <a:ext cx="7498829" cy="338630"/>
              <a:chOff x="0" y="0"/>
              <a:chExt cx="1774304" cy="80123"/>
            </a:xfrm>
          </p:grpSpPr>
          <p:sp>
            <p:nvSpPr>
              <p:cNvPr id="33" name="Freeform 33"/>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34" name="TextBox 34"/>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35" name="Group 35"/>
            <p:cNvGrpSpPr/>
            <p:nvPr/>
          </p:nvGrpSpPr>
          <p:grpSpPr>
            <a:xfrm>
              <a:off x="4106655" y="7222586"/>
              <a:ext cx="7498829" cy="338630"/>
              <a:chOff x="0" y="0"/>
              <a:chExt cx="1774304" cy="80123"/>
            </a:xfrm>
          </p:grpSpPr>
          <p:sp>
            <p:nvSpPr>
              <p:cNvPr id="36" name="Freeform 36"/>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37" name="TextBox 37"/>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nvGrpSpPr>
            <p:cNvPr id="38" name="Group 38"/>
            <p:cNvGrpSpPr/>
            <p:nvPr/>
          </p:nvGrpSpPr>
          <p:grpSpPr>
            <a:xfrm>
              <a:off x="4106655" y="7561216"/>
              <a:ext cx="7498829" cy="338630"/>
              <a:chOff x="0" y="0"/>
              <a:chExt cx="1774304" cy="80123"/>
            </a:xfrm>
          </p:grpSpPr>
          <p:sp>
            <p:nvSpPr>
              <p:cNvPr id="39" name="Freeform 39"/>
              <p:cNvSpPr/>
              <p:nvPr/>
            </p:nvSpPr>
            <p:spPr>
              <a:xfrm>
                <a:off x="0" y="0"/>
                <a:ext cx="1774304" cy="80123"/>
              </a:xfrm>
              <a:custGeom>
                <a:avLst/>
                <a:gdLst/>
                <a:ahLst/>
                <a:cxnLst/>
                <a:rect l="l" t="t" r="r" b="b"/>
                <a:pathLst>
                  <a:path w="1774304" h="80123">
                    <a:moveTo>
                      <a:pt x="0" y="0"/>
                    </a:moveTo>
                    <a:lnTo>
                      <a:pt x="1774304" y="0"/>
                    </a:lnTo>
                    <a:lnTo>
                      <a:pt x="1774304" y="80123"/>
                    </a:lnTo>
                    <a:lnTo>
                      <a:pt x="0" y="80123"/>
                    </a:lnTo>
                    <a:close/>
                  </a:path>
                </a:pathLst>
              </a:custGeom>
              <a:solidFill>
                <a:srgbClr val="000000">
                  <a:alpha val="0"/>
                </a:srgbClr>
              </a:solidFill>
              <a:ln w="9525" cap="sq">
                <a:solidFill>
                  <a:srgbClr val="365236"/>
                </a:solidFill>
                <a:prstDash val="solid"/>
                <a:miter/>
              </a:ln>
            </p:spPr>
            <p:txBody>
              <a:bodyPr/>
              <a:lstStyle/>
              <a:p>
                <a:endParaRPr lang="en-GB"/>
              </a:p>
            </p:txBody>
          </p:sp>
          <p:sp>
            <p:nvSpPr>
              <p:cNvPr id="40" name="TextBox 40"/>
              <p:cNvSpPr txBox="1"/>
              <p:nvPr/>
            </p:nvSpPr>
            <p:spPr>
              <a:xfrm>
                <a:off x="0" y="-38100"/>
                <a:ext cx="1774304" cy="118223"/>
              </a:xfrm>
              <a:prstGeom prst="rect">
                <a:avLst/>
              </a:prstGeom>
            </p:spPr>
            <p:txBody>
              <a:bodyPr lIns="42410" tIns="42410" rIns="42410" bIns="42410" rtlCol="0" anchor="ctr"/>
              <a:lstStyle/>
              <a:p>
                <a:pPr algn="ctr">
                  <a:lnSpc>
                    <a:spcPts val="2659"/>
                  </a:lnSpc>
                  <a:spcBef>
                    <a:spcPct val="0"/>
                  </a:spcBef>
                </a:pPr>
                <a:endParaRPr/>
              </a:p>
            </p:txBody>
          </p:sp>
        </p:grpSp>
      </p:grpSp>
      <p:sp>
        <p:nvSpPr>
          <p:cNvPr id="41" name="TextBox 41"/>
          <p:cNvSpPr txBox="1"/>
          <p:nvPr/>
        </p:nvSpPr>
        <p:spPr>
          <a:xfrm>
            <a:off x="769364" y="764121"/>
            <a:ext cx="6623667" cy="2588683"/>
          </a:xfrm>
          <a:prstGeom prst="rect">
            <a:avLst/>
          </a:prstGeom>
        </p:spPr>
        <p:txBody>
          <a:bodyPr lIns="0" tIns="0" rIns="0" bIns="0" rtlCol="0" anchor="t">
            <a:spAutoFit/>
          </a:bodyPr>
          <a:lstStyle/>
          <a:p>
            <a:pPr algn="just">
              <a:lnSpc>
                <a:spcPts val="9600"/>
              </a:lnSpc>
            </a:pPr>
            <a:r>
              <a:rPr lang="en-US" sz="8000" b="1">
                <a:solidFill>
                  <a:srgbClr val="4B654B"/>
                </a:solidFill>
                <a:latin typeface="Codec Pro Bold"/>
                <a:ea typeface="Codec Pro Bold"/>
                <a:cs typeface="Codec Pro Bold"/>
                <a:sym typeface="Codec Pro Bold"/>
              </a:rPr>
              <a:t>MODEL DESCRIPTION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45885693"/>
              </p:ext>
            </p:extLst>
          </p:nvPr>
        </p:nvGraphicFramePr>
        <p:xfrm>
          <a:off x="1028700" y="2807230"/>
          <a:ext cx="16230600" cy="6451069"/>
        </p:xfrm>
        <a:graphic>
          <a:graphicData uri="http://schemas.openxmlformats.org/drawingml/2006/table">
            <a:tbl>
              <a:tblPr/>
              <a:tblGrid>
                <a:gridCol w="7064820">
                  <a:extLst>
                    <a:ext uri="{9D8B030D-6E8A-4147-A177-3AD203B41FA5}">
                      <a16:colId xmlns:a16="http://schemas.microsoft.com/office/drawing/2014/main" val="20000"/>
                    </a:ext>
                  </a:extLst>
                </a:gridCol>
                <a:gridCol w="2103520">
                  <a:extLst>
                    <a:ext uri="{9D8B030D-6E8A-4147-A177-3AD203B41FA5}">
                      <a16:colId xmlns:a16="http://schemas.microsoft.com/office/drawing/2014/main" val="20001"/>
                    </a:ext>
                  </a:extLst>
                </a:gridCol>
                <a:gridCol w="2493554">
                  <a:extLst>
                    <a:ext uri="{9D8B030D-6E8A-4147-A177-3AD203B41FA5}">
                      <a16:colId xmlns:a16="http://schemas.microsoft.com/office/drawing/2014/main" val="20002"/>
                    </a:ext>
                  </a:extLst>
                </a:gridCol>
                <a:gridCol w="2348502">
                  <a:extLst>
                    <a:ext uri="{9D8B030D-6E8A-4147-A177-3AD203B41FA5}">
                      <a16:colId xmlns:a16="http://schemas.microsoft.com/office/drawing/2014/main" val="20003"/>
                    </a:ext>
                  </a:extLst>
                </a:gridCol>
                <a:gridCol w="2220204">
                  <a:extLst>
                    <a:ext uri="{9D8B030D-6E8A-4147-A177-3AD203B41FA5}">
                      <a16:colId xmlns:a16="http://schemas.microsoft.com/office/drawing/2014/main" val="20004"/>
                    </a:ext>
                  </a:extLst>
                </a:gridCol>
              </a:tblGrid>
              <a:tr h="1769362">
                <a:tc>
                  <a:txBody>
                    <a:bodyPr/>
                    <a:lstStyle/>
                    <a:p>
                      <a:pPr algn="ctr">
                        <a:lnSpc>
                          <a:spcPts val="4899"/>
                        </a:lnSpc>
                        <a:defRPr/>
                      </a:pPr>
                      <a:r>
                        <a:rPr lang="en-US" sz="3499" b="1">
                          <a:solidFill>
                            <a:srgbClr val="365236"/>
                          </a:solidFill>
                          <a:latin typeface="Codec Pro Bold"/>
                          <a:ea typeface="Codec Pro Bold"/>
                          <a:cs typeface="Codec Pro Bold"/>
                          <a:sym typeface="Codec Pro Bold"/>
                        </a:rPr>
                        <a:t>BINARY VARIABLE</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b="1">
                          <a:solidFill>
                            <a:srgbClr val="FFFFFF"/>
                          </a:solidFill>
                          <a:latin typeface="Codec Pro Bold"/>
                          <a:ea typeface="Codec Pro Bold"/>
                          <a:cs typeface="Codec Pro Bold"/>
                          <a:sym typeface="Codec Pro Bold"/>
                        </a:rPr>
                        <a:t>T - TEST</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b="1">
                          <a:solidFill>
                            <a:srgbClr val="FFFFFF"/>
                          </a:solidFill>
                          <a:latin typeface="Codec Pro Bold"/>
                          <a:ea typeface="Codec Pro Bold"/>
                          <a:cs typeface="Codec Pro Bold"/>
                          <a:sym typeface="Codec Pro Bold"/>
                        </a:rPr>
                        <a:t>P - VALUE</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b="1">
                          <a:solidFill>
                            <a:srgbClr val="FFFFFF"/>
                          </a:solidFill>
                          <a:latin typeface="Codec Pro Bold"/>
                          <a:ea typeface="Codec Pro Bold"/>
                          <a:cs typeface="Codec Pro Bold"/>
                          <a:sym typeface="Codec Pro Bold"/>
                        </a:rPr>
                        <a:t>MEAN </a:t>
                      </a:r>
                      <a:endParaRPr lang="en-US" sz="1100"/>
                    </a:p>
                    <a:p>
                      <a:pPr algn="ctr">
                        <a:lnSpc>
                          <a:spcPts val="4200"/>
                        </a:lnSpc>
                      </a:pPr>
                      <a:r>
                        <a:rPr lang="en-US" sz="3000" b="1">
                          <a:solidFill>
                            <a:srgbClr val="FFFFFF"/>
                          </a:solidFill>
                          <a:latin typeface="Codec Pro Bold"/>
                          <a:ea typeface="Codec Pro Bold"/>
                          <a:cs typeface="Codec Pro Bold"/>
                          <a:sym typeface="Codec Pro Bold"/>
                        </a:rPr>
                        <a:t>GROUP 0</a:t>
                      </a:r>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b="1">
                          <a:solidFill>
                            <a:srgbClr val="FFFFFF"/>
                          </a:solidFill>
                          <a:latin typeface="Codec Pro Bold"/>
                          <a:ea typeface="Codec Pro Bold"/>
                          <a:cs typeface="Codec Pro Bold"/>
                          <a:sym typeface="Codec Pro Bold"/>
                        </a:rPr>
                        <a:t>MEAN </a:t>
                      </a:r>
                      <a:endParaRPr lang="en-US" sz="1100"/>
                    </a:p>
                    <a:p>
                      <a:pPr algn="ctr">
                        <a:lnSpc>
                          <a:spcPts val="4200"/>
                        </a:lnSpc>
                      </a:pPr>
                      <a:r>
                        <a:rPr lang="en-US" sz="3000" b="1">
                          <a:solidFill>
                            <a:srgbClr val="FFFFFF"/>
                          </a:solidFill>
                          <a:latin typeface="Codec Pro Bold"/>
                          <a:ea typeface="Codec Pro Bold"/>
                          <a:cs typeface="Codec Pro Bold"/>
                          <a:sym typeface="Codec Pro Bold"/>
                        </a:rPr>
                        <a:t>GROUP 1</a:t>
                      </a:r>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extLst>
                  <a:ext uri="{0D108BD9-81ED-4DB2-BD59-A6C34878D82A}">
                    <a16:rowId xmlns:a16="http://schemas.microsoft.com/office/drawing/2014/main" val="10000"/>
                  </a:ext>
                </a:extLst>
              </a:tr>
              <a:tr h="1560569">
                <a:tc>
                  <a:txBody>
                    <a:bodyPr/>
                    <a:lstStyle/>
                    <a:p>
                      <a:pPr algn="ctr">
                        <a:lnSpc>
                          <a:spcPts val="4200"/>
                        </a:lnSpc>
                        <a:defRPr/>
                      </a:pPr>
                      <a:r>
                        <a:rPr lang="en-US" sz="3000" b="1" dirty="0">
                          <a:solidFill>
                            <a:srgbClr val="FFFFFF"/>
                          </a:solidFill>
                          <a:latin typeface="Codec Pro Bold"/>
                          <a:ea typeface="Codec Pro Bold"/>
                          <a:cs typeface="Codec Pro Bold"/>
                          <a:sym typeface="Codec Pro Bold"/>
                        </a:rPr>
                        <a:t>AWARD </a:t>
                      </a:r>
                      <a:r>
                        <a:rPr lang="en-US" sz="3000" b="1" dirty="0" err="1">
                          <a:solidFill>
                            <a:srgbClr val="FFFFFF"/>
                          </a:solidFill>
                          <a:latin typeface="Codec Pro Bold"/>
                          <a:ea typeface="Codec Pro Bold"/>
                          <a:cs typeface="Codec Pro Bold"/>
                          <a:sym typeface="Codec Pro Bold"/>
                        </a:rPr>
                        <a:t>TRAVELLERS</a:t>
                      </a:r>
                      <a:r>
                        <a:rPr lang="en-US" sz="3000" b="1" dirty="0">
                          <a:solidFill>
                            <a:srgbClr val="FFFFFF"/>
                          </a:solidFill>
                          <a:latin typeface="Codec Pro Bold"/>
                          <a:ea typeface="Codec Pro Bold"/>
                          <a:cs typeface="Codec Pro Bold"/>
                          <a:sym typeface="Codec Pro Bold"/>
                        </a:rPr>
                        <a:t> CHOICE</a:t>
                      </a:r>
                      <a:endParaRPr lang="en-US" sz="1100" dirty="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a:solidFill>
                            <a:srgbClr val="000000"/>
                          </a:solidFill>
                          <a:latin typeface="Codec Pro"/>
                          <a:ea typeface="Codec Pro"/>
                          <a:cs typeface="Codec Pro"/>
                          <a:sym typeface="Codec Pro"/>
                        </a:rPr>
                        <a:t>-2.4973</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0.0370</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0.0936</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1.0813</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1"/>
                  </a:ext>
                </a:extLst>
              </a:tr>
              <a:tr h="1560569">
                <a:tc>
                  <a:txBody>
                    <a:bodyPr/>
                    <a:lstStyle/>
                    <a:p>
                      <a:pPr algn="ctr">
                        <a:lnSpc>
                          <a:spcPts val="4200"/>
                        </a:lnSpc>
                        <a:defRPr/>
                      </a:pPr>
                      <a:r>
                        <a:rPr lang="en-US" sz="3000" b="1" dirty="0">
                          <a:solidFill>
                            <a:srgbClr val="FFFFFF"/>
                          </a:solidFill>
                          <a:latin typeface="Codec Pro Bold"/>
                          <a:ea typeface="Codec Pro Bold"/>
                          <a:cs typeface="Codec Pro Bold"/>
                          <a:sym typeface="Codec Pro Bold"/>
                        </a:rPr>
                        <a:t>AWARD CERTIFIED EXCELLENCE</a:t>
                      </a:r>
                      <a:endParaRPr lang="en-US" sz="1100" dirty="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a:solidFill>
                            <a:srgbClr val="000000"/>
                          </a:solidFill>
                          <a:latin typeface="Codec Pro"/>
                          <a:ea typeface="Codec Pro"/>
                          <a:cs typeface="Codec Pro"/>
                          <a:sym typeface="Codec Pro"/>
                        </a:rPr>
                        <a:t>-11.434</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&lt; 2.2e-16</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0.0220</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0.3997</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2"/>
                  </a:ext>
                </a:extLst>
              </a:tr>
              <a:tr h="1560569">
                <a:tc>
                  <a:txBody>
                    <a:bodyPr/>
                    <a:lstStyle/>
                    <a:p>
                      <a:pPr algn="ctr">
                        <a:lnSpc>
                          <a:spcPts val="4200"/>
                        </a:lnSpc>
                        <a:defRPr/>
                      </a:pPr>
                      <a:r>
                        <a:rPr lang="en-US" sz="3000" b="1">
                          <a:solidFill>
                            <a:srgbClr val="FFFFFF"/>
                          </a:solidFill>
                          <a:latin typeface="Codec Pro Bold"/>
                          <a:ea typeface="Codec Pro Bold"/>
                          <a:cs typeface="Codec Pro Bold"/>
                          <a:sym typeface="Codec Pro Bold"/>
                        </a:rPr>
                        <a:t>CATEGORY HOTEL</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solidFill>
                      <a:srgbClr val="365236"/>
                    </a:solidFill>
                  </a:tcPr>
                </a:tc>
                <a:tc>
                  <a:txBody>
                    <a:bodyPr/>
                    <a:lstStyle/>
                    <a:p>
                      <a:pPr algn="ctr">
                        <a:lnSpc>
                          <a:spcPts val="4200"/>
                        </a:lnSpc>
                        <a:defRPr/>
                      </a:pPr>
                      <a:r>
                        <a:rPr lang="en-US" sz="3000">
                          <a:solidFill>
                            <a:srgbClr val="000000"/>
                          </a:solidFill>
                          <a:latin typeface="Codec Pro"/>
                          <a:ea typeface="Codec Pro"/>
                          <a:cs typeface="Codec Pro"/>
                          <a:sym typeface="Codec Pro"/>
                        </a:rPr>
                        <a:t>-12.943</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&lt; 2.2e-16</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Codec Pro"/>
                          <a:ea typeface="Codec Pro"/>
                          <a:cs typeface="Codec Pro"/>
                          <a:sym typeface="Codec Pro"/>
                        </a:rPr>
                        <a:t>0.0085</a:t>
                      </a:r>
                      <a:endParaRPr lang="en-US" sz="110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tc>
                  <a:txBody>
                    <a:bodyPr/>
                    <a:lstStyle/>
                    <a:p>
                      <a:pPr algn="ctr">
                        <a:lnSpc>
                          <a:spcPts val="4200"/>
                        </a:lnSpc>
                        <a:defRPr/>
                      </a:pPr>
                      <a:r>
                        <a:rPr lang="en-US" sz="3000" dirty="0">
                          <a:solidFill>
                            <a:srgbClr val="000000"/>
                          </a:solidFill>
                          <a:latin typeface="Codec Pro"/>
                          <a:ea typeface="Codec Pro"/>
                          <a:cs typeface="Codec Pro"/>
                          <a:sym typeface="Codec Pro"/>
                        </a:rPr>
                        <a:t>0.4307</a:t>
                      </a:r>
                      <a:endParaRPr lang="en-US" sz="1100" dirty="0"/>
                    </a:p>
                  </a:txBody>
                  <a:tcPr marL="190500" marR="190500" marT="190500" marB="190500" anchor="ctr">
                    <a:lnL w="19050" cap="flat" cmpd="sng" algn="ctr">
                      <a:solidFill>
                        <a:srgbClr val="365236"/>
                      </a:solidFill>
                      <a:prstDash val="solid"/>
                      <a:round/>
                      <a:headEnd type="none" w="med" len="med"/>
                      <a:tailEnd type="none" w="med" len="med"/>
                    </a:lnL>
                    <a:lnR w="19050" cap="flat" cmpd="sng" algn="ctr">
                      <a:solidFill>
                        <a:srgbClr val="365236"/>
                      </a:solidFill>
                      <a:prstDash val="solid"/>
                      <a:round/>
                      <a:headEnd type="none" w="med" len="med"/>
                      <a:tailEnd type="none" w="med" len="med"/>
                    </a:lnR>
                    <a:lnT w="19050" cap="flat" cmpd="sng" algn="ctr">
                      <a:solidFill>
                        <a:srgbClr val="365236"/>
                      </a:solidFill>
                      <a:prstDash val="solid"/>
                      <a:round/>
                      <a:headEnd type="none" w="med" len="med"/>
                      <a:tailEnd type="none" w="med" len="med"/>
                    </a:lnT>
                    <a:lnB w="19050"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AutoShape 3"/>
          <p:cNvSpPr/>
          <p:nvPr/>
        </p:nvSpPr>
        <p:spPr>
          <a:xfrm>
            <a:off x="-145227" y="-60817"/>
            <a:ext cx="19366859" cy="2229413"/>
          </a:xfrm>
          <a:prstGeom prst="rect">
            <a:avLst/>
          </a:prstGeom>
          <a:solidFill>
            <a:srgbClr val="7C987C"/>
          </a:solidFill>
        </p:spPr>
        <p:txBody>
          <a:bodyPr/>
          <a:lstStyle/>
          <a:p>
            <a:endParaRPr lang="en-GB"/>
          </a:p>
        </p:txBody>
      </p:sp>
      <p:sp>
        <p:nvSpPr>
          <p:cNvPr id="4" name="TextBox 4"/>
          <p:cNvSpPr txBox="1"/>
          <p:nvPr/>
        </p:nvSpPr>
        <p:spPr>
          <a:xfrm>
            <a:off x="3076972" y="160127"/>
            <a:ext cx="12134056" cy="1501774"/>
          </a:xfrm>
          <a:prstGeom prst="rect">
            <a:avLst/>
          </a:prstGeom>
        </p:spPr>
        <p:txBody>
          <a:bodyPr lIns="0" tIns="0" rIns="0" bIns="0" rtlCol="0" anchor="t">
            <a:spAutoFit/>
          </a:bodyPr>
          <a:lstStyle/>
          <a:p>
            <a:pPr marL="0" lvl="0" indent="0" algn="ctr">
              <a:lnSpc>
                <a:spcPts val="11200"/>
              </a:lnSpc>
            </a:pPr>
            <a:r>
              <a:rPr lang="en-US" sz="8000" b="1">
                <a:solidFill>
                  <a:srgbClr val="FFFFFF"/>
                </a:solidFill>
                <a:latin typeface="Codec Pro Bold"/>
                <a:ea typeface="Codec Pro Bold"/>
                <a:cs typeface="Codec Pro Bold"/>
                <a:sym typeface="Codec Pro Bold"/>
              </a:rPr>
              <a:t>DESCRIPTIVE STATISTICS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971298" y="0"/>
            <a:ext cx="10316702" cy="10287000"/>
          </a:xfrm>
          <a:prstGeom prst="rect">
            <a:avLst/>
          </a:prstGeom>
          <a:solidFill>
            <a:srgbClr val="7C987C"/>
          </a:solidFill>
        </p:spPr>
        <p:txBody>
          <a:bodyPr/>
          <a:lstStyle/>
          <a:p>
            <a:endParaRPr lang="en-GB"/>
          </a:p>
        </p:txBody>
      </p:sp>
      <p:sp>
        <p:nvSpPr>
          <p:cNvPr id="3" name="Freeform 3"/>
          <p:cNvSpPr/>
          <p:nvPr/>
        </p:nvSpPr>
        <p:spPr>
          <a:xfrm>
            <a:off x="8504018" y="893701"/>
            <a:ext cx="9251263" cy="8499597"/>
          </a:xfrm>
          <a:custGeom>
            <a:avLst/>
            <a:gdLst/>
            <a:ahLst/>
            <a:cxnLst/>
            <a:rect l="l" t="t" r="r" b="b"/>
            <a:pathLst>
              <a:path w="9251263" h="8499597">
                <a:moveTo>
                  <a:pt x="0" y="0"/>
                </a:moveTo>
                <a:lnTo>
                  <a:pt x="9251262" y="0"/>
                </a:lnTo>
                <a:lnTo>
                  <a:pt x="9251262" y="8499598"/>
                </a:lnTo>
                <a:lnTo>
                  <a:pt x="0" y="8499598"/>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798179" y="4257453"/>
            <a:ext cx="6416268" cy="5000885"/>
          </a:xfrm>
          <a:prstGeom prst="rect">
            <a:avLst/>
          </a:prstGeom>
        </p:spPr>
        <p:txBody>
          <a:bodyPr lIns="0" tIns="0" rIns="0" bIns="0" rtlCol="0" anchor="t">
            <a:spAutoFit/>
          </a:bodyPr>
          <a:lstStyle/>
          <a:p>
            <a:pPr algn="l">
              <a:lnSpc>
                <a:spcPts val="3900"/>
              </a:lnSpc>
            </a:pPr>
            <a:r>
              <a:rPr lang="en-US" sz="3000">
                <a:solidFill>
                  <a:srgbClr val="000000"/>
                </a:solidFill>
                <a:latin typeface="Codec Pro"/>
                <a:ea typeface="Codec Pro"/>
                <a:cs typeface="Codec Pro"/>
                <a:sym typeface="Codec Pro"/>
              </a:rPr>
              <a:t>Bubble Rating shows very low correlations with other variables, meaning that it is relatively independent of them</a:t>
            </a:r>
          </a:p>
          <a:p>
            <a:pPr algn="l">
              <a:lnSpc>
                <a:spcPts val="3900"/>
              </a:lnSpc>
            </a:pPr>
            <a:endParaRPr lang="en-US" sz="3000">
              <a:solidFill>
                <a:srgbClr val="000000"/>
              </a:solidFill>
              <a:latin typeface="Codec Pro"/>
              <a:ea typeface="Codec Pro"/>
              <a:cs typeface="Codec Pro"/>
              <a:sym typeface="Codec Pro"/>
            </a:endParaRPr>
          </a:p>
          <a:p>
            <a:pPr algn="l">
              <a:lnSpc>
                <a:spcPts val="3900"/>
              </a:lnSpc>
              <a:spcBef>
                <a:spcPct val="0"/>
              </a:spcBef>
            </a:pPr>
            <a:r>
              <a:rPr lang="en-US" sz="3000">
                <a:solidFill>
                  <a:srgbClr val="000000"/>
                </a:solidFill>
                <a:latin typeface="Codec Pro"/>
                <a:ea typeface="Codec Pro"/>
                <a:cs typeface="Codec Pro"/>
                <a:sym typeface="Codec Pro"/>
              </a:rPr>
              <a:t>These variables are still included in the propensity score estimation to ensure balance between treated and control groups, reducing potential confounding</a:t>
            </a:r>
          </a:p>
        </p:txBody>
      </p:sp>
      <p:sp>
        <p:nvSpPr>
          <p:cNvPr id="5" name="TextBox 5"/>
          <p:cNvSpPr txBox="1"/>
          <p:nvPr/>
        </p:nvSpPr>
        <p:spPr>
          <a:xfrm>
            <a:off x="765848" y="886893"/>
            <a:ext cx="6942598" cy="2588683"/>
          </a:xfrm>
          <a:prstGeom prst="rect">
            <a:avLst/>
          </a:prstGeom>
        </p:spPr>
        <p:txBody>
          <a:bodyPr lIns="0" tIns="0" rIns="0" bIns="0" rtlCol="0" anchor="t">
            <a:spAutoFit/>
          </a:bodyPr>
          <a:lstStyle/>
          <a:p>
            <a:pPr algn="l">
              <a:lnSpc>
                <a:spcPts val="9600"/>
              </a:lnSpc>
            </a:pPr>
            <a:r>
              <a:rPr lang="en-US" sz="8000" b="1">
                <a:solidFill>
                  <a:srgbClr val="4B654B"/>
                </a:solidFill>
                <a:latin typeface="Codec Pro Bold"/>
                <a:ea typeface="Codec Pro Bold"/>
                <a:cs typeface="Codec Pro Bold"/>
                <a:sym typeface="Codec Pro Bold"/>
              </a:rPr>
              <a:t>DESCRIPTIVE STATISTICS</a:t>
            </a:r>
          </a:p>
        </p:txBody>
      </p:sp>
      <p:sp>
        <p:nvSpPr>
          <p:cNvPr id="6" name="AutoShape 6"/>
          <p:cNvSpPr/>
          <p:nvPr/>
        </p:nvSpPr>
        <p:spPr>
          <a:xfrm flipV="1">
            <a:off x="798179" y="3352805"/>
            <a:ext cx="6416268" cy="0"/>
          </a:xfrm>
          <a:prstGeom prst="line">
            <a:avLst/>
          </a:prstGeom>
          <a:ln w="38100" cap="flat">
            <a:solidFill>
              <a:srgbClr val="365236"/>
            </a:solidFill>
            <a:prstDash val="solid"/>
            <a:headEnd type="none" w="sm" len="sm"/>
            <a:tailEnd type="none" w="sm" len="sm"/>
          </a:ln>
        </p:spPr>
        <p:txBody>
          <a:bodyPr/>
          <a:lstStyle/>
          <a:p>
            <a:endParaRPr lang="en-GB"/>
          </a:p>
        </p:txBody>
      </p:sp>
      <p:sp>
        <p:nvSpPr>
          <p:cNvPr id="7" name="TextBox 7"/>
          <p:cNvSpPr txBox="1"/>
          <p:nvPr/>
        </p:nvSpPr>
        <p:spPr>
          <a:xfrm>
            <a:off x="798179" y="3444038"/>
            <a:ext cx="6416268" cy="612775"/>
          </a:xfrm>
          <a:prstGeom prst="rect">
            <a:avLst/>
          </a:prstGeom>
        </p:spPr>
        <p:txBody>
          <a:bodyPr lIns="0" tIns="0" rIns="0" bIns="0" rtlCol="0" anchor="t">
            <a:spAutoFit/>
          </a:bodyPr>
          <a:lstStyle/>
          <a:p>
            <a:pPr algn="l">
              <a:lnSpc>
                <a:spcPts val="4550"/>
              </a:lnSpc>
            </a:pPr>
            <a:r>
              <a:rPr lang="en-US" sz="3500" b="1">
                <a:solidFill>
                  <a:srgbClr val="365236"/>
                </a:solidFill>
                <a:latin typeface="Codec Pro Bold"/>
                <a:ea typeface="Codec Pro Bold"/>
                <a:cs typeface="Codec Pro Bold"/>
                <a:sym typeface="Codec Pro Bold"/>
              </a:rPr>
              <a:t>CONTINUOUS VARIABLE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C987C"/>
        </a:solidFill>
        <a:effectLst/>
      </p:bgPr>
    </p:bg>
    <p:spTree>
      <p:nvGrpSpPr>
        <p:cNvPr id="1" name=""/>
        <p:cNvGrpSpPr/>
        <p:nvPr/>
      </p:nvGrpSpPr>
      <p:grpSpPr>
        <a:xfrm>
          <a:off x="0" y="0"/>
          <a:ext cx="0" cy="0"/>
          <a:chOff x="0" y="0"/>
          <a:chExt cx="0" cy="0"/>
        </a:xfrm>
      </p:grpSpPr>
      <p:grpSp>
        <p:nvGrpSpPr>
          <p:cNvPr id="2" name="Group 2"/>
          <p:cNvGrpSpPr/>
          <p:nvPr/>
        </p:nvGrpSpPr>
        <p:grpSpPr>
          <a:xfrm>
            <a:off x="783467" y="1961628"/>
            <a:ext cx="7722996" cy="6880109"/>
            <a:chOff x="0" y="0"/>
            <a:chExt cx="2034040" cy="1812045"/>
          </a:xfrm>
        </p:grpSpPr>
        <p:sp>
          <p:nvSpPr>
            <p:cNvPr id="3" name="Freeform 3"/>
            <p:cNvSpPr/>
            <p:nvPr/>
          </p:nvSpPr>
          <p:spPr>
            <a:xfrm>
              <a:off x="0" y="0"/>
              <a:ext cx="2034040" cy="1812045"/>
            </a:xfrm>
            <a:custGeom>
              <a:avLst/>
              <a:gdLst/>
              <a:ahLst/>
              <a:cxnLst/>
              <a:rect l="l" t="t" r="r" b="b"/>
              <a:pathLst>
                <a:path w="2034040" h="1812045">
                  <a:moveTo>
                    <a:pt x="51125" y="0"/>
                  </a:moveTo>
                  <a:lnTo>
                    <a:pt x="1982915" y="0"/>
                  </a:lnTo>
                  <a:cubicBezTo>
                    <a:pt x="2011150" y="0"/>
                    <a:pt x="2034040" y="22889"/>
                    <a:pt x="2034040" y="51125"/>
                  </a:cubicBezTo>
                  <a:lnTo>
                    <a:pt x="2034040" y="1760920"/>
                  </a:lnTo>
                  <a:cubicBezTo>
                    <a:pt x="2034040" y="1774479"/>
                    <a:pt x="2028654" y="1787483"/>
                    <a:pt x="2019066" y="1797071"/>
                  </a:cubicBezTo>
                  <a:cubicBezTo>
                    <a:pt x="2009478" y="1806659"/>
                    <a:pt x="1996474" y="1812045"/>
                    <a:pt x="1982915" y="1812045"/>
                  </a:cubicBezTo>
                  <a:lnTo>
                    <a:pt x="51125" y="1812045"/>
                  </a:lnTo>
                  <a:cubicBezTo>
                    <a:pt x="22889" y="1812045"/>
                    <a:pt x="0" y="1789156"/>
                    <a:pt x="0" y="1760920"/>
                  </a:cubicBezTo>
                  <a:lnTo>
                    <a:pt x="0" y="51125"/>
                  </a:lnTo>
                  <a:cubicBezTo>
                    <a:pt x="0" y="22889"/>
                    <a:pt x="22889" y="0"/>
                    <a:pt x="51125" y="0"/>
                  </a:cubicBezTo>
                  <a:close/>
                </a:path>
              </a:pathLst>
            </a:custGeom>
            <a:solidFill>
              <a:srgbClr val="7C987C"/>
            </a:solidFill>
          </p:spPr>
          <p:txBody>
            <a:bodyPr/>
            <a:lstStyle/>
            <a:p>
              <a:endParaRPr lang="en-GB"/>
            </a:p>
          </p:txBody>
        </p:sp>
        <p:sp>
          <p:nvSpPr>
            <p:cNvPr id="4" name="TextBox 4"/>
            <p:cNvSpPr txBox="1"/>
            <p:nvPr/>
          </p:nvSpPr>
          <p:spPr>
            <a:xfrm>
              <a:off x="0" y="-104775"/>
              <a:ext cx="2034040" cy="1916820"/>
            </a:xfrm>
            <a:prstGeom prst="rect">
              <a:avLst/>
            </a:prstGeom>
          </p:spPr>
          <p:txBody>
            <a:bodyPr lIns="50800" tIns="50800" rIns="50800" bIns="50800" rtlCol="0" anchor="ctr"/>
            <a:lstStyle/>
            <a:p>
              <a:pPr algn="ctr">
                <a:lnSpc>
                  <a:spcPts val="3300"/>
                </a:lnSpc>
              </a:pPr>
              <a:endParaRPr/>
            </a:p>
          </p:txBody>
        </p:sp>
      </p:grpSp>
      <p:grpSp>
        <p:nvGrpSpPr>
          <p:cNvPr id="5" name="Group 5"/>
          <p:cNvGrpSpPr/>
          <p:nvPr/>
        </p:nvGrpSpPr>
        <p:grpSpPr>
          <a:xfrm>
            <a:off x="821969" y="2080906"/>
            <a:ext cx="7722996" cy="7090309"/>
            <a:chOff x="0" y="0"/>
            <a:chExt cx="2034040" cy="1867406"/>
          </a:xfrm>
        </p:grpSpPr>
        <p:sp>
          <p:nvSpPr>
            <p:cNvPr id="6" name="Freeform 6"/>
            <p:cNvSpPr/>
            <p:nvPr/>
          </p:nvSpPr>
          <p:spPr>
            <a:xfrm>
              <a:off x="0" y="0"/>
              <a:ext cx="2034040" cy="1867406"/>
            </a:xfrm>
            <a:custGeom>
              <a:avLst/>
              <a:gdLst/>
              <a:ahLst/>
              <a:cxnLst/>
              <a:rect l="l" t="t" r="r" b="b"/>
              <a:pathLst>
                <a:path w="2034040" h="1867406">
                  <a:moveTo>
                    <a:pt x="51125" y="0"/>
                  </a:moveTo>
                  <a:lnTo>
                    <a:pt x="1982915" y="0"/>
                  </a:lnTo>
                  <a:cubicBezTo>
                    <a:pt x="2011150" y="0"/>
                    <a:pt x="2034040" y="22889"/>
                    <a:pt x="2034040" y="51125"/>
                  </a:cubicBezTo>
                  <a:lnTo>
                    <a:pt x="2034040" y="1816281"/>
                  </a:lnTo>
                  <a:cubicBezTo>
                    <a:pt x="2034040" y="1829841"/>
                    <a:pt x="2028654" y="1842844"/>
                    <a:pt x="2019066" y="1852432"/>
                  </a:cubicBezTo>
                  <a:cubicBezTo>
                    <a:pt x="2009478" y="1862020"/>
                    <a:pt x="1996474" y="1867406"/>
                    <a:pt x="1982915" y="1867406"/>
                  </a:cubicBezTo>
                  <a:lnTo>
                    <a:pt x="51125" y="1867406"/>
                  </a:lnTo>
                  <a:cubicBezTo>
                    <a:pt x="22889" y="1867406"/>
                    <a:pt x="0" y="1844517"/>
                    <a:pt x="0" y="1816281"/>
                  </a:cubicBezTo>
                  <a:lnTo>
                    <a:pt x="0" y="51125"/>
                  </a:lnTo>
                  <a:cubicBezTo>
                    <a:pt x="0" y="22889"/>
                    <a:pt x="22889" y="0"/>
                    <a:pt x="51125" y="0"/>
                  </a:cubicBezTo>
                  <a:close/>
                </a:path>
              </a:pathLst>
            </a:custGeom>
            <a:solidFill>
              <a:srgbClr val="FFFFFF"/>
            </a:solidFill>
          </p:spPr>
          <p:txBody>
            <a:bodyPr/>
            <a:lstStyle/>
            <a:p>
              <a:endParaRPr lang="en-GB"/>
            </a:p>
          </p:txBody>
        </p:sp>
        <p:sp>
          <p:nvSpPr>
            <p:cNvPr id="7" name="TextBox 7"/>
            <p:cNvSpPr txBox="1"/>
            <p:nvPr/>
          </p:nvSpPr>
          <p:spPr>
            <a:xfrm>
              <a:off x="0" y="-104775"/>
              <a:ext cx="2034040" cy="1972181"/>
            </a:xfrm>
            <a:prstGeom prst="rect">
              <a:avLst/>
            </a:prstGeom>
          </p:spPr>
          <p:txBody>
            <a:bodyPr lIns="50800" tIns="50800" rIns="50800" bIns="50800" rtlCol="0" anchor="ctr"/>
            <a:lstStyle/>
            <a:p>
              <a:pPr algn="ctr">
                <a:lnSpc>
                  <a:spcPts val="3300"/>
                </a:lnSpc>
              </a:pPr>
              <a:endParaRPr/>
            </a:p>
          </p:txBody>
        </p:sp>
      </p:grpSp>
      <p:grpSp>
        <p:nvGrpSpPr>
          <p:cNvPr id="8" name="Group 8"/>
          <p:cNvGrpSpPr/>
          <p:nvPr/>
        </p:nvGrpSpPr>
        <p:grpSpPr>
          <a:xfrm>
            <a:off x="468167" y="1460800"/>
            <a:ext cx="8430600" cy="2234902"/>
            <a:chOff x="0" y="-46932"/>
            <a:chExt cx="887271" cy="235210"/>
          </a:xfrm>
        </p:grpSpPr>
        <p:sp>
          <p:nvSpPr>
            <p:cNvPr id="9" name="Freeform 9"/>
            <p:cNvSpPr/>
            <p:nvPr/>
          </p:nvSpPr>
          <p:spPr>
            <a:xfrm>
              <a:off x="0" y="0"/>
              <a:ext cx="887271" cy="149485"/>
            </a:xfrm>
            <a:custGeom>
              <a:avLst/>
              <a:gdLst/>
              <a:ahLst/>
              <a:cxnLst/>
              <a:rect l="l" t="t" r="r" b="b"/>
              <a:pathLst>
                <a:path w="887271" h="149485">
                  <a:moveTo>
                    <a:pt x="74743" y="0"/>
                  </a:moveTo>
                  <a:lnTo>
                    <a:pt x="812529" y="0"/>
                  </a:lnTo>
                  <a:cubicBezTo>
                    <a:pt x="853808" y="0"/>
                    <a:pt x="887271" y="33463"/>
                    <a:pt x="887271" y="74743"/>
                  </a:cubicBezTo>
                  <a:lnTo>
                    <a:pt x="887271" y="74743"/>
                  </a:lnTo>
                  <a:cubicBezTo>
                    <a:pt x="887271" y="94566"/>
                    <a:pt x="879397" y="113577"/>
                    <a:pt x="865380" y="127594"/>
                  </a:cubicBezTo>
                  <a:cubicBezTo>
                    <a:pt x="851363" y="141611"/>
                    <a:pt x="832352" y="149485"/>
                    <a:pt x="812529" y="149485"/>
                  </a:cubicBezTo>
                  <a:lnTo>
                    <a:pt x="74743" y="149485"/>
                  </a:lnTo>
                  <a:cubicBezTo>
                    <a:pt x="54920" y="149485"/>
                    <a:pt x="35909" y="141611"/>
                    <a:pt x="21892" y="127594"/>
                  </a:cubicBezTo>
                  <a:cubicBezTo>
                    <a:pt x="7875" y="113577"/>
                    <a:pt x="0" y="94566"/>
                    <a:pt x="0" y="74743"/>
                  </a:cubicBezTo>
                  <a:lnTo>
                    <a:pt x="0" y="74743"/>
                  </a:lnTo>
                  <a:cubicBezTo>
                    <a:pt x="0" y="54920"/>
                    <a:pt x="7875" y="35909"/>
                    <a:pt x="21892" y="21892"/>
                  </a:cubicBezTo>
                  <a:cubicBezTo>
                    <a:pt x="35909" y="7875"/>
                    <a:pt x="54920" y="0"/>
                    <a:pt x="74743" y="0"/>
                  </a:cubicBezTo>
                  <a:close/>
                </a:path>
              </a:pathLst>
            </a:custGeom>
            <a:solidFill>
              <a:srgbClr val="365236"/>
            </a:solidFill>
          </p:spPr>
          <p:txBody>
            <a:bodyPr/>
            <a:lstStyle/>
            <a:p>
              <a:endParaRPr lang="en-GB"/>
            </a:p>
          </p:txBody>
        </p:sp>
        <p:sp>
          <p:nvSpPr>
            <p:cNvPr id="10" name="TextBox 10"/>
            <p:cNvSpPr txBox="1"/>
            <p:nvPr/>
          </p:nvSpPr>
          <p:spPr>
            <a:xfrm>
              <a:off x="0" y="-46932"/>
              <a:ext cx="887271" cy="235210"/>
            </a:xfrm>
            <a:prstGeom prst="rect">
              <a:avLst/>
            </a:prstGeom>
          </p:spPr>
          <p:txBody>
            <a:bodyPr lIns="254000" tIns="254000" rIns="254000" bIns="254000" rtlCol="0" anchor="ctr"/>
            <a:lstStyle/>
            <a:p>
              <a:pPr algn="ctr">
                <a:lnSpc>
                  <a:spcPts val="4550"/>
                </a:lnSpc>
              </a:pPr>
              <a:r>
                <a:rPr lang="en-US" sz="3500" dirty="0">
                  <a:solidFill>
                    <a:srgbClr val="FFFFFF"/>
                  </a:solidFill>
                  <a:latin typeface="Codec Pro"/>
                  <a:ea typeface="Codec Pro"/>
                  <a:cs typeface="Codec Pro"/>
                  <a:sym typeface="Codec Pro"/>
                </a:rPr>
                <a:t>Conditional Independence</a:t>
              </a:r>
            </a:p>
          </p:txBody>
        </p:sp>
      </p:grpSp>
      <p:sp>
        <p:nvSpPr>
          <p:cNvPr id="11" name="Freeform 11"/>
          <p:cNvSpPr/>
          <p:nvPr/>
        </p:nvSpPr>
        <p:spPr>
          <a:xfrm>
            <a:off x="2920708" y="3567337"/>
            <a:ext cx="3525517" cy="793992"/>
          </a:xfrm>
          <a:custGeom>
            <a:avLst/>
            <a:gdLst/>
            <a:ahLst/>
            <a:cxnLst/>
            <a:rect l="l" t="t" r="r" b="b"/>
            <a:pathLst>
              <a:path w="3525517" h="793992">
                <a:moveTo>
                  <a:pt x="0" y="0"/>
                </a:moveTo>
                <a:lnTo>
                  <a:pt x="3525518" y="0"/>
                </a:lnTo>
                <a:lnTo>
                  <a:pt x="3525518" y="793992"/>
                </a:lnTo>
                <a:lnTo>
                  <a:pt x="0" y="793992"/>
                </a:lnTo>
                <a:lnTo>
                  <a:pt x="0" y="0"/>
                </a:lnTo>
                <a:close/>
              </a:path>
            </a:pathLst>
          </a:custGeom>
          <a:blipFill>
            <a:blip r:embed="rId3"/>
            <a:stretch>
              <a:fillRect l="-19833" r="-161020"/>
            </a:stretch>
          </a:blipFill>
        </p:spPr>
        <p:txBody>
          <a:bodyPr/>
          <a:lstStyle/>
          <a:p>
            <a:endParaRPr lang="en-GB"/>
          </a:p>
        </p:txBody>
      </p:sp>
      <p:sp>
        <p:nvSpPr>
          <p:cNvPr id="12" name="Freeform 12"/>
          <p:cNvSpPr/>
          <p:nvPr/>
        </p:nvSpPr>
        <p:spPr>
          <a:xfrm>
            <a:off x="2524456" y="6438900"/>
            <a:ext cx="4241018" cy="793992"/>
          </a:xfrm>
          <a:custGeom>
            <a:avLst/>
            <a:gdLst/>
            <a:ahLst/>
            <a:cxnLst/>
            <a:rect l="l" t="t" r="r" b="b"/>
            <a:pathLst>
              <a:path w="4241018" h="793992">
                <a:moveTo>
                  <a:pt x="0" y="0"/>
                </a:moveTo>
                <a:lnTo>
                  <a:pt x="4241018" y="0"/>
                </a:lnTo>
                <a:lnTo>
                  <a:pt x="4241018" y="793992"/>
                </a:lnTo>
                <a:lnTo>
                  <a:pt x="0" y="793992"/>
                </a:lnTo>
                <a:lnTo>
                  <a:pt x="0" y="0"/>
                </a:lnTo>
                <a:close/>
              </a:path>
            </a:pathLst>
          </a:custGeom>
          <a:blipFill>
            <a:blip r:embed="rId3"/>
            <a:stretch>
              <a:fillRect l="-131645" r="-1825"/>
            </a:stretch>
          </a:blipFill>
        </p:spPr>
        <p:txBody>
          <a:bodyPr/>
          <a:lstStyle/>
          <a:p>
            <a:endParaRPr lang="en-GB"/>
          </a:p>
        </p:txBody>
      </p:sp>
      <p:grpSp>
        <p:nvGrpSpPr>
          <p:cNvPr id="13" name="Group 13"/>
          <p:cNvGrpSpPr/>
          <p:nvPr/>
        </p:nvGrpSpPr>
        <p:grpSpPr>
          <a:xfrm>
            <a:off x="9723784" y="1961628"/>
            <a:ext cx="7722996" cy="6880109"/>
            <a:chOff x="0" y="0"/>
            <a:chExt cx="2034040" cy="1812045"/>
          </a:xfrm>
        </p:grpSpPr>
        <p:sp>
          <p:nvSpPr>
            <p:cNvPr id="14" name="Freeform 14"/>
            <p:cNvSpPr/>
            <p:nvPr/>
          </p:nvSpPr>
          <p:spPr>
            <a:xfrm>
              <a:off x="0" y="0"/>
              <a:ext cx="2034040" cy="1812045"/>
            </a:xfrm>
            <a:custGeom>
              <a:avLst/>
              <a:gdLst/>
              <a:ahLst/>
              <a:cxnLst/>
              <a:rect l="l" t="t" r="r" b="b"/>
              <a:pathLst>
                <a:path w="2034040" h="1812045">
                  <a:moveTo>
                    <a:pt x="51125" y="0"/>
                  </a:moveTo>
                  <a:lnTo>
                    <a:pt x="1982915" y="0"/>
                  </a:lnTo>
                  <a:cubicBezTo>
                    <a:pt x="2011150" y="0"/>
                    <a:pt x="2034040" y="22889"/>
                    <a:pt x="2034040" y="51125"/>
                  </a:cubicBezTo>
                  <a:lnTo>
                    <a:pt x="2034040" y="1760920"/>
                  </a:lnTo>
                  <a:cubicBezTo>
                    <a:pt x="2034040" y="1774479"/>
                    <a:pt x="2028654" y="1787483"/>
                    <a:pt x="2019066" y="1797071"/>
                  </a:cubicBezTo>
                  <a:cubicBezTo>
                    <a:pt x="2009478" y="1806659"/>
                    <a:pt x="1996474" y="1812045"/>
                    <a:pt x="1982915" y="1812045"/>
                  </a:cubicBezTo>
                  <a:lnTo>
                    <a:pt x="51125" y="1812045"/>
                  </a:lnTo>
                  <a:cubicBezTo>
                    <a:pt x="22889" y="1812045"/>
                    <a:pt x="0" y="1789156"/>
                    <a:pt x="0" y="1760920"/>
                  </a:cubicBezTo>
                  <a:lnTo>
                    <a:pt x="0" y="51125"/>
                  </a:lnTo>
                  <a:cubicBezTo>
                    <a:pt x="0" y="22889"/>
                    <a:pt x="22889" y="0"/>
                    <a:pt x="51125" y="0"/>
                  </a:cubicBezTo>
                  <a:close/>
                </a:path>
              </a:pathLst>
            </a:custGeom>
            <a:solidFill>
              <a:srgbClr val="7C987C"/>
            </a:solidFill>
          </p:spPr>
          <p:txBody>
            <a:bodyPr/>
            <a:lstStyle/>
            <a:p>
              <a:endParaRPr lang="en-GB"/>
            </a:p>
          </p:txBody>
        </p:sp>
        <p:sp>
          <p:nvSpPr>
            <p:cNvPr id="15" name="TextBox 15"/>
            <p:cNvSpPr txBox="1"/>
            <p:nvPr/>
          </p:nvSpPr>
          <p:spPr>
            <a:xfrm>
              <a:off x="0" y="-104775"/>
              <a:ext cx="2034040" cy="1916820"/>
            </a:xfrm>
            <a:prstGeom prst="rect">
              <a:avLst/>
            </a:prstGeom>
          </p:spPr>
          <p:txBody>
            <a:bodyPr lIns="50800" tIns="50800" rIns="50800" bIns="50800" rtlCol="0" anchor="ctr"/>
            <a:lstStyle/>
            <a:p>
              <a:pPr algn="ctr">
                <a:lnSpc>
                  <a:spcPts val="3300"/>
                </a:lnSpc>
              </a:pPr>
              <a:endParaRPr/>
            </a:p>
          </p:txBody>
        </p:sp>
      </p:grpSp>
      <p:grpSp>
        <p:nvGrpSpPr>
          <p:cNvPr id="16" name="Group 16"/>
          <p:cNvGrpSpPr/>
          <p:nvPr/>
        </p:nvGrpSpPr>
        <p:grpSpPr>
          <a:xfrm>
            <a:off x="9762286" y="2080906"/>
            <a:ext cx="7722996" cy="7090309"/>
            <a:chOff x="0" y="0"/>
            <a:chExt cx="2034040" cy="1867406"/>
          </a:xfrm>
        </p:grpSpPr>
        <p:sp>
          <p:nvSpPr>
            <p:cNvPr id="17" name="Freeform 17"/>
            <p:cNvSpPr/>
            <p:nvPr/>
          </p:nvSpPr>
          <p:spPr>
            <a:xfrm>
              <a:off x="0" y="0"/>
              <a:ext cx="2034040" cy="1867406"/>
            </a:xfrm>
            <a:custGeom>
              <a:avLst/>
              <a:gdLst/>
              <a:ahLst/>
              <a:cxnLst/>
              <a:rect l="l" t="t" r="r" b="b"/>
              <a:pathLst>
                <a:path w="2034040" h="1867406">
                  <a:moveTo>
                    <a:pt x="51125" y="0"/>
                  </a:moveTo>
                  <a:lnTo>
                    <a:pt x="1982915" y="0"/>
                  </a:lnTo>
                  <a:cubicBezTo>
                    <a:pt x="2011150" y="0"/>
                    <a:pt x="2034040" y="22889"/>
                    <a:pt x="2034040" y="51125"/>
                  </a:cubicBezTo>
                  <a:lnTo>
                    <a:pt x="2034040" y="1816281"/>
                  </a:lnTo>
                  <a:cubicBezTo>
                    <a:pt x="2034040" y="1829841"/>
                    <a:pt x="2028654" y="1842844"/>
                    <a:pt x="2019066" y="1852432"/>
                  </a:cubicBezTo>
                  <a:cubicBezTo>
                    <a:pt x="2009478" y="1862020"/>
                    <a:pt x="1996474" y="1867406"/>
                    <a:pt x="1982915" y="1867406"/>
                  </a:cubicBezTo>
                  <a:lnTo>
                    <a:pt x="51125" y="1867406"/>
                  </a:lnTo>
                  <a:cubicBezTo>
                    <a:pt x="22889" y="1867406"/>
                    <a:pt x="0" y="1844517"/>
                    <a:pt x="0" y="1816281"/>
                  </a:cubicBezTo>
                  <a:lnTo>
                    <a:pt x="0" y="51125"/>
                  </a:lnTo>
                  <a:cubicBezTo>
                    <a:pt x="0" y="22889"/>
                    <a:pt x="22889" y="0"/>
                    <a:pt x="51125" y="0"/>
                  </a:cubicBezTo>
                  <a:close/>
                </a:path>
              </a:pathLst>
            </a:custGeom>
            <a:solidFill>
              <a:srgbClr val="FFFFFF"/>
            </a:solidFill>
          </p:spPr>
          <p:txBody>
            <a:bodyPr/>
            <a:lstStyle/>
            <a:p>
              <a:endParaRPr lang="en-GB"/>
            </a:p>
          </p:txBody>
        </p:sp>
        <p:sp>
          <p:nvSpPr>
            <p:cNvPr id="18" name="TextBox 18"/>
            <p:cNvSpPr txBox="1"/>
            <p:nvPr/>
          </p:nvSpPr>
          <p:spPr>
            <a:xfrm>
              <a:off x="0" y="-104775"/>
              <a:ext cx="2034040" cy="1972181"/>
            </a:xfrm>
            <a:prstGeom prst="rect">
              <a:avLst/>
            </a:prstGeom>
          </p:spPr>
          <p:txBody>
            <a:bodyPr lIns="50800" tIns="50800" rIns="50800" bIns="50800" rtlCol="0" anchor="ctr"/>
            <a:lstStyle/>
            <a:p>
              <a:pPr algn="ctr">
                <a:lnSpc>
                  <a:spcPts val="3300"/>
                </a:lnSpc>
              </a:pPr>
              <a:endParaRPr/>
            </a:p>
          </p:txBody>
        </p:sp>
      </p:grpSp>
      <p:grpSp>
        <p:nvGrpSpPr>
          <p:cNvPr id="19" name="Group 19"/>
          <p:cNvGrpSpPr/>
          <p:nvPr/>
        </p:nvGrpSpPr>
        <p:grpSpPr>
          <a:xfrm>
            <a:off x="9389233" y="1485903"/>
            <a:ext cx="8430600" cy="2234902"/>
            <a:chOff x="0" y="-44290"/>
            <a:chExt cx="887271" cy="235210"/>
          </a:xfrm>
        </p:grpSpPr>
        <p:sp>
          <p:nvSpPr>
            <p:cNvPr id="20" name="Freeform 20"/>
            <p:cNvSpPr/>
            <p:nvPr/>
          </p:nvSpPr>
          <p:spPr>
            <a:xfrm>
              <a:off x="0" y="0"/>
              <a:ext cx="887271" cy="149485"/>
            </a:xfrm>
            <a:custGeom>
              <a:avLst/>
              <a:gdLst/>
              <a:ahLst/>
              <a:cxnLst/>
              <a:rect l="l" t="t" r="r" b="b"/>
              <a:pathLst>
                <a:path w="887271" h="149485">
                  <a:moveTo>
                    <a:pt x="74743" y="0"/>
                  </a:moveTo>
                  <a:lnTo>
                    <a:pt x="812529" y="0"/>
                  </a:lnTo>
                  <a:cubicBezTo>
                    <a:pt x="853808" y="0"/>
                    <a:pt x="887271" y="33463"/>
                    <a:pt x="887271" y="74743"/>
                  </a:cubicBezTo>
                  <a:lnTo>
                    <a:pt x="887271" y="74743"/>
                  </a:lnTo>
                  <a:cubicBezTo>
                    <a:pt x="887271" y="94566"/>
                    <a:pt x="879397" y="113577"/>
                    <a:pt x="865380" y="127594"/>
                  </a:cubicBezTo>
                  <a:cubicBezTo>
                    <a:pt x="851363" y="141611"/>
                    <a:pt x="832352" y="149485"/>
                    <a:pt x="812529" y="149485"/>
                  </a:cubicBezTo>
                  <a:lnTo>
                    <a:pt x="74743" y="149485"/>
                  </a:lnTo>
                  <a:cubicBezTo>
                    <a:pt x="54920" y="149485"/>
                    <a:pt x="35909" y="141611"/>
                    <a:pt x="21892" y="127594"/>
                  </a:cubicBezTo>
                  <a:cubicBezTo>
                    <a:pt x="7875" y="113577"/>
                    <a:pt x="0" y="94566"/>
                    <a:pt x="0" y="74743"/>
                  </a:cubicBezTo>
                  <a:lnTo>
                    <a:pt x="0" y="74743"/>
                  </a:lnTo>
                  <a:cubicBezTo>
                    <a:pt x="0" y="54920"/>
                    <a:pt x="7875" y="35909"/>
                    <a:pt x="21892" y="21892"/>
                  </a:cubicBezTo>
                  <a:cubicBezTo>
                    <a:pt x="35909" y="7875"/>
                    <a:pt x="54920" y="0"/>
                    <a:pt x="74743" y="0"/>
                  </a:cubicBezTo>
                  <a:close/>
                </a:path>
              </a:pathLst>
            </a:custGeom>
            <a:solidFill>
              <a:srgbClr val="365236"/>
            </a:solidFill>
          </p:spPr>
          <p:txBody>
            <a:bodyPr/>
            <a:lstStyle/>
            <a:p>
              <a:endParaRPr lang="en-GB"/>
            </a:p>
          </p:txBody>
        </p:sp>
        <p:sp>
          <p:nvSpPr>
            <p:cNvPr id="21" name="TextBox 21"/>
            <p:cNvSpPr txBox="1"/>
            <p:nvPr/>
          </p:nvSpPr>
          <p:spPr>
            <a:xfrm>
              <a:off x="0" y="-44290"/>
              <a:ext cx="887271" cy="235210"/>
            </a:xfrm>
            <a:prstGeom prst="rect">
              <a:avLst/>
            </a:prstGeom>
          </p:spPr>
          <p:txBody>
            <a:bodyPr lIns="254000" tIns="254000" rIns="254000" bIns="254000" rtlCol="0" anchor="ctr"/>
            <a:lstStyle/>
            <a:p>
              <a:pPr algn="ctr">
                <a:lnSpc>
                  <a:spcPts val="4550"/>
                </a:lnSpc>
              </a:pPr>
              <a:r>
                <a:rPr lang="en-US" sz="3500" dirty="0">
                  <a:solidFill>
                    <a:srgbClr val="FFFFFF"/>
                  </a:solidFill>
                  <a:latin typeface="Codec Pro"/>
                  <a:ea typeface="Codec Pro"/>
                  <a:cs typeface="Codec Pro"/>
                  <a:sym typeface="Codec Pro"/>
                </a:rPr>
                <a:t>Common Support Assumption</a:t>
              </a:r>
            </a:p>
          </p:txBody>
        </p:sp>
      </p:grpSp>
      <p:sp>
        <p:nvSpPr>
          <p:cNvPr id="22" name="Freeform 22"/>
          <p:cNvSpPr/>
          <p:nvPr/>
        </p:nvSpPr>
        <p:spPr>
          <a:xfrm>
            <a:off x="10177639" y="3593801"/>
            <a:ext cx="6892290" cy="652932"/>
          </a:xfrm>
          <a:custGeom>
            <a:avLst/>
            <a:gdLst/>
            <a:ahLst/>
            <a:cxnLst/>
            <a:rect l="l" t="t" r="r" b="b"/>
            <a:pathLst>
              <a:path w="6892290" h="652932">
                <a:moveTo>
                  <a:pt x="0" y="0"/>
                </a:moveTo>
                <a:lnTo>
                  <a:pt x="6892290" y="0"/>
                </a:lnTo>
                <a:lnTo>
                  <a:pt x="6892290" y="652932"/>
                </a:lnTo>
                <a:lnTo>
                  <a:pt x="0" y="652932"/>
                </a:lnTo>
                <a:lnTo>
                  <a:pt x="0" y="0"/>
                </a:lnTo>
                <a:close/>
              </a:path>
            </a:pathLst>
          </a:custGeom>
          <a:blipFill>
            <a:blip r:embed="rId4"/>
            <a:stretch>
              <a:fillRect l="-2599" t="-10014" r="-1007"/>
            </a:stretch>
          </a:blipFill>
        </p:spPr>
        <p:txBody>
          <a:bodyPr/>
          <a:lstStyle/>
          <a:p>
            <a:endParaRPr lang="en-GB"/>
          </a:p>
        </p:txBody>
      </p:sp>
      <p:sp>
        <p:nvSpPr>
          <p:cNvPr id="23" name="Freeform 23"/>
          <p:cNvSpPr/>
          <p:nvPr/>
        </p:nvSpPr>
        <p:spPr>
          <a:xfrm>
            <a:off x="11105201" y="6438900"/>
            <a:ext cx="4960161" cy="689217"/>
          </a:xfrm>
          <a:custGeom>
            <a:avLst/>
            <a:gdLst/>
            <a:ahLst/>
            <a:cxnLst/>
            <a:rect l="l" t="t" r="r" b="b"/>
            <a:pathLst>
              <a:path w="4960161" h="689217">
                <a:moveTo>
                  <a:pt x="0" y="0"/>
                </a:moveTo>
                <a:lnTo>
                  <a:pt x="4960161" y="0"/>
                </a:lnTo>
                <a:lnTo>
                  <a:pt x="4960161" y="689217"/>
                </a:lnTo>
                <a:lnTo>
                  <a:pt x="0" y="689217"/>
                </a:lnTo>
                <a:lnTo>
                  <a:pt x="0" y="0"/>
                </a:lnTo>
                <a:close/>
              </a:path>
            </a:pathLst>
          </a:custGeom>
          <a:blipFill>
            <a:blip r:embed="rId5"/>
            <a:stretch>
              <a:fillRect l="-43645" r="-3928" b="-7641"/>
            </a:stretch>
          </a:blipFill>
        </p:spPr>
        <p:txBody>
          <a:bodyPr/>
          <a:lstStyle/>
          <a:p>
            <a:endParaRPr lang="en-GB"/>
          </a:p>
        </p:txBody>
      </p:sp>
      <p:sp>
        <p:nvSpPr>
          <p:cNvPr id="24" name="TextBox 24"/>
          <p:cNvSpPr txBox="1"/>
          <p:nvPr/>
        </p:nvSpPr>
        <p:spPr>
          <a:xfrm>
            <a:off x="962102" y="4314790"/>
            <a:ext cx="7442729" cy="1743110"/>
          </a:xfrm>
          <a:prstGeom prst="rect">
            <a:avLst/>
          </a:prstGeom>
        </p:spPr>
        <p:txBody>
          <a:bodyPr lIns="0" tIns="0" rIns="0" bIns="0" rtlCol="0" anchor="t">
            <a:spAutoFit/>
          </a:bodyPr>
          <a:lstStyle/>
          <a:p>
            <a:pPr algn="ctr">
              <a:lnSpc>
                <a:spcPts val="4500"/>
              </a:lnSpc>
              <a:spcBef>
                <a:spcPct val="0"/>
              </a:spcBef>
            </a:pPr>
            <a:r>
              <a:rPr lang="en-US" sz="3000" dirty="0">
                <a:latin typeface="Codec Pro"/>
                <a:ea typeface="Codec Pro"/>
                <a:cs typeface="Codec Pro"/>
                <a:sym typeface="Codec Pro"/>
              </a:rPr>
              <a:t>Conditional on observables, treatment assignment is independent of potential outcomes </a:t>
            </a:r>
          </a:p>
        </p:txBody>
      </p:sp>
      <p:sp>
        <p:nvSpPr>
          <p:cNvPr id="25" name="TextBox 25"/>
          <p:cNvSpPr txBox="1"/>
          <p:nvPr/>
        </p:nvSpPr>
        <p:spPr>
          <a:xfrm>
            <a:off x="923600" y="7157717"/>
            <a:ext cx="7461779" cy="1101392"/>
          </a:xfrm>
          <a:prstGeom prst="rect">
            <a:avLst/>
          </a:prstGeom>
        </p:spPr>
        <p:txBody>
          <a:bodyPr lIns="0" tIns="0" rIns="0" bIns="0" rtlCol="0" anchor="t">
            <a:spAutoFit/>
          </a:bodyPr>
          <a:lstStyle/>
          <a:p>
            <a:pPr algn="ctr">
              <a:lnSpc>
                <a:spcPts val="4500"/>
              </a:lnSpc>
              <a:spcBef>
                <a:spcPct val="0"/>
              </a:spcBef>
            </a:pPr>
            <a:r>
              <a:rPr lang="en-US" sz="3000" dirty="0">
                <a:latin typeface="Codec Pro"/>
                <a:ea typeface="Codec Pro"/>
                <a:cs typeface="Codec Pro"/>
                <a:sym typeface="Codec Pro"/>
              </a:rPr>
              <a:t>Conditional on propensity score, treatment assignment is as random</a:t>
            </a:r>
          </a:p>
        </p:txBody>
      </p:sp>
      <p:sp>
        <p:nvSpPr>
          <p:cNvPr id="26" name="TextBox 26"/>
          <p:cNvSpPr txBox="1"/>
          <p:nvPr/>
        </p:nvSpPr>
        <p:spPr>
          <a:xfrm>
            <a:off x="5592943" y="316050"/>
            <a:ext cx="7102114" cy="1352559"/>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ASSUMPTIONS</a:t>
            </a:r>
          </a:p>
        </p:txBody>
      </p:sp>
      <p:sp>
        <p:nvSpPr>
          <p:cNvPr id="27" name="TextBox 27"/>
          <p:cNvSpPr txBox="1"/>
          <p:nvPr/>
        </p:nvSpPr>
        <p:spPr>
          <a:xfrm>
            <a:off x="9902419" y="4314790"/>
            <a:ext cx="7442729" cy="1743110"/>
          </a:xfrm>
          <a:prstGeom prst="rect">
            <a:avLst/>
          </a:prstGeom>
        </p:spPr>
        <p:txBody>
          <a:bodyPr lIns="0" tIns="0" rIns="0" bIns="0" rtlCol="0" anchor="t">
            <a:spAutoFit/>
          </a:bodyPr>
          <a:lstStyle/>
          <a:p>
            <a:pPr algn="ctr">
              <a:lnSpc>
                <a:spcPts val="4500"/>
              </a:lnSpc>
              <a:spcBef>
                <a:spcPct val="0"/>
              </a:spcBef>
            </a:pPr>
            <a:r>
              <a:rPr lang="en-US" sz="3000" dirty="0">
                <a:latin typeface="Codec Pro"/>
                <a:ea typeface="Codec Pro"/>
                <a:cs typeface="Codec Pro"/>
                <a:sym typeface="Codec Pro"/>
              </a:rPr>
              <a:t>For each level of x we need to have at least one treated unit and at least one control unit</a:t>
            </a:r>
          </a:p>
        </p:txBody>
      </p:sp>
      <p:sp>
        <p:nvSpPr>
          <p:cNvPr id="28" name="TextBox 28"/>
          <p:cNvSpPr txBox="1"/>
          <p:nvPr/>
        </p:nvSpPr>
        <p:spPr>
          <a:xfrm>
            <a:off x="10053288" y="7157717"/>
            <a:ext cx="7206012" cy="1743074"/>
          </a:xfrm>
          <a:prstGeom prst="rect">
            <a:avLst/>
          </a:prstGeom>
        </p:spPr>
        <p:txBody>
          <a:bodyPr lIns="0" tIns="0" rIns="0" bIns="0" rtlCol="0" anchor="t">
            <a:spAutoFit/>
          </a:bodyPr>
          <a:lstStyle/>
          <a:p>
            <a:pPr algn="ctr">
              <a:lnSpc>
                <a:spcPts val="4500"/>
              </a:lnSpc>
              <a:spcBef>
                <a:spcPct val="0"/>
              </a:spcBef>
            </a:pPr>
            <a:r>
              <a:rPr lang="en-US" sz="3000" dirty="0">
                <a:latin typeface="Codec Pro"/>
                <a:ea typeface="Codec Pro"/>
                <a:cs typeface="Codec Pro"/>
                <a:sym typeface="Codec Pro"/>
              </a:rPr>
              <a:t>For each unit, the probability of being treated given propensity score is smaller than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30433" y="2503529"/>
            <a:ext cx="1152922" cy="1346299"/>
          </a:xfrm>
          <a:custGeom>
            <a:avLst/>
            <a:gdLst/>
            <a:ahLst/>
            <a:cxnLst/>
            <a:rect l="l" t="t" r="r" b="b"/>
            <a:pathLst>
              <a:path w="1152922" h="1346299">
                <a:moveTo>
                  <a:pt x="0" y="0"/>
                </a:moveTo>
                <a:lnTo>
                  <a:pt x="1152921" y="0"/>
                </a:lnTo>
                <a:lnTo>
                  <a:pt x="1152921" y="1346299"/>
                </a:lnTo>
                <a:lnTo>
                  <a:pt x="0" y="1346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0295690" y="2503528"/>
            <a:ext cx="1152922" cy="1346299"/>
          </a:xfrm>
          <a:custGeom>
            <a:avLst/>
            <a:gdLst/>
            <a:ahLst/>
            <a:cxnLst/>
            <a:rect l="l" t="t" r="r" b="b"/>
            <a:pathLst>
              <a:path w="1152922" h="1346299">
                <a:moveTo>
                  <a:pt x="0" y="0"/>
                </a:moveTo>
                <a:lnTo>
                  <a:pt x="1152922" y="0"/>
                </a:lnTo>
                <a:lnTo>
                  <a:pt x="1152922" y="1346299"/>
                </a:lnTo>
                <a:lnTo>
                  <a:pt x="0" y="1346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AutoShape 4"/>
          <p:cNvSpPr/>
          <p:nvPr/>
        </p:nvSpPr>
        <p:spPr>
          <a:xfrm>
            <a:off x="-145227" y="-60817"/>
            <a:ext cx="19366859" cy="2229413"/>
          </a:xfrm>
          <a:prstGeom prst="rect">
            <a:avLst/>
          </a:prstGeom>
          <a:solidFill>
            <a:srgbClr val="7C987C"/>
          </a:solidFill>
        </p:spPr>
        <p:txBody>
          <a:bodyPr/>
          <a:lstStyle/>
          <a:p>
            <a:endParaRPr lang="en-GB"/>
          </a:p>
        </p:txBody>
      </p:sp>
      <p:sp>
        <p:nvSpPr>
          <p:cNvPr id="5" name="Freeform 5"/>
          <p:cNvSpPr/>
          <p:nvPr/>
        </p:nvSpPr>
        <p:spPr>
          <a:xfrm>
            <a:off x="1230433" y="4421132"/>
            <a:ext cx="7913567" cy="4837168"/>
          </a:xfrm>
          <a:custGeom>
            <a:avLst/>
            <a:gdLst/>
            <a:ahLst/>
            <a:cxnLst/>
            <a:rect l="l" t="t" r="r" b="b"/>
            <a:pathLst>
              <a:path w="7913567" h="4837168">
                <a:moveTo>
                  <a:pt x="0" y="0"/>
                </a:moveTo>
                <a:lnTo>
                  <a:pt x="7913567" y="0"/>
                </a:lnTo>
                <a:lnTo>
                  <a:pt x="7913567" y="4837168"/>
                </a:lnTo>
                <a:lnTo>
                  <a:pt x="0" y="4837168"/>
                </a:lnTo>
                <a:lnTo>
                  <a:pt x="0" y="0"/>
                </a:lnTo>
                <a:close/>
              </a:path>
            </a:pathLst>
          </a:custGeom>
          <a:blipFill>
            <a:blip r:embed="rId4"/>
            <a:stretch>
              <a:fillRect/>
            </a:stretch>
          </a:blipFill>
        </p:spPr>
        <p:txBody>
          <a:bodyPr/>
          <a:lstStyle/>
          <a:p>
            <a:endParaRPr lang="en-GB"/>
          </a:p>
        </p:txBody>
      </p:sp>
      <p:sp>
        <p:nvSpPr>
          <p:cNvPr id="6" name="Freeform 6"/>
          <p:cNvSpPr/>
          <p:nvPr/>
        </p:nvSpPr>
        <p:spPr>
          <a:xfrm>
            <a:off x="11945489" y="2901342"/>
            <a:ext cx="4564243" cy="6356958"/>
          </a:xfrm>
          <a:custGeom>
            <a:avLst/>
            <a:gdLst/>
            <a:ahLst/>
            <a:cxnLst/>
            <a:rect l="l" t="t" r="r" b="b"/>
            <a:pathLst>
              <a:path w="4564243" h="6356958">
                <a:moveTo>
                  <a:pt x="0" y="0"/>
                </a:moveTo>
                <a:lnTo>
                  <a:pt x="4564243" y="0"/>
                </a:lnTo>
                <a:lnTo>
                  <a:pt x="4564243" y="6356958"/>
                </a:lnTo>
                <a:lnTo>
                  <a:pt x="0" y="6356958"/>
                </a:lnTo>
                <a:lnTo>
                  <a:pt x="0" y="0"/>
                </a:lnTo>
                <a:close/>
              </a:path>
            </a:pathLst>
          </a:custGeom>
          <a:blipFill>
            <a:blip r:embed="rId5"/>
            <a:stretch>
              <a:fillRect t="-209" b="-209"/>
            </a:stretch>
          </a:blipFill>
        </p:spPr>
        <p:txBody>
          <a:bodyPr/>
          <a:lstStyle/>
          <a:p>
            <a:endParaRPr lang="en-GB"/>
          </a:p>
        </p:txBody>
      </p:sp>
      <p:sp>
        <p:nvSpPr>
          <p:cNvPr id="7" name="TextBox 7"/>
          <p:cNvSpPr txBox="1"/>
          <p:nvPr/>
        </p:nvSpPr>
        <p:spPr>
          <a:xfrm>
            <a:off x="2685494" y="2300350"/>
            <a:ext cx="6458506" cy="1638357"/>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Codec Pro"/>
                <a:ea typeface="Codec Pro"/>
                <a:cs typeface="Codec Pro"/>
                <a:sym typeface="Codec Pro"/>
              </a:rPr>
              <a:t>As proven by the distribution of the propensity score , the </a:t>
            </a:r>
            <a:r>
              <a:rPr lang="en-US" sz="3000" b="1">
                <a:solidFill>
                  <a:srgbClr val="000000"/>
                </a:solidFill>
                <a:latin typeface="Codec Pro Bold"/>
                <a:ea typeface="Codec Pro Bold"/>
                <a:cs typeface="Codec Pro Bold"/>
                <a:sym typeface="Codec Pro Bold"/>
              </a:rPr>
              <a:t>COMMON</a:t>
            </a:r>
          </a:p>
          <a:p>
            <a:pPr algn="l">
              <a:lnSpc>
                <a:spcPts val="4200"/>
              </a:lnSpc>
              <a:spcBef>
                <a:spcPct val="0"/>
              </a:spcBef>
            </a:pPr>
            <a:r>
              <a:rPr lang="en-US" sz="3000" b="1">
                <a:solidFill>
                  <a:srgbClr val="000000"/>
                </a:solidFill>
                <a:latin typeface="Codec Pro Bold"/>
                <a:ea typeface="Codec Pro Bold"/>
                <a:cs typeface="Codec Pro Bold"/>
                <a:sym typeface="Codec Pro Bold"/>
              </a:rPr>
              <a:t>SUPPORT</a:t>
            </a:r>
            <a:r>
              <a:rPr lang="en-US" sz="3000">
                <a:solidFill>
                  <a:srgbClr val="000000"/>
                </a:solidFill>
                <a:latin typeface="Codec Pro"/>
                <a:ea typeface="Codec Pro"/>
                <a:cs typeface="Codec Pro"/>
                <a:sym typeface="Codec Pro"/>
              </a:rPr>
              <a:t> assumption holds</a:t>
            </a:r>
          </a:p>
        </p:txBody>
      </p:sp>
      <p:sp>
        <p:nvSpPr>
          <p:cNvPr id="8" name="TextBox 8"/>
          <p:cNvSpPr txBox="1"/>
          <p:nvPr/>
        </p:nvSpPr>
        <p:spPr>
          <a:xfrm>
            <a:off x="11627666" y="2300350"/>
            <a:ext cx="5199890" cy="571519"/>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Codec Pro Bold"/>
                <a:ea typeface="Codec Pro Bold"/>
                <a:cs typeface="Codec Pro Bold"/>
                <a:sym typeface="Codec Pro Bold"/>
              </a:rPr>
              <a:t>CHECK OF MATCH QUALITY*</a:t>
            </a:r>
          </a:p>
        </p:txBody>
      </p:sp>
      <p:sp>
        <p:nvSpPr>
          <p:cNvPr id="9" name="TextBox 9"/>
          <p:cNvSpPr txBox="1"/>
          <p:nvPr/>
        </p:nvSpPr>
        <p:spPr>
          <a:xfrm>
            <a:off x="11126537" y="9638401"/>
            <a:ext cx="6882474" cy="387329"/>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Codec Pro"/>
                <a:ea typeface="Codec Pro"/>
                <a:cs typeface="Codec Pro"/>
                <a:sym typeface="Codec Pro"/>
              </a:rPr>
              <a:t>* usually, an SMD lower than 0.1 is considered acceptable</a:t>
            </a:r>
          </a:p>
        </p:txBody>
      </p:sp>
      <p:sp>
        <p:nvSpPr>
          <p:cNvPr id="10" name="TextBox 10"/>
          <p:cNvSpPr txBox="1"/>
          <p:nvPr/>
        </p:nvSpPr>
        <p:spPr>
          <a:xfrm>
            <a:off x="5592943" y="310934"/>
            <a:ext cx="7102114" cy="1352559"/>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ASSUMPTIONS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sp>
        <p:nvSpPr>
          <p:cNvPr id="3" name="Freeform 3"/>
          <p:cNvSpPr/>
          <p:nvPr/>
        </p:nvSpPr>
        <p:spPr>
          <a:xfrm>
            <a:off x="1500932" y="3464674"/>
            <a:ext cx="7733289" cy="1353326"/>
          </a:xfrm>
          <a:custGeom>
            <a:avLst/>
            <a:gdLst/>
            <a:ahLst/>
            <a:cxnLst/>
            <a:rect l="l" t="t" r="r" b="b"/>
            <a:pathLst>
              <a:path w="7733289" h="1353326">
                <a:moveTo>
                  <a:pt x="0" y="0"/>
                </a:moveTo>
                <a:lnTo>
                  <a:pt x="7733289" y="0"/>
                </a:lnTo>
                <a:lnTo>
                  <a:pt x="7733289" y="1353326"/>
                </a:lnTo>
                <a:lnTo>
                  <a:pt x="0" y="1353326"/>
                </a:lnTo>
                <a:lnTo>
                  <a:pt x="0" y="0"/>
                </a:lnTo>
                <a:close/>
              </a:path>
            </a:pathLst>
          </a:custGeom>
          <a:blipFill>
            <a:blip r:embed="rId2"/>
            <a:stretch>
              <a:fillRect/>
            </a:stretch>
          </a:blipFill>
        </p:spPr>
        <p:txBody>
          <a:bodyPr/>
          <a:lstStyle/>
          <a:p>
            <a:endParaRPr lang="en-GB"/>
          </a:p>
        </p:txBody>
      </p:sp>
      <p:grpSp>
        <p:nvGrpSpPr>
          <p:cNvPr id="4" name="Group 4"/>
          <p:cNvGrpSpPr/>
          <p:nvPr/>
        </p:nvGrpSpPr>
        <p:grpSpPr>
          <a:xfrm>
            <a:off x="3631061" y="4123048"/>
            <a:ext cx="4684204" cy="501292"/>
            <a:chOff x="0" y="0"/>
            <a:chExt cx="1096253" cy="117318"/>
          </a:xfrm>
        </p:grpSpPr>
        <p:sp>
          <p:nvSpPr>
            <p:cNvPr id="5" name="Freeform 5"/>
            <p:cNvSpPr/>
            <p:nvPr/>
          </p:nvSpPr>
          <p:spPr>
            <a:xfrm>
              <a:off x="0" y="0"/>
              <a:ext cx="1096253" cy="117318"/>
            </a:xfrm>
            <a:custGeom>
              <a:avLst/>
              <a:gdLst/>
              <a:ahLst/>
              <a:cxnLst/>
              <a:rect l="l" t="t" r="r" b="b"/>
              <a:pathLst>
                <a:path w="1096253" h="117318">
                  <a:moveTo>
                    <a:pt x="0" y="0"/>
                  </a:moveTo>
                  <a:lnTo>
                    <a:pt x="1096253" y="0"/>
                  </a:lnTo>
                  <a:lnTo>
                    <a:pt x="1096253" y="117318"/>
                  </a:lnTo>
                  <a:lnTo>
                    <a:pt x="0" y="117318"/>
                  </a:lnTo>
                  <a:close/>
                </a:path>
              </a:pathLst>
            </a:custGeom>
            <a:solidFill>
              <a:srgbClr val="000000">
                <a:alpha val="0"/>
              </a:srgbClr>
            </a:solidFill>
            <a:ln w="19050" cap="sq">
              <a:solidFill>
                <a:srgbClr val="365236"/>
              </a:solidFill>
              <a:prstDash val="solid"/>
              <a:miter/>
            </a:ln>
          </p:spPr>
          <p:txBody>
            <a:bodyPr/>
            <a:lstStyle/>
            <a:p>
              <a:endParaRPr lang="en-GB"/>
            </a:p>
          </p:txBody>
        </p:sp>
        <p:sp>
          <p:nvSpPr>
            <p:cNvPr id="6" name="TextBox 6"/>
            <p:cNvSpPr txBox="1"/>
            <p:nvPr/>
          </p:nvSpPr>
          <p:spPr>
            <a:xfrm>
              <a:off x="0" y="-66675"/>
              <a:ext cx="1096253" cy="183993"/>
            </a:xfrm>
            <a:prstGeom prst="rect">
              <a:avLst/>
            </a:prstGeom>
          </p:spPr>
          <p:txBody>
            <a:bodyPr lIns="53028" tIns="53028" rIns="53028" bIns="53028" rtlCol="0" anchor="ctr"/>
            <a:lstStyle/>
            <a:p>
              <a:pPr algn="ctr">
                <a:lnSpc>
                  <a:spcPts val="2100"/>
                </a:lnSpc>
              </a:pPr>
              <a:endParaRPr/>
            </a:p>
          </p:txBody>
        </p:sp>
      </p:grpSp>
      <p:sp>
        <p:nvSpPr>
          <p:cNvPr id="7" name="Freeform 7"/>
          <p:cNvSpPr/>
          <p:nvPr/>
        </p:nvSpPr>
        <p:spPr>
          <a:xfrm rot="-3612120" flipH="1">
            <a:off x="8708937" y="4182001"/>
            <a:ext cx="339224" cy="1013985"/>
          </a:xfrm>
          <a:custGeom>
            <a:avLst/>
            <a:gdLst/>
            <a:ahLst/>
            <a:cxnLst/>
            <a:rect l="l" t="t" r="r" b="b"/>
            <a:pathLst>
              <a:path w="339224" h="1013985">
                <a:moveTo>
                  <a:pt x="339224" y="0"/>
                </a:moveTo>
                <a:lnTo>
                  <a:pt x="0" y="0"/>
                </a:lnTo>
                <a:lnTo>
                  <a:pt x="0" y="1013986"/>
                </a:lnTo>
                <a:lnTo>
                  <a:pt x="339224" y="1013986"/>
                </a:lnTo>
                <a:lnTo>
                  <a:pt x="33922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TextBox 8"/>
          <p:cNvSpPr txBox="1"/>
          <p:nvPr/>
        </p:nvSpPr>
        <p:spPr>
          <a:xfrm>
            <a:off x="2894346" y="2731437"/>
            <a:ext cx="4142265" cy="654038"/>
          </a:xfrm>
          <a:prstGeom prst="rect">
            <a:avLst/>
          </a:prstGeom>
        </p:spPr>
        <p:txBody>
          <a:bodyPr lIns="0" tIns="0" rIns="0" bIns="0" rtlCol="0" anchor="t">
            <a:spAutoFit/>
          </a:bodyPr>
          <a:lstStyle/>
          <a:p>
            <a:pPr algn="ctr">
              <a:lnSpc>
                <a:spcPts val="4900"/>
              </a:lnSpc>
              <a:spcBef>
                <a:spcPct val="0"/>
              </a:spcBef>
            </a:pPr>
            <a:r>
              <a:rPr lang="en-US" sz="3500" b="1">
                <a:solidFill>
                  <a:srgbClr val="4B654B"/>
                </a:solidFill>
                <a:latin typeface="Codec Pro Bold"/>
                <a:ea typeface="Codec Pro Bold"/>
                <a:cs typeface="Codec Pro Bold"/>
                <a:sym typeface="Codec Pro Bold"/>
              </a:rPr>
              <a:t>BEFORE MATCHING</a:t>
            </a:r>
          </a:p>
        </p:txBody>
      </p:sp>
      <p:sp>
        <p:nvSpPr>
          <p:cNvPr id="9" name="TextBox 9"/>
          <p:cNvSpPr txBox="1"/>
          <p:nvPr/>
        </p:nvSpPr>
        <p:spPr>
          <a:xfrm>
            <a:off x="8082343" y="5052831"/>
            <a:ext cx="2123315" cy="571519"/>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odec Pro"/>
                <a:ea typeface="Codec Pro"/>
                <a:cs typeface="Codec Pro"/>
                <a:sym typeface="Codec Pro"/>
              </a:rPr>
              <a:t>BIASED ATT</a:t>
            </a:r>
          </a:p>
        </p:txBody>
      </p:sp>
      <p:sp>
        <p:nvSpPr>
          <p:cNvPr id="10" name="Freeform 10"/>
          <p:cNvSpPr/>
          <p:nvPr/>
        </p:nvSpPr>
        <p:spPr>
          <a:xfrm>
            <a:off x="1500932" y="6830855"/>
            <a:ext cx="7810454" cy="1366829"/>
          </a:xfrm>
          <a:custGeom>
            <a:avLst/>
            <a:gdLst/>
            <a:ahLst/>
            <a:cxnLst/>
            <a:rect l="l" t="t" r="r" b="b"/>
            <a:pathLst>
              <a:path w="7810454" h="1366829">
                <a:moveTo>
                  <a:pt x="0" y="0"/>
                </a:moveTo>
                <a:lnTo>
                  <a:pt x="7810454" y="0"/>
                </a:lnTo>
                <a:lnTo>
                  <a:pt x="7810454" y="1366830"/>
                </a:lnTo>
                <a:lnTo>
                  <a:pt x="0" y="1366830"/>
                </a:lnTo>
                <a:lnTo>
                  <a:pt x="0" y="0"/>
                </a:lnTo>
                <a:close/>
              </a:path>
            </a:pathLst>
          </a:custGeom>
          <a:blipFill>
            <a:blip r:embed="rId5"/>
            <a:stretch>
              <a:fillRect/>
            </a:stretch>
          </a:blipFill>
        </p:spPr>
        <p:txBody>
          <a:bodyPr/>
          <a:lstStyle/>
          <a:p>
            <a:endParaRPr lang="en-GB"/>
          </a:p>
        </p:txBody>
      </p:sp>
      <p:grpSp>
        <p:nvGrpSpPr>
          <p:cNvPr id="11" name="Group 11"/>
          <p:cNvGrpSpPr/>
          <p:nvPr/>
        </p:nvGrpSpPr>
        <p:grpSpPr>
          <a:xfrm>
            <a:off x="3713173" y="7481791"/>
            <a:ext cx="4730944" cy="506294"/>
            <a:chOff x="0" y="0"/>
            <a:chExt cx="1096253" cy="117318"/>
          </a:xfrm>
        </p:grpSpPr>
        <p:sp>
          <p:nvSpPr>
            <p:cNvPr id="12" name="Freeform 12"/>
            <p:cNvSpPr/>
            <p:nvPr/>
          </p:nvSpPr>
          <p:spPr>
            <a:xfrm>
              <a:off x="0" y="0"/>
              <a:ext cx="1096253" cy="117318"/>
            </a:xfrm>
            <a:custGeom>
              <a:avLst/>
              <a:gdLst/>
              <a:ahLst/>
              <a:cxnLst/>
              <a:rect l="l" t="t" r="r" b="b"/>
              <a:pathLst>
                <a:path w="1096253" h="117318">
                  <a:moveTo>
                    <a:pt x="0" y="0"/>
                  </a:moveTo>
                  <a:lnTo>
                    <a:pt x="1096253" y="0"/>
                  </a:lnTo>
                  <a:lnTo>
                    <a:pt x="1096253" y="117318"/>
                  </a:lnTo>
                  <a:lnTo>
                    <a:pt x="0" y="117318"/>
                  </a:lnTo>
                  <a:close/>
                </a:path>
              </a:pathLst>
            </a:custGeom>
            <a:solidFill>
              <a:srgbClr val="000000">
                <a:alpha val="0"/>
              </a:srgbClr>
            </a:solidFill>
            <a:ln w="19050" cap="sq">
              <a:solidFill>
                <a:srgbClr val="365236"/>
              </a:solidFill>
              <a:prstDash val="solid"/>
              <a:miter/>
            </a:ln>
          </p:spPr>
          <p:txBody>
            <a:bodyPr/>
            <a:lstStyle/>
            <a:p>
              <a:endParaRPr lang="en-GB"/>
            </a:p>
          </p:txBody>
        </p:sp>
        <p:sp>
          <p:nvSpPr>
            <p:cNvPr id="13" name="TextBox 13"/>
            <p:cNvSpPr txBox="1"/>
            <p:nvPr/>
          </p:nvSpPr>
          <p:spPr>
            <a:xfrm>
              <a:off x="0" y="-66675"/>
              <a:ext cx="1096253" cy="183993"/>
            </a:xfrm>
            <a:prstGeom prst="rect">
              <a:avLst/>
            </a:prstGeom>
          </p:spPr>
          <p:txBody>
            <a:bodyPr lIns="57740" tIns="57740" rIns="57740" bIns="57740" rtlCol="0" anchor="ctr"/>
            <a:lstStyle/>
            <a:p>
              <a:pPr algn="ctr">
                <a:lnSpc>
                  <a:spcPts val="2100"/>
                </a:lnSpc>
              </a:pPr>
              <a:endParaRPr/>
            </a:p>
          </p:txBody>
        </p:sp>
      </p:grpSp>
      <p:sp>
        <p:nvSpPr>
          <p:cNvPr id="14" name="TextBox 14"/>
          <p:cNvSpPr txBox="1"/>
          <p:nvPr/>
        </p:nvSpPr>
        <p:spPr>
          <a:xfrm>
            <a:off x="2894346" y="6129780"/>
            <a:ext cx="3806516" cy="654038"/>
          </a:xfrm>
          <a:prstGeom prst="rect">
            <a:avLst/>
          </a:prstGeom>
        </p:spPr>
        <p:txBody>
          <a:bodyPr lIns="0" tIns="0" rIns="0" bIns="0" rtlCol="0" anchor="t">
            <a:spAutoFit/>
          </a:bodyPr>
          <a:lstStyle/>
          <a:p>
            <a:pPr algn="ctr">
              <a:lnSpc>
                <a:spcPts val="4900"/>
              </a:lnSpc>
              <a:spcBef>
                <a:spcPct val="0"/>
              </a:spcBef>
            </a:pPr>
            <a:r>
              <a:rPr lang="en-US" sz="3500" b="1">
                <a:solidFill>
                  <a:srgbClr val="4B654B"/>
                </a:solidFill>
                <a:latin typeface="Codec Pro Bold"/>
                <a:ea typeface="Codec Pro Bold"/>
                <a:cs typeface="Codec Pro Bold"/>
                <a:sym typeface="Codec Pro Bold"/>
              </a:rPr>
              <a:t>AFTER MATCHING</a:t>
            </a:r>
          </a:p>
        </p:txBody>
      </p:sp>
      <p:sp>
        <p:nvSpPr>
          <p:cNvPr id="15" name="Freeform 15"/>
          <p:cNvSpPr/>
          <p:nvPr/>
        </p:nvSpPr>
        <p:spPr>
          <a:xfrm rot="298665">
            <a:off x="1050481" y="2842909"/>
            <a:ext cx="1216261" cy="554919"/>
          </a:xfrm>
          <a:custGeom>
            <a:avLst/>
            <a:gdLst/>
            <a:ahLst/>
            <a:cxnLst/>
            <a:rect l="l" t="t" r="r" b="b"/>
            <a:pathLst>
              <a:path w="1216261" h="554919">
                <a:moveTo>
                  <a:pt x="0" y="0"/>
                </a:moveTo>
                <a:lnTo>
                  <a:pt x="1216261" y="0"/>
                </a:lnTo>
                <a:lnTo>
                  <a:pt x="1216261" y="554919"/>
                </a:lnTo>
                <a:lnTo>
                  <a:pt x="0" y="5549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6" name="Freeform 16"/>
          <p:cNvSpPr/>
          <p:nvPr/>
        </p:nvSpPr>
        <p:spPr>
          <a:xfrm rot="298665">
            <a:off x="1050481" y="6241252"/>
            <a:ext cx="1216261" cy="554919"/>
          </a:xfrm>
          <a:custGeom>
            <a:avLst/>
            <a:gdLst/>
            <a:ahLst/>
            <a:cxnLst/>
            <a:rect l="l" t="t" r="r" b="b"/>
            <a:pathLst>
              <a:path w="1216261" h="554919">
                <a:moveTo>
                  <a:pt x="0" y="0"/>
                </a:moveTo>
                <a:lnTo>
                  <a:pt x="1216261" y="0"/>
                </a:lnTo>
                <a:lnTo>
                  <a:pt x="1216261" y="554919"/>
                </a:lnTo>
                <a:lnTo>
                  <a:pt x="0" y="55491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7" name="TextBox 17"/>
          <p:cNvSpPr txBox="1"/>
          <p:nvPr/>
        </p:nvSpPr>
        <p:spPr>
          <a:xfrm>
            <a:off x="5584878" y="281517"/>
            <a:ext cx="7102114" cy="1352559"/>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ASSUMPTIONS</a:t>
            </a:r>
          </a:p>
        </p:txBody>
      </p:sp>
      <p:sp>
        <p:nvSpPr>
          <p:cNvPr id="18" name="TextBox 18"/>
          <p:cNvSpPr txBox="1"/>
          <p:nvPr/>
        </p:nvSpPr>
        <p:spPr>
          <a:xfrm>
            <a:off x="11406584" y="3153609"/>
            <a:ext cx="5608906" cy="5651632"/>
          </a:xfrm>
          <a:prstGeom prst="rect">
            <a:avLst/>
          </a:prstGeom>
        </p:spPr>
        <p:txBody>
          <a:bodyPr lIns="0" tIns="0" rIns="0" bIns="0" rtlCol="0" anchor="t">
            <a:spAutoFit/>
          </a:bodyPr>
          <a:lstStyle/>
          <a:p>
            <a:pPr algn="l">
              <a:lnSpc>
                <a:spcPts val="5600"/>
              </a:lnSpc>
            </a:pPr>
            <a:r>
              <a:rPr lang="en-US" sz="3500">
                <a:solidFill>
                  <a:srgbClr val="000000"/>
                </a:solidFill>
                <a:latin typeface="Codec Pro"/>
                <a:ea typeface="Codec Pro"/>
                <a:cs typeface="Codec Pro"/>
                <a:sym typeface="Codec Pro"/>
              </a:rPr>
              <a:t>The </a:t>
            </a:r>
            <a:r>
              <a:rPr lang="en-US" sz="3500" b="1">
                <a:solidFill>
                  <a:srgbClr val="000000"/>
                </a:solidFill>
                <a:latin typeface="Codec Pro Bold"/>
                <a:ea typeface="Codec Pro Bold"/>
                <a:cs typeface="Codec Pro Bold"/>
                <a:sym typeface="Codec Pro Bold"/>
              </a:rPr>
              <a:t>CIA </a:t>
            </a:r>
            <a:r>
              <a:rPr lang="en-US" sz="3500">
                <a:solidFill>
                  <a:srgbClr val="000000"/>
                </a:solidFill>
                <a:latin typeface="Codec Pro"/>
                <a:ea typeface="Codec Pro"/>
                <a:cs typeface="Codec Pro"/>
                <a:sym typeface="Codec Pro"/>
              </a:rPr>
              <a:t>is valid after the matching procedure,   because the treatment is assigned as </a:t>
            </a:r>
            <a:r>
              <a:rPr lang="en-US" sz="3500" b="1">
                <a:solidFill>
                  <a:srgbClr val="000000"/>
                </a:solidFill>
                <a:latin typeface="Codec Pro Bold"/>
                <a:ea typeface="Codec Pro Bold"/>
                <a:cs typeface="Codec Pro Bold"/>
                <a:sym typeface="Codec Pro Bold"/>
              </a:rPr>
              <a:t>random </a:t>
            </a:r>
            <a:r>
              <a:rPr lang="en-US" sz="3500">
                <a:solidFill>
                  <a:srgbClr val="000000"/>
                </a:solidFill>
                <a:latin typeface="Codec Pro"/>
                <a:ea typeface="Codec Pro"/>
                <a:cs typeface="Codec Pro"/>
                <a:sym typeface="Codec Pro"/>
              </a:rPr>
              <a:t>and the only difference between treated units and control units is due to the treatment.</a:t>
            </a:r>
          </a:p>
        </p:txBody>
      </p:sp>
      <p:sp>
        <p:nvSpPr>
          <p:cNvPr id="19" name="Freeform 19"/>
          <p:cNvSpPr/>
          <p:nvPr/>
        </p:nvSpPr>
        <p:spPr>
          <a:xfrm>
            <a:off x="7725651" y="5700550"/>
            <a:ext cx="2656698" cy="212536"/>
          </a:xfrm>
          <a:custGeom>
            <a:avLst/>
            <a:gdLst/>
            <a:ahLst/>
            <a:cxnLst/>
            <a:rect l="l" t="t" r="r" b="b"/>
            <a:pathLst>
              <a:path w="2656698" h="212536">
                <a:moveTo>
                  <a:pt x="0" y="0"/>
                </a:moveTo>
                <a:lnTo>
                  <a:pt x="2656698" y="0"/>
                </a:lnTo>
                <a:lnTo>
                  <a:pt x="2656698" y="212535"/>
                </a:lnTo>
                <a:lnTo>
                  <a:pt x="0" y="2125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0" name="Freeform 20"/>
          <p:cNvSpPr/>
          <p:nvPr/>
        </p:nvSpPr>
        <p:spPr>
          <a:xfrm rot="-3612120" flipH="1">
            <a:off x="8966323" y="7627079"/>
            <a:ext cx="339224" cy="1013985"/>
          </a:xfrm>
          <a:custGeom>
            <a:avLst/>
            <a:gdLst/>
            <a:ahLst/>
            <a:cxnLst/>
            <a:rect l="l" t="t" r="r" b="b"/>
            <a:pathLst>
              <a:path w="339224" h="1013985">
                <a:moveTo>
                  <a:pt x="339224" y="0"/>
                </a:moveTo>
                <a:lnTo>
                  <a:pt x="0" y="0"/>
                </a:lnTo>
                <a:lnTo>
                  <a:pt x="0" y="1013985"/>
                </a:lnTo>
                <a:lnTo>
                  <a:pt x="339224" y="1013985"/>
                </a:lnTo>
                <a:lnTo>
                  <a:pt x="33922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1" name="TextBox 21"/>
          <p:cNvSpPr txBox="1"/>
          <p:nvPr/>
        </p:nvSpPr>
        <p:spPr>
          <a:xfrm>
            <a:off x="7915232" y="8495105"/>
            <a:ext cx="2637979" cy="571519"/>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odec Pro"/>
                <a:ea typeface="Codec Pro"/>
                <a:cs typeface="Codec Pro"/>
                <a:sym typeface="Codec Pro"/>
              </a:rPr>
              <a:t>UNBIASED ATT</a:t>
            </a:r>
          </a:p>
        </p:txBody>
      </p:sp>
      <p:sp>
        <p:nvSpPr>
          <p:cNvPr id="22" name="Freeform 22"/>
          <p:cNvSpPr/>
          <p:nvPr/>
        </p:nvSpPr>
        <p:spPr>
          <a:xfrm>
            <a:off x="7983037" y="9145627"/>
            <a:ext cx="2656698" cy="212536"/>
          </a:xfrm>
          <a:custGeom>
            <a:avLst/>
            <a:gdLst/>
            <a:ahLst/>
            <a:cxnLst/>
            <a:rect l="l" t="t" r="r" b="b"/>
            <a:pathLst>
              <a:path w="2656698" h="212536">
                <a:moveTo>
                  <a:pt x="0" y="0"/>
                </a:moveTo>
                <a:lnTo>
                  <a:pt x="2656698" y="0"/>
                </a:lnTo>
                <a:lnTo>
                  <a:pt x="2656698" y="212536"/>
                </a:lnTo>
                <a:lnTo>
                  <a:pt x="0" y="2125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graphicFrame>
        <p:nvGraphicFramePr>
          <p:cNvPr id="3" name="Table 3"/>
          <p:cNvGraphicFramePr>
            <a:graphicFrameLocks noGrp="1"/>
          </p:cNvGraphicFramePr>
          <p:nvPr/>
        </p:nvGraphicFramePr>
        <p:xfrm>
          <a:off x="2310207" y="2571474"/>
          <a:ext cx="13667586" cy="2206396"/>
        </p:xfrm>
        <a:graphic>
          <a:graphicData uri="http://schemas.openxmlformats.org/drawingml/2006/table">
            <a:tbl>
              <a:tblPr/>
              <a:tblGrid>
                <a:gridCol w="2710853">
                  <a:extLst>
                    <a:ext uri="{9D8B030D-6E8A-4147-A177-3AD203B41FA5}">
                      <a16:colId xmlns:a16="http://schemas.microsoft.com/office/drawing/2014/main" val="20000"/>
                    </a:ext>
                  </a:extLst>
                </a:gridCol>
                <a:gridCol w="2018254">
                  <a:extLst>
                    <a:ext uri="{9D8B030D-6E8A-4147-A177-3AD203B41FA5}">
                      <a16:colId xmlns:a16="http://schemas.microsoft.com/office/drawing/2014/main" val="20001"/>
                    </a:ext>
                  </a:extLst>
                </a:gridCol>
                <a:gridCol w="2565002">
                  <a:extLst>
                    <a:ext uri="{9D8B030D-6E8A-4147-A177-3AD203B41FA5}">
                      <a16:colId xmlns:a16="http://schemas.microsoft.com/office/drawing/2014/main" val="20002"/>
                    </a:ext>
                  </a:extLst>
                </a:gridCol>
                <a:gridCol w="3741685">
                  <a:extLst>
                    <a:ext uri="{9D8B030D-6E8A-4147-A177-3AD203B41FA5}">
                      <a16:colId xmlns:a16="http://schemas.microsoft.com/office/drawing/2014/main" val="20003"/>
                    </a:ext>
                  </a:extLst>
                </a:gridCol>
                <a:gridCol w="2631792">
                  <a:extLst>
                    <a:ext uri="{9D8B030D-6E8A-4147-A177-3AD203B41FA5}">
                      <a16:colId xmlns:a16="http://schemas.microsoft.com/office/drawing/2014/main" val="20004"/>
                    </a:ext>
                  </a:extLst>
                </a:gridCol>
              </a:tblGrid>
              <a:tr h="1099615">
                <a:tc>
                  <a:txBody>
                    <a:bodyPr/>
                    <a:lstStyle/>
                    <a:p>
                      <a:pPr algn="ctr">
                        <a:lnSpc>
                          <a:spcPts val="3824"/>
                        </a:lnSpc>
                        <a:defRPr/>
                      </a:pPr>
                      <a:r>
                        <a:rPr lang="en-US" sz="2731">
                          <a:solidFill>
                            <a:srgbClr val="FFFFFF"/>
                          </a:solidFill>
                          <a:latin typeface="Codec Pro"/>
                          <a:ea typeface="Codec Pro"/>
                          <a:cs typeface="Codec Pro"/>
                          <a:sym typeface="Codec Pro"/>
                        </a:rPr>
                        <a:t>REPLACE</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solidFill>
                      <a:srgbClr val="365236"/>
                    </a:solidFill>
                  </a:tcPr>
                </a:tc>
                <a:tc>
                  <a:txBody>
                    <a:bodyPr/>
                    <a:lstStyle/>
                    <a:p>
                      <a:pPr algn="ctr">
                        <a:lnSpc>
                          <a:spcPts val="3824"/>
                        </a:lnSpc>
                        <a:defRPr/>
                      </a:pPr>
                      <a:r>
                        <a:rPr lang="en-US" sz="2731">
                          <a:solidFill>
                            <a:srgbClr val="FFFFFF"/>
                          </a:solidFill>
                          <a:latin typeface="Codec Pro"/>
                          <a:ea typeface="Codec Pro"/>
                          <a:cs typeface="Codec Pro"/>
                          <a:sym typeface="Codec Pro"/>
                        </a:rPr>
                        <a:t>RATIO</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solidFill>
                      <a:srgbClr val="365236"/>
                    </a:solidFill>
                  </a:tcPr>
                </a:tc>
                <a:tc>
                  <a:txBody>
                    <a:bodyPr/>
                    <a:lstStyle/>
                    <a:p>
                      <a:pPr algn="ctr">
                        <a:lnSpc>
                          <a:spcPts val="3824"/>
                        </a:lnSpc>
                        <a:defRPr/>
                      </a:pPr>
                      <a:r>
                        <a:rPr lang="en-US" sz="2731">
                          <a:solidFill>
                            <a:srgbClr val="FFFFFF"/>
                          </a:solidFill>
                          <a:latin typeface="Codec Pro"/>
                          <a:ea typeface="Codec Pro"/>
                          <a:cs typeface="Codec Pro"/>
                          <a:sym typeface="Codec Pro"/>
                        </a:rPr>
                        <a:t>CALIPER</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solidFill>
                      <a:srgbClr val="365236"/>
                    </a:solidFill>
                  </a:tcPr>
                </a:tc>
                <a:tc>
                  <a:txBody>
                    <a:bodyPr/>
                    <a:lstStyle/>
                    <a:p>
                      <a:pPr algn="ctr">
                        <a:lnSpc>
                          <a:spcPts val="3824"/>
                        </a:lnSpc>
                        <a:defRPr/>
                      </a:pPr>
                      <a:r>
                        <a:rPr lang="en-US" sz="2731">
                          <a:solidFill>
                            <a:srgbClr val="FFFFFF"/>
                          </a:solidFill>
                          <a:latin typeface="Codec Pro"/>
                          <a:ea typeface="Codec Pro"/>
                          <a:cs typeface="Codec Pro"/>
                          <a:sym typeface="Codec Pro"/>
                        </a:rPr>
                        <a:t>TREATMENT EFFECT</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solidFill>
                      <a:srgbClr val="365236"/>
                    </a:solidFill>
                  </a:tcPr>
                </a:tc>
                <a:tc>
                  <a:txBody>
                    <a:bodyPr/>
                    <a:lstStyle/>
                    <a:p>
                      <a:pPr algn="ctr">
                        <a:lnSpc>
                          <a:spcPts val="3824"/>
                        </a:lnSpc>
                        <a:defRPr/>
                      </a:pPr>
                      <a:r>
                        <a:rPr lang="en-US" sz="2731">
                          <a:solidFill>
                            <a:srgbClr val="FFFFFF"/>
                          </a:solidFill>
                          <a:latin typeface="Codec Pro"/>
                          <a:ea typeface="Codec Pro"/>
                          <a:cs typeface="Codec Pro"/>
                          <a:sym typeface="Codec Pro"/>
                        </a:rPr>
                        <a:t>P-VALUE</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solidFill>
                      <a:srgbClr val="365236"/>
                    </a:solidFill>
                  </a:tcPr>
                </a:tc>
                <a:extLst>
                  <a:ext uri="{0D108BD9-81ED-4DB2-BD59-A6C34878D82A}">
                    <a16:rowId xmlns:a16="http://schemas.microsoft.com/office/drawing/2014/main" val="10000"/>
                  </a:ext>
                </a:extLst>
              </a:tr>
              <a:tr h="1106781">
                <a:tc>
                  <a:txBody>
                    <a:bodyPr/>
                    <a:lstStyle/>
                    <a:p>
                      <a:pPr algn="ctr">
                        <a:lnSpc>
                          <a:spcPts val="3824"/>
                        </a:lnSpc>
                        <a:defRPr/>
                      </a:pPr>
                      <a:r>
                        <a:rPr lang="en-US" sz="2731">
                          <a:solidFill>
                            <a:srgbClr val="000000"/>
                          </a:solidFill>
                          <a:latin typeface="Codec Pro"/>
                          <a:ea typeface="Codec Pro"/>
                          <a:cs typeface="Codec Pro"/>
                          <a:sym typeface="Codec Pro"/>
                        </a:rPr>
                        <a:t>False</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tcPr>
                </a:tc>
                <a:tc>
                  <a:txBody>
                    <a:bodyPr/>
                    <a:lstStyle/>
                    <a:p>
                      <a:pPr algn="ctr">
                        <a:lnSpc>
                          <a:spcPts val="3824"/>
                        </a:lnSpc>
                        <a:defRPr/>
                      </a:pPr>
                      <a:r>
                        <a:rPr lang="en-US" sz="2731">
                          <a:solidFill>
                            <a:srgbClr val="000000"/>
                          </a:solidFill>
                          <a:latin typeface="Codec Pro"/>
                          <a:ea typeface="Codec Pro"/>
                          <a:cs typeface="Codec Pro"/>
                          <a:sym typeface="Codec Pro"/>
                        </a:rPr>
                        <a:t>4</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tcPr>
                </a:tc>
                <a:tc>
                  <a:txBody>
                    <a:bodyPr/>
                    <a:lstStyle/>
                    <a:p>
                      <a:pPr algn="ctr">
                        <a:lnSpc>
                          <a:spcPts val="3824"/>
                        </a:lnSpc>
                        <a:defRPr/>
                      </a:pPr>
                      <a:r>
                        <a:rPr lang="en-US" sz="2731">
                          <a:solidFill>
                            <a:srgbClr val="000000"/>
                          </a:solidFill>
                          <a:latin typeface="Codec Pro"/>
                          <a:ea typeface="Codec Pro"/>
                          <a:cs typeface="Codec Pro"/>
                          <a:sym typeface="Codec Pro"/>
                        </a:rPr>
                        <a:t>0.05</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tcPr>
                </a:tc>
                <a:tc>
                  <a:txBody>
                    <a:bodyPr/>
                    <a:lstStyle/>
                    <a:p>
                      <a:pPr algn="ctr">
                        <a:lnSpc>
                          <a:spcPts val="3824"/>
                        </a:lnSpc>
                        <a:defRPr/>
                      </a:pPr>
                      <a:r>
                        <a:rPr lang="en-US" sz="2731">
                          <a:solidFill>
                            <a:srgbClr val="000000"/>
                          </a:solidFill>
                          <a:latin typeface="Codec Pro"/>
                          <a:ea typeface="Codec Pro"/>
                          <a:cs typeface="Codec Pro"/>
                          <a:sym typeface="Codec Pro"/>
                        </a:rPr>
                        <a:t>0.00857</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tcPr>
                </a:tc>
                <a:tc>
                  <a:txBody>
                    <a:bodyPr/>
                    <a:lstStyle/>
                    <a:p>
                      <a:pPr algn="ctr">
                        <a:lnSpc>
                          <a:spcPts val="3824"/>
                        </a:lnSpc>
                        <a:defRPr/>
                      </a:pPr>
                      <a:r>
                        <a:rPr lang="en-US" sz="2731">
                          <a:solidFill>
                            <a:srgbClr val="000000"/>
                          </a:solidFill>
                          <a:latin typeface="Codec Pro"/>
                          <a:ea typeface="Codec Pro"/>
                          <a:cs typeface="Codec Pro"/>
                          <a:sym typeface="Codec Pro"/>
                        </a:rPr>
                        <a:t>0.61</a:t>
                      </a:r>
                      <a:endParaRPr lang="en-US" sz="1100"/>
                    </a:p>
                  </a:txBody>
                  <a:tcPr marL="173469" marR="173469" marT="173469" marB="173469" anchor="ctr">
                    <a:lnL w="17347" cap="flat" cmpd="sng" algn="ctr">
                      <a:solidFill>
                        <a:srgbClr val="365236"/>
                      </a:solidFill>
                      <a:prstDash val="solid"/>
                      <a:round/>
                      <a:headEnd type="none" w="med" len="med"/>
                      <a:tailEnd type="none" w="med" len="med"/>
                    </a:lnL>
                    <a:lnR w="17347" cap="flat" cmpd="sng" algn="ctr">
                      <a:solidFill>
                        <a:srgbClr val="365236"/>
                      </a:solidFill>
                      <a:prstDash val="solid"/>
                      <a:round/>
                      <a:headEnd type="none" w="med" len="med"/>
                      <a:tailEnd type="none" w="med" len="med"/>
                    </a:lnR>
                    <a:lnT w="17347" cap="flat" cmpd="sng" algn="ctr">
                      <a:solidFill>
                        <a:srgbClr val="365236"/>
                      </a:solidFill>
                      <a:prstDash val="solid"/>
                      <a:round/>
                      <a:headEnd type="none" w="med" len="med"/>
                      <a:tailEnd type="none" w="med" len="med"/>
                    </a:lnT>
                    <a:lnB w="17347"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Freeform 4"/>
          <p:cNvSpPr/>
          <p:nvPr/>
        </p:nvSpPr>
        <p:spPr>
          <a:xfrm>
            <a:off x="13700918" y="3466031"/>
            <a:ext cx="2276875" cy="1482815"/>
          </a:xfrm>
          <a:custGeom>
            <a:avLst/>
            <a:gdLst/>
            <a:ahLst/>
            <a:cxnLst/>
            <a:rect l="l" t="t" r="r" b="b"/>
            <a:pathLst>
              <a:path w="2276875" h="1482815">
                <a:moveTo>
                  <a:pt x="0" y="0"/>
                </a:moveTo>
                <a:lnTo>
                  <a:pt x="2276875" y="0"/>
                </a:lnTo>
                <a:lnTo>
                  <a:pt x="2276875" y="1482815"/>
                </a:lnTo>
                <a:lnTo>
                  <a:pt x="0" y="14828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3612120" flipH="1">
            <a:off x="16332428" y="4099579"/>
            <a:ext cx="339224" cy="1013985"/>
          </a:xfrm>
          <a:custGeom>
            <a:avLst/>
            <a:gdLst/>
            <a:ahLst/>
            <a:cxnLst/>
            <a:rect l="l" t="t" r="r" b="b"/>
            <a:pathLst>
              <a:path w="339224" h="1013985">
                <a:moveTo>
                  <a:pt x="339224" y="0"/>
                </a:moveTo>
                <a:lnTo>
                  <a:pt x="0" y="0"/>
                </a:lnTo>
                <a:lnTo>
                  <a:pt x="0" y="1013986"/>
                </a:lnTo>
                <a:lnTo>
                  <a:pt x="339224" y="1013986"/>
                </a:lnTo>
                <a:lnTo>
                  <a:pt x="33922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Freeform 6"/>
          <p:cNvSpPr/>
          <p:nvPr/>
        </p:nvSpPr>
        <p:spPr>
          <a:xfrm>
            <a:off x="10420006" y="3466031"/>
            <a:ext cx="2276875" cy="1482815"/>
          </a:xfrm>
          <a:custGeom>
            <a:avLst/>
            <a:gdLst/>
            <a:ahLst/>
            <a:cxnLst/>
            <a:rect l="l" t="t" r="r" b="b"/>
            <a:pathLst>
              <a:path w="2276875" h="1482815">
                <a:moveTo>
                  <a:pt x="0" y="0"/>
                </a:moveTo>
                <a:lnTo>
                  <a:pt x="2276875" y="0"/>
                </a:lnTo>
                <a:lnTo>
                  <a:pt x="2276875" y="1482815"/>
                </a:lnTo>
                <a:lnTo>
                  <a:pt x="0" y="14828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2812207">
            <a:off x="10164669" y="4760319"/>
            <a:ext cx="339224" cy="1013985"/>
          </a:xfrm>
          <a:custGeom>
            <a:avLst/>
            <a:gdLst/>
            <a:ahLst/>
            <a:cxnLst/>
            <a:rect l="l" t="t" r="r" b="b"/>
            <a:pathLst>
              <a:path w="339224" h="1013985">
                <a:moveTo>
                  <a:pt x="0" y="0"/>
                </a:moveTo>
                <a:lnTo>
                  <a:pt x="339224" y="0"/>
                </a:lnTo>
                <a:lnTo>
                  <a:pt x="339224" y="1013985"/>
                </a:lnTo>
                <a:lnTo>
                  <a:pt x="0" y="10139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a:off x="1564167" y="6584034"/>
            <a:ext cx="746040" cy="2182564"/>
          </a:xfrm>
          <a:custGeom>
            <a:avLst/>
            <a:gdLst/>
            <a:ahLst/>
            <a:cxnLst/>
            <a:rect l="l" t="t" r="r" b="b"/>
            <a:pathLst>
              <a:path w="746040" h="2182564">
                <a:moveTo>
                  <a:pt x="0" y="0"/>
                </a:moveTo>
                <a:lnTo>
                  <a:pt x="746040" y="0"/>
                </a:lnTo>
                <a:lnTo>
                  <a:pt x="746040" y="2182564"/>
                </a:lnTo>
                <a:lnTo>
                  <a:pt x="0" y="21825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9" name="TextBox 9"/>
          <p:cNvSpPr txBox="1"/>
          <p:nvPr/>
        </p:nvSpPr>
        <p:spPr>
          <a:xfrm>
            <a:off x="6133183" y="310934"/>
            <a:ext cx="6021633" cy="1352559"/>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RESULTS NN</a:t>
            </a:r>
          </a:p>
        </p:txBody>
      </p:sp>
      <p:sp>
        <p:nvSpPr>
          <p:cNvPr id="10" name="TextBox 10"/>
          <p:cNvSpPr txBox="1"/>
          <p:nvPr/>
        </p:nvSpPr>
        <p:spPr>
          <a:xfrm>
            <a:off x="14436980" y="5100955"/>
            <a:ext cx="3081625" cy="1104938"/>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odec Pro"/>
                <a:ea typeface="Codec Pro"/>
                <a:cs typeface="Codec Pro"/>
                <a:sym typeface="Codec Pro"/>
              </a:rPr>
              <a:t>Not statistically significant</a:t>
            </a:r>
          </a:p>
        </p:txBody>
      </p:sp>
      <p:sp>
        <p:nvSpPr>
          <p:cNvPr id="11" name="TextBox 11"/>
          <p:cNvSpPr txBox="1"/>
          <p:nvPr/>
        </p:nvSpPr>
        <p:spPr>
          <a:xfrm>
            <a:off x="7854909" y="5604353"/>
            <a:ext cx="3366586" cy="1104938"/>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odec Pro"/>
                <a:ea typeface="Codec Pro"/>
                <a:cs typeface="Codec Pro"/>
                <a:sym typeface="Codec Pro"/>
              </a:rPr>
              <a:t>Treatment effect very small</a:t>
            </a:r>
          </a:p>
        </p:txBody>
      </p:sp>
      <p:sp>
        <p:nvSpPr>
          <p:cNvPr id="12" name="TextBox 12"/>
          <p:cNvSpPr txBox="1"/>
          <p:nvPr/>
        </p:nvSpPr>
        <p:spPr>
          <a:xfrm>
            <a:off x="2618543" y="7493446"/>
            <a:ext cx="13050914" cy="1273151"/>
          </a:xfrm>
          <a:prstGeom prst="rect">
            <a:avLst/>
          </a:prstGeom>
        </p:spPr>
        <p:txBody>
          <a:bodyPr lIns="0" tIns="0" rIns="0" bIns="0" rtlCol="0" anchor="t">
            <a:spAutoFit/>
          </a:bodyPr>
          <a:lstStyle/>
          <a:p>
            <a:pPr algn="just">
              <a:lnSpc>
                <a:spcPts val="4900"/>
              </a:lnSpc>
              <a:spcBef>
                <a:spcPct val="0"/>
              </a:spcBef>
            </a:pPr>
            <a:r>
              <a:rPr lang="en-US" sz="3500">
                <a:solidFill>
                  <a:srgbClr val="000000"/>
                </a:solidFill>
                <a:latin typeface="Codec Pro"/>
                <a:ea typeface="Codec Pro"/>
                <a:cs typeface="Codec Pro"/>
                <a:sym typeface="Codec Pro"/>
              </a:rPr>
              <a:t>This suggests that there is no evidence of an impact of the treatment on the Hotel views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sp>
        <p:nvSpPr>
          <p:cNvPr id="3" name="TextBox 3"/>
          <p:cNvSpPr txBox="1"/>
          <p:nvPr/>
        </p:nvSpPr>
        <p:spPr>
          <a:xfrm>
            <a:off x="4000246" y="285745"/>
            <a:ext cx="10287508" cy="1352559"/>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ROBUSTNESS CHECK</a:t>
            </a:r>
          </a:p>
        </p:txBody>
      </p:sp>
      <p:graphicFrame>
        <p:nvGraphicFramePr>
          <p:cNvPr id="4" name="Table 4"/>
          <p:cNvGraphicFramePr>
            <a:graphicFrameLocks noGrp="1"/>
          </p:cNvGraphicFramePr>
          <p:nvPr>
            <p:extLst>
              <p:ext uri="{D42A27DB-BD31-4B8C-83A1-F6EECF244321}">
                <p14:modId xmlns:p14="http://schemas.microsoft.com/office/powerpoint/2010/main" val="2458966538"/>
              </p:ext>
            </p:extLst>
          </p:nvPr>
        </p:nvGraphicFramePr>
        <p:xfrm>
          <a:off x="2537938" y="2469498"/>
          <a:ext cx="11543288" cy="3532015"/>
        </p:xfrm>
        <a:graphic>
          <a:graphicData uri="http://schemas.openxmlformats.org/drawingml/2006/table">
            <a:tbl>
              <a:tblPr/>
              <a:tblGrid>
                <a:gridCol w="1514040">
                  <a:extLst>
                    <a:ext uri="{9D8B030D-6E8A-4147-A177-3AD203B41FA5}">
                      <a16:colId xmlns:a16="http://schemas.microsoft.com/office/drawing/2014/main" val="20000"/>
                    </a:ext>
                  </a:extLst>
                </a:gridCol>
                <a:gridCol w="1498165">
                  <a:extLst>
                    <a:ext uri="{9D8B030D-6E8A-4147-A177-3AD203B41FA5}">
                      <a16:colId xmlns:a16="http://schemas.microsoft.com/office/drawing/2014/main" val="20001"/>
                    </a:ext>
                  </a:extLst>
                </a:gridCol>
                <a:gridCol w="1521978">
                  <a:extLst>
                    <a:ext uri="{9D8B030D-6E8A-4147-A177-3AD203B41FA5}">
                      <a16:colId xmlns:a16="http://schemas.microsoft.com/office/drawing/2014/main" val="20002"/>
                    </a:ext>
                  </a:extLst>
                </a:gridCol>
                <a:gridCol w="1137802">
                  <a:extLst>
                    <a:ext uri="{9D8B030D-6E8A-4147-A177-3AD203B41FA5}">
                      <a16:colId xmlns:a16="http://schemas.microsoft.com/office/drawing/2014/main" val="20003"/>
                    </a:ext>
                  </a:extLst>
                </a:gridCol>
                <a:gridCol w="1437840">
                  <a:extLst>
                    <a:ext uri="{9D8B030D-6E8A-4147-A177-3AD203B41FA5}">
                      <a16:colId xmlns:a16="http://schemas.microsoft.com/office/drawing/2014/main" val="20004"/>
                    </a:ext>
                  </a:extLst>
                </a:gridCol>
                <a:gridCol w="2952315">
                  <a:extLst>
                    <a:ext uri="{9D8B030D-6E8A-4147-A177-3AD203B41FA5}">
                      <a16:colId xmlns:a16="http://schemas.microsoft.com/office/drawing/2014/main" val="20005"/>
                    </a:ext>
                  </a:extLst>
                </a:gridCol>
                <a:gridCol w="1481148">
                  <a:extLst>
                    <a:ext uri="{9D8B030D-6E8A-4147-A177-3AD203B41FA5}">
                      <a16:colId xmlns:a16="http://schemas.microsoft.com/office/drawing/2014/main" val="20006"/>
                    </a:ext>
                  </a:extLst>
                </a:gridCol>
              </a:tblGrid>
              <a:tr h="706403">
                <a:tc>
                  <a:txBody>
                    <a:bodyPr/>
                    <a:lstStyle/>
                    <a:p>
                      <a:pPr algn="ctr">
                        <a:lnSpc>
                          <a:spcPts val="3040"/>
                        </a:lnSpc>
                        <a:defRPr/>
                      </a:pPr>
                      <a:endParaRPr lang="en-US" sz="1100"/>
                    </a:p>
                  </a:txBody>
                  <a:tcPr marL="137895" marR="137895" marT="137895" marB="137895" anchor="ctr">
                    <a:lnL w="0" cap="flat" cmpd="sng" algn="ctr">
                      <a:solidFill>
                        <a:srgbClr val="365236"/>
                      </a:solidFill>
                      <a:prstDash val="solid"/>
                      <a:round/>
                      <a:headEnd type="none" w="med" len="med"/>
                      <a:tailEnd type="none" w="med" len="med"/>
                    </a:lnL>
                    <a:lnR w="0" cap="flat" cmpd="sng" algn="ctr">
                      <a:solidFill>
                        <a:srgbClr val="365236"/>
                      </a:solidFill>
                      <a:prstDash val="solid"/>
                      <a:round/>
                      <a:headEnd type="none" w="med" len="med"/>
                      <a:tailEnd type="none" w="med" len="med"/>
                    </a:lnR>
                    <a:lnT w="0" cap="flat" cmpd="sng" algn="ctr">
                      <a:solidFill>
                        <a:srgbClr val="365236"/>
                      </a:solidFill>
                      <a:prstDash val="solid"/>
                      <a:round/>
                      <a:headEnd type="none" w="med" len="med"/>
                      <a:tailEnd type="none" w="med" len="med"/>
                    </a:lnT>
                    <a:lnB w="0"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dirty="0">
                          <a:solidFill>
                            <a:srgbClr val="FFFFFF"/>
                          </a:solidFill>
                          <a:latin typeface="Codec Pro"/>
                          <a:ea typeface="Codec Pro"/>
                          <a:cs typeface="Codec Pro"/>
                          <a:sym typeface="Codec Pro"/>
                        </a:rPr>
                        <a:t>METHOD</a:t>
                      </a:r>
                      <a:endParaRPr lang="en-US" sz="1100" dirty="0"/>
                    </a:p>
                  </a:txBody>
                  <a:tcPr marL="137895" marR="137895" marT="137895" marB="137895" anchor="ctr">
                    <a:lnL w="0"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FFFFFF"/>
                          </a:solidFill>
                          <a:latin typeface="Codec Pro"/>
                          <a:ea typeface="Codec Pro"/>
                          <a:cs typeface="Codec Pro"/>
                          <a:sym typeface="Codec Pro"/>
                        </a:rPr>
                        <a:t>REPLACE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FFFFFF"/>
                          </a:solidFill>
                          <a:latin typeface="Codec Pro"/>
                          <a:ea typeface="Codec Pro"/>
                          <a:cs typeface="Codec Pro"/>
                          <a:sym typeface="Codec Pro"/>
                        </a:rPr>
                        <a:t>RATIO</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FFFFFF"/>
                          </a:solidFill>
                          <a:latin typeface="Codec Pro"/>
                          <a:ea typeface="Codec Pro"/>
                          <a:cs typeface="Codec Pro"/>
                          <a:sym typeface="Codec Pro"/>
                        </a:rPr>
                        <a:t>CALIPER</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FFFFFF"/>
                          </a:solidFill>
                          <a:latin typeface="Codec Pro"/>
                          <a:ea typeface="Codec Pro"/>
                          <a:cs typeface="Codec Pro"/>
                          <a:sym typeface="Codec Pro"/>
                        </a:rPr>
                        <a:t>TREATMENT EFFECT</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FFFFFF"/>
                          </a:solidFill>
                          <a:latin typeface="Codec Pro"/>
                          <a:ea typeface="Codec Pro"/>
                          <a:cs typeface="Codec Pro"/>
                          <a:sym typeface="Codec Pro"/>
                        </a:rPr>
                        <a:t>P-VALUE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extLst>
                  <a:ext uri="{0D108BD9-81ED-4DB2-BD59-A6C34878D82A}">
                    <a16:rowId xmlns:a16="http://schemas.microsoft.com/office/drawing/2014/main" val="10000"/>
                  </a:ext>
                </a:extLst>
              </a:tr>
              <a:tr h="706403">
                <a:tc>
                  <a:txBody>
                    <a:bodyPr/>
                    <a:lstStyle/>
                    <a:p>
                      <a:pPr algn="ctr">
                        <a:lnSpc>
                          <a:spcPts val="3040"/>
                        </a:lnSpc>
                        <a:defRPr/>
                      </a:pPr>
                      <a:r>
                        <a:rPr lang="en-US" sz="2171">
                          <a:solidFill>
                            <a:srgbClr val="FFFFFF"/>
                          </a:solidFill>
                          <a:latin typeface="Codec Pro"/>
                          <a:ea typeface="Codec Pro"/>
                          <a:cs typeface="Codec Pro"/>
                          <a:sym typeface="Codec Pro"/>
                        </a:rPr>
                        <a:t>MODEL 2</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0"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dirty="0">
                          <a:solidFill>
                            <a:srgbClr val="000000"/>
                          </a:solidFill>
                          <a:latin typeface="Codec Pro"/>
                          <a:ea typeface="Codec Pro"/>
                          <a:cs typeface="Codec Pro"/>
                          <a:sym typeface="Codec Pro"/>
                        </a:rPr>
                        <a:t>Nearest</a:t>
                      </a:r>
                      <a:endParaRPr lang="en-US" sz="1100" dirty="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False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2</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0.05</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0.01246</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0.47</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1"/>
                  </a:ext>
                </a:extLst>
              </a:tr>
              <a:tr h="706403">
                <a:tc>
                  <a:txBody>
                    <a:bodyPr/>
                    <a:lstStyle/>
                    <a:p>
                      <a:pPr algn="ctr">
                        <a:lnSpc>
                          <a:spcPts val="3040"/>
                        </a:lnSpc>
                        <a:defRPr/>
                      </a:pPr>
                      <a:r>
                        <a:rPr lang="en-US" sz="2171">
                          <a:solidFill>
                            <a:srgbClr val="FFFFFF"/>
                          </a:solidFill>
                          <a:latin typeface="Codec Pro"/>
                          <a:ea typeface="Codec Pro"/>
                          <a:cs typeface="Codec Pro"/>
                          <a:sym typeface="Codec Pro"/>
                        </a:rPr>
                        <a:t>MODEL 3</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000000"/>
                          </a:solidFill>
                          <a:latin typeface="Codec Pro"/>
                          <a:ea typeface="Codec Pro"/>
                          <a:cs typeface="Codec Pro"/>
                          <a:sym typeface="Codec Pro"/>
                        </a:rPr>
                        <a:t>Nearest</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False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2</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0.1</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0.01888</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0.29</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2"/>
                  </a:ext>
                </a:extLst>
              </a:tr>
              <a:tr h="706403">
                <a:tc>
                  <a:txBody>
                    <a:bodyPr/>
                    <a:lstStyle/>
                    <a:p>
                      <a:pPr algn="ctr">
                        <a:lnSpc>
                          <a:spcPts val="3040"/>
                        </a:lnSpc>
                        <a:defRPr/>
                      </a:pPr>
                      <a:r>
                        <a:rPr lang="en-US" sz="2171">
                          <a:solidFill>
                            <a:srgbClr val="FFFFFF"/>
                          </a:solidFill>
                          <a:latin typeface="Codec Pro"/>
                          <a:ea typeface="Codec Pro"/>
                          <a:cs typeface="Codec Pro"/>
                          <a:sym typeface="Codec Pro"/>
                        </a:rPr>
                        <a:t>MODEL 4</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000000"/>
                          </a:solidFill>
                          <a:latin typeface="Codec Pro"/>
                          <a:ea typeface="Codec Pro"/>
                          <a:cs typeface="Codec Pro"/>
                          <a:sym typeface="Codec Pro"/>
                        </a:rPr>
                        <a:t>Nearest</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False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6</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0.05</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0.01014</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0.54</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3"/>
                  </a:ext>
                </a:extLst>
              </a:tr>
              <a:tr h="706403">
                <a:tc>
                  <a:txBody>
                    <a:bodyPr/>
                    <a:lstStyle/>
                    <a:p>
                      <a:pPr algn="ctr">
                        <a:lnSpc>
                          <a:spcPts val="3040"/>
                        </a:lnSpc>
                        <a:defRPr/>
                      </a:pPr>
                      <a:r>
                        <a:rPr lang="en-US" sz="2171">
                          <a:solidFill>
                            <a:srgbClr val="FFFFFF"/>
                          </a:solidFill>
                          <a:latin typeface="Codec Pro"/>
                          <a:ea typeface="Codec Pro"/>
                          <a:cs typeface="Codec Pro"/>
                          <a:sym typeface="Codec Pro"/>
                        </a:rPr>
                        <a:t>MODEL 5</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solidFill>
                      <a:srgbClr val="365236"/>
                    </a:solidFill>
                  </a:tcPr>
                </a:tc>
                <a:tc>
                  <a:txBody>
                    <a:bodyPr/>
                    <a:lstStyle/>
                    <a:p>
                      <a:pPr algn="ctr">
                        <a:lnSpc>
                          <a:spcPts val="3040"/>
                        </a:lnSpc>
                        <a:defRPr/>
                      </a:pPr>
                      <a:r>
                        <a:rPr lang="en-US" sz="2171">
                          <a:solidFill>
                            <a:srgbClr val="000000"/>
                          </a:solidFill>
                          <a:latin typeface="Codec Pro"/>
                          <a:ea typeface="Codec Pro"/>
                          <a:cs typeface="Codec Pro"/>
                          <a:sym typeface="Codec Pro"/>
                        </a:rPr>
                        <a:t>Optimal</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True</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4</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0.05</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a:solidFill>
                            <a:srgbClr val="000000"/>
                          </a:solidFill>
                          <a:latin typeface="Codec Pro"/>
                          <a:ea typeface="Codec Pro"/>
                          <a:cs typeface="Codec Pro"/>
                          <a:sym typeface="Codec Pro"/>
                        </a:rPr>
                        <a:t>0.0187</a:t>
                      </a:r>
                      <a:endParaRPr lang="en-US" sz="110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tc>
                  <a:txBody>
                    <a:bodyPr/>
                    <a:lstStyle/>
                    <a:p>
                      <a:pPr algn="ctr">
                        <a:lnSpc>
                          <a:spcPts val="3040"/>
                        </a:lnSpc>
                        <a:defRPr/>
                      </a:pPr>
                      <a:r>
                        <a:rPr lang="en-US" sz="2171" dirty="0">
                          <a:solidFill>
                            <a:srgbClr val="000000"/>
                          </a:solidFill>
                          <a:latin typeface="Codec Pro"/>
                          <a:ea typeface="Codec Pro"/>
                          <a:cs typeface="Codec Pro"/>
                          <a:sym typeface="Codec Pro"/>
                        </a:rPr>
                        <a:t>0.25</a:t>
                      </a:r>
                      <a:endParaRPr lang="en-US" sz="1100" dirty="0"/>
                    </a:p>
                  </a:txBody>
                  <a:tcPr marL="137895" marR="137895" marT="137895" marB="137895" anchor="ctr">
                    <a:lnL w="10962" cap="flat" cmpd="sng" algn="ctr">
                      <a:solidFill>
                        <a:srgbClr val="365236"/>
                      </a:solidFill>
                      <a:prstDash val="solid"/>
                      <a:round/>
                      <a:headEnd type="none" w="med" len="med"/>
                      <a:tailEnd type="none" w="med" len="med"/>
                    </a:lnL>
                    <a:lnR w="10962" cap="flat" cmpd="sng" algn="ctr">
                      <a:solidFill>
                        <a:srgbClr val="365236"/>
                      </a:solidFill>
                      <a:prstDash val="solid"/>
                      <a:round/>
                      <a:headEnd type="none" w="med" len="med"/>
                      <a:tailEnd type="none" w="med" len="med"/>
                    </a:lnR>
                    <a:lnT w="10962" cap="flat" cmpd="sng" algn="ctr">
                      <a:solidFill>
                        <a:srgbClr val="365236"/>
                      </a:solidFill>
                      <a:prstDash val="solid"/>
                      <a:round/>
                      <a:headEnd type="none" w="med" len="med"/>
                      <a:tailEnd type="none" w="med" len="med"/>
                    </a:lnT>
                    <a:lnB w="10962" cap="flat" cmpd="sng" algn="ctr">
                      <a:solidFill>
                        <a:srgbClr val="36523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Freeform 5"/>
          <p:cNvSpPr/>
          <p:nvPr/>
        </p:nvSpPr>
        <p:spPr>
          <a:xfrm rot="-5400000">
            <a:off x="11686897" y="3594014"/>
            <a:ext cx="3300681" cy="1985675"/>
          </a:xfrm>
          <a:custGeom>
            <a:avLst/>
            <a:gdLst/>
            <a:ahLst/>
            <a:cxnLst/>
            <a:rect l="l" t="t" r="r" b="b"/>
            <a:pathLst>
              <a:path w="3699814" h="2409504">
                <a:moveTo>
                  <a:pt x="0" y="0"/>
                </a:moveTo>
                <a:lnTo>
                  <a:pt x="3699813" y="0"/>
                </a:lnTo>
                <a:lnTo>
                  <a:pt x="3699813" y="2409504"/>
                </a:lnTo>
                <a:lnTo>
                  <a:pt x="0" y="2409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rot="-3612120" flipH="1">
            <a:off x="14925648" y="5551786"/>
            <a:ext cx="339224" cy="1013985"/>
          </a:xfrm>
          <a:custGeom>
            <a:avLst/>
            <a:gdLst/>
            <a:ahLst/>
            <a:cxnLst/>
            <a:rect l="l" t="t" r="r" b="b"/>
            <a:pathLst>
              <a:path w="339224" h="1013985">
                <a:moveTo>
                  <a:pt x="339224" y="0"/>
                </a:moveTo>
                <a:lnTo>
                  <a:pt x="0" y="0"/>
                </a:lnTo>
                <a:lnTo>
                  <a:pt x="0" y="1013985"/>
                </a:lnTo>
                <a:lnTo>
                  <a:pt x="339224" y="1013985"/>
                </a:lnTo>
                <a:lnTo>
                  <a:pt x="33922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 name="TextBox 7"/>
          <p:cNvSpPr txBox="1"/>
          <p:nvPr/>
        </p:nvSpPr>
        <p:spPr>
          <a:xfrm>
            <a:off x="14056345" y="6553162"/>
            <a:ext cx="3081625" cy="1104938"/>
          </a:xfrm>
          <a:prstGeom prst="rect">
            <a:avLst/>
          </a:prstGeom>
        </p:spPr>
        <p:txBody>
          <a:bodyPr lIns="0" tIns="0" rIns="0" bIns="0" rtlCol="0" anchor="t">
            <a:spAutoFit/>
          </a:bodyPr>
          <a:lstStyle/>
          <a:p>
            <a:pPr algn="ctr">
              <a:lnSpc>
                <a:spcPts val="4200"/>
              </a:lnSpc>
              <a:spcBef>
                <a:spcPct val="0"/>
              </a:spcBef>
            </a:pPr>
            <a:r>
              <a:rPr lang="en-US" sz="3000" dirty="0">
                <a:solidFill>
                  <a:srgbClr val="000000"/>
                </a:solidFill>
                <a:latin typeface="Codec Pro"/>
                <a:ea typeface="Codec Pro"/>
                <a:cs typeface="Codec Pro"/>
                <a:sym typeface="Codec Pro"/>
              </a:rPr>
              <a:t>Not statistically significant</a:t>
            </a:r>
          </a:p>
        </p:txBody>
      </p:sp>
      <p:sp>
        <p:nvSpPr>
          <p:cNvPr id="8" name="TextBox 8"/>
          <p:cNvSpPr txBox="1"/>
          <p:nvPr/>
        </p:nvSpPr>
        <p:spPr>
          <a:xfrm>
            <a:off x="2438400" y="7658100"/>
            <a:ext cx="10768009" cy="1638357"/>
          </a:xfrm>
          <a:prstGeom prst="rect">
            <a:avLst/>
          </a:prstGeom>
        </p:spPr>
        <p:txBody>
          <a:bodyPr lIns="0" tIns="0" rIns="0" bIns="0" rtlCol="0" anchor="t">
            <a:spAutoFit/>
          </a:bodyPr>
          <a:lstStyle/>
          <a:p>
            <a:pPr algn="just">
              <a:lnSpc>
                <a:spcPts val="4200"/>
              </a:lnSpc>
              <a:spcBef>
                <a:spcPct val="0"/>
              </a:spcBef>
            </a:pPr>
            <a:r>
              <a:rPr lang="en-US" sz="3000" dirty="0">
                <a:solidFill>
                  <a:srgbClr val="000000"/>
                </a:solidFill>
                <a:latin typeface="Codec Pro"/>
                <a:ea typeface="Codec Pro"/>
                <a:cs typeface="Codec Pro"/>
                <a:sym typeface="Codec Pro"/>
              </a:rPr>
              <a:t>Regardless of the matching methodology used and variations in parameters, the results remain </a:t>
            </a:r>
            <a:r>
              <a:rPr lang="en-US" sz="3000" b="1" dirty="0">
                <a:solidFill>
                  <a:srgbClr val="000000"/>
                </a:solidFill>
                <a:latin typeface="Codec Pro Bold"/>
                <a:ea typeface="Codec Pro Bold"/>
                <a:cs typeface="Codec Pro Bold"/>
                <a:sym typeface="Codec Pro Bold"/>
              </a:rPr>
              <a:t>consistent </a:t>
            </a:r>
            <a:r>
              <a:rPr lang="en-US" sz="3000" dirty="0">
                <a:solidFill>
                  <a:srgbClr val="000000"/>
                </a:solidFill>
                <a:latin typeface="Codec Pro"/>
                <a:ea typeface="Codec Pro"/>
                <a:cs typeface="Codec Pro"/>
                <a:sym typeface="Codec Pro"/>
              </a:rPr>
              <a:t>confirming the </a:t>
            </a:r>
            <a:r>
              <a:rPr lang="en-US" sz="3000" b="1" dirty="0">
                <a:solidFill>
                  <a:srgbClr val="000000"/>
                </a:solidFill>
                <a:latin typeface="Codec Pro Bold"/>
                <a:ea typeface="Codec Pro Bold"/>
                <a:cs typeface="Codec Pro Bold"/>
                <a:sym typeface="Codec Pro Bold"/>
              </a:rPr>
              <a:t>stability </a:t>
            </a:r>
            <a:r>
              <a:rPr lang="en-US" sz="3000" dirty="0">
                <a:solidFill>
                  <a:srgbClr val="000000"/>
                </a:solidFill>
                <a:latin typeface="Codec Pro"/>
                <a:ea typeface="Codec Pro"/>
                <a:cs typeface="Codec Pro"/>
                <a:sym typeface="Codec Pro"/>
              </a:rPr>
              <a:t>of the non-significant findings</a:t>
            </a:r>
          </a:p>
        </p:txBody>
      </p:sp>
      <p:sp>
        <p:nvSpPr>
          <p:cNvPr id="9" name="Freeform 8">
            <a:extLst>
              <a:ext uri="{FF2B5EF4-FFF2-40B4-BE49-F238E27FC236}">
                <a16:creationId xmlns:a16="http://schemas.microsoft.com/office/drawing/2014/main" id="{DDEAAD9D-5C31-A57E-48E5-892AFE962278}"/>
              </a:ext>
            </a:extLst>
          </p:cNvPr>
          <p:cNvSpPr/>
          <p:nvPr/>
        </p:nvSpPr>
        <p:spPr>
          <a:xfrm>
            <a:off x="1267392" y="7098464"/>
            <a:ext cx="746040" cy="2182564"/>
          </a:xfrm>
          <a:custGeom>
            <a:avLst/>
            <a:gdLst/>
            <a:ahLst/>
            <a:cxnLst/>
            <a:rect l="l" t="t" r="r" b="b"/>
            <a:pathLst>
              <a:path w="746040" h="2182564">
                <a:moveTo>
                  <a:pt x="0" y="0"/>
                </a:moveTo>
                <a:lnTo>
                  <a:pt x="746040" y="0"/>
                </a:lnTo>
                <a:lnTo>
                  <a:pt x="746040" y="2182564"/>
                </a:lnTo>
                <a:lnTo>
                  <a:pt x="0" y="21825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sp>
        <p:nvSpPr>
          <p:cNvPr id="3" name="TextBox 3"/>
          <p:cNvSpPr txBox="1"/>
          <p:nvPr/>
        </p:nvSpPr>
        <p:spPr>
          <a:xfrm>
            <a:off x="1028700" y="2423360"/>
            <a:ext cx="13221698" cy="1705061"/>
          </a:xfrm>
          <a:prstGeom prst="rect">
            <a:avLst/>
          </a:prstGeom>
        </p:spPr>
        <p:txBody>
          <a:bodyPr lIns="0" tIns="0" rIns="0" bIns="0" rtlCol="0" anchor="t">
            <a:spAutoFit/>
          </a:bodyPr>
          <a:lstStyle/>
          <a:p>
            <a:pPr algn="just">
              <a:lnSpc>
                <a:spcPts val="4499"/>
              </a:lnSpc>
              <a:spcBef>
                <a:spcPct val="0"/>
              </a:spcBef>
            </a:pPr>
            <a:r>
              <a:rPr lang="en-US" sz="2999">
                <a:solidFill>
                  <a:srgbClr val="000000"/>
                </a:solidFill>
                <a:latin typeface="Codec Pro"/>
                <a:ea typeface="Codec Pro"/>
                <a:cs typeface="Codec Pro"/>
                <a:sym typeface="Codec Pro"/>
              </a:rPr>
              <a:t>The estimated Average Treatment Effect on the Treated (ATT) is </a:t>
            </a:r>
            <a:r>
              <a:rPr lang="en-US" sz="2999" b="1">
                <a:solidFill>
                  <a:srgbClr val="000000"/>
                </a:solidFill>
                <a:latin typeface="Codec Pro Bold"/>
                <a:ea typeface="Codec Pro Bold"/>
                <a:cs typeface="Codec Pro Bold"/>
                <a:sym typeface="Codec Pro Bold"/>
              </a:rPr>
              <a:t>0.00857</a:t>
            </a:r>
            <a:r>
              <a:rPr lang="en-US" sz="2999">
                <a:solidFill>
                  <a:srgbClr val="000000"/>
                </a:solidFill>
                <a:latin typeface="Codec Pro"/>
                <a:ea typeface="Codec Pro"/>
                <a:cs typeface="Codec Pro"/>
                <a:sym typeface="Codec Pro"/>
              </a:rPr>
              <a:t> (p = 0.6) suggesting that having a bubble rating greater than 4 leads to a negligible increase in views</a:t>
            </a:r>
          </a:p>
        </p:txBody>
      </p:sp>
      <p:sp>
        <p:nvSpPr>
          <p:cNvPr id="4" name="Freeform 4"/>
          <p:cNvSpPr/>
          <p:nvPr/>
        </p:nvSpPr>
        <p:spPr>
          <a:xfrm rot="-2191522">
            <a:off x="2246749" y="4305364"/>
            <a:ext cx="1254627" cy="2000129"/>
          </a:xfrm>
          <a:custGeom>
            <a:avLst/>
            <a:gdLst/>
            <a:ahLst/>
            <a:cxnLst/>
            <a:rect l="l" t="t" r="r" b="b"/>
            <a:pathLst>
              <a:path w="1254627" h="2000129">
                <a:moveTo>
                  <a:pt x="0" y="0"/>
                </a:moveTo>
                <a:lnTo>
                  <a:pt x="1254626" y="0"/>
                </a:lnTo>
                <a:lnTo>
                  <a:pt x="1254626" y="2000130"/>
                </a:lnTo>
                <a:lnTo>
                  <a:pt x="0" y="2000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TextBox 5"/>
          <p:cNvSpPr txBox="1"/>
          <p:nvPr/>
        </p:nvSpPr>
        <p:spPr>
          <a:xfrm>
            <a:off x="5469017" y="310934"/>
            <a:ext cx="7349966" cy="1352550"/>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CONCLUSIONS</a:t>
            </a:r>
          </a:p>
        </p:txBody>
      </p:sp>
      <p:sp>
        <p:nvSpPr>
          <p:cNvPr id="6" name="TextBox 6"/>
          <p:cNvSpPr txBox="1"/>
          <p:nvPr/>
        </p:nvSpPr>
        <p:spPr>
          <a:xfrm>
            <a:off x="4742661" y="4464795"/>
            <a:ext cx="12516639" cy="2314575"/>
          </a:xfrm>
          <a:prstGeom prst="rect">
            <a:avLst/>
          </a:prstGeom>
        </p:spPr>
        <p:txBody>
          <a:bodyPr lIns="0" tIns="0" rIns="0" bIns="0" rtlCol="0" anchor="t">
            <a:spAutoFit/>
          </a:bodyPr>
          <a:lstStyle/>
          <a:p>
            <a:pPr algn="just">
              <a:lnSpc>
                <a:spcPts val="4500"/>
              </a:lnSpc>
              <a:spcBef>
                <a:spcPct val="0"/>
              </a:spcBef>
            </a:pPr>
            <a:r>
              <a:rPr lang="en-US" sz="3000">
                <a:solidFill>
                  <a:srgbClr val="000000"/>
                </a:solidFill>
                <a:latin typeface="Codec Pro"/>
                <a:ea typeface="Codec Pro"/>
                <a:cs typeface="Codec Pro"/>
                <a:sym typeface="Codec Pro"/>
              </a:rPr>
              <a:t>However, the effect is </a:t>
            </a:r>
            <a:r>
              <a:rPr lang="en-US" sz="3000" b="1" u="sng">
                <a:solidFill>
                  <a:srgbClr val="000000"/>
                </a:solidFill>
                <a:latin typeface="Codec Pro Bold"/>
                <a:ea typeface="Codec Pro Bold"/>
                <a:cs typeface="Codec Pro Bold"/>
                <a:sym typeface="Codec Pro Bold"/>
              </a:rPr>
              <a:t>statistically insignificant</a:t>
            </a:r>
            <a:r>
              <a:rPr lang="en-US" sz="3000">
                <a:solidFill>
                  <a:srgbClr val="000000"/>
                </a:solidFill>
                <a:latin typeface="Codec Pro"/>
                <a:ea typeface="Codec Pro"/>
                <a:cs typeface="Codec Pro"/>
                <a:sym typeface="Codec Pro"/>
              </a:rPr>
              <a:t>, indicating that differences in views between treated and control groups could be due to random variation rather than a causal impact of bubble ratings</a:t>
            </a:r>
          </a:p>
        </p:txBody>
      </p:sp>
      <p:sp>
        <p:nvSpPr>
          <p:cNvPr id="7" name="TextBox 7"/>
          <p:cNvSpPr txBox="1"/>
          <p:nvPr/>
        </p:nvSpPr>
        <p:spPr>
          <a:xfrm>
            <a:off x="2481095" y="7203927"/>
            <a:ext cx="14114215" cy="2314575"/>
          </a:xfrm>
          <a:prstGeom prst="rect">
            <a:avLst/>
          </a:prstGeom>
        </p:spPr>
        <p:txBody>
          <a:bodyPr lIns="0" tIns="0" rIns="0" bIns="0" rtlCol="0" anchor="t">
            <a:spAutoFit/>
          </a:bodyPr>
          <a:lstStyle/>
          <a:p>
            <a:pPr algn="l">
              <a:lnSpc>
                <a:spcPts val="4500"/>
              </a:lnSpc>
              <a:spcBef>
                <a:spcPct val="0"/>
              </a:spcBef>
            </a:pPr>
            <a:r>
              <a:rPr lang="en-US" sz="3000">
                <a:solidFill>
                  <a:srgbClr val="000000"/>
                </a:solidFill>
                <a:latin typeface="Codec Pro"/>
                <a:ea typeface="Codec Pro"/>
                <a:cs typeface="Codec Pro"/>
                <a:sym typeface="Codec Pro"/>
              </a:rPr>
              <a:t>This result aligns with Pokryshevskaya &amp; Antipov (2020) research, which found that a half-bubble rating difference does not significantly influence attention on TripAdvisor, likely due to the platform’s comprehensive hotel information and filtering options</a:t>
            </a:r>
          </a:p>
        </p:txBody>
      </p:sp>
      <p:sp>
        <p:nvSpPr>
          <p:cNvPr id="8" name="Freeform 8"/>
          <p:cNvSpPr/>
          <p:nvPr/>
        </p:nvSpPr>
        <p:spPr>
          <a:xfrm>
            <a:off x="1401720" y="6764473"/>
            <a:ext cx="746040" cy="2182564"/>
          </a:xfrm>
          <a:custGeom>
            <a:avLst/>
            <a:gdLst/>
            <a:ahLst/>
            <a:cxnLst/>
            <a:rect l="l" t="t" r="r" b="b"/>
            <a:pathLst>
              <a:path w="746040" h="2182564">
                <a:moveTo>
                  <a:pt x="0" y="0"/>
                </a:moveTo>
                <a:lnTo>
                  <a:pt x="746040" y="0"/>
                </a:lnTo>
                <a:lnTo>
                  <a:pt x="746040" y="2182564"/>
                </a:lnTo>
                <a:lnTo>
                  <a:pt x="0" y="21825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5227" y="-60817"/>
            <a:ext cx="19366859" cy="2229413"/>
          </a:xfrm>
          <a:prstGeom prst="rect">
            <a:avLst/>
          </a:prstGeom>
          <a:solidFill>
            <a:srgbClr val="7C987C"/>
          </a:solidFill>
        </p:spPr>
        <p:txBody>
          <a:bodyPr/>
          <a:lstStyle/>
          <a:p>
            <a:endParaRPr lang="en-GB"/>
          </a:p>
        </p:txBody>
      </p:sp>
      <p:sp>
        <p:nvSpPr>
          <p:cNvPr id="3" name="Freeform 3"/>
          <p:cNvSpPr/>
          <p:nvPr/>
        </p:nvSpPr>
        <p:spPr>
          <a:xfrm>
            <a:off x="1285697" y="2444974"/>
            <a:ext cx="582394" cy="870698"/>
          </a:xfrm>
          <a:custGeom>
            <a:avLst/>
            <a:gdLst/>
            <a:ahLst/>
            <a:cxnLst/>
            <a:rect l="l" t="t" r="r" b="b"/>
            <a:pathLst>
              <a:path w="582394" h="870698">
                <a:moveTo>
                  <a:pt x="0" y="0"/>
                </a:moveTo>
                <a:lnTo>
                  <a:pt x="582394" y="0"/>
                </a:lnTo>
                <a:lnTo>
                  <a:pt x="582394" y="870697"/>
                </a:lnTo>
                <a:lnTo>
                  <a:pt x="0" y="870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TextBox 4"/>
          <p:cNvSpPr txBox="1"/>
          <p:nvPr/>
        </p:nvSpPr>
        <p:spPr>
          <a:xfrm>
            <a:off x="2424291" y="310939"/>
            <a:ext cx="13439418" cy="1352550"/>
          </a:xfrm>
          <a:prstGeom prst="rect">
            <a:avLst/>
          </a:prstGeom>
        </p:spPr>
        <p:txBody>
          <a:bodyPr lIns="0" tIns="0" rIns="0" bIns="0" rtlCol="0" anchor="t">
            <a:spAutoFit/>
          </a:bodyPr>
          <a:lstStyle/>
          <a:p>
            <a:pPr algn="ctr">
              <a:lnSpc>
                <a:spcPts val="9600"/>
              </a:lnSpc>
            </a:pPr>
            <a:r>
              <a:rPr lang="en-US" sz="8000" b="1">
                <a:solidFill>
                  <a:srgbClr val="FFFFFF"/>
                </a:solidFill>
                <a:latin typeface="Codec Pro Bold"/>
                <a:ea typeface="Codec Pro Bold"/>
                <a:cs typeface="Codec Pro Bold"/>
                <a:sym typeface="Codec Pro Bold"/>
              </a:rPr>
              <a:t>LIMITATIONS IN OUR STUDY</a:t>
            </a:r>
          </a:p>
        </p:txBody>
      </p:sp>
      <p:sp>
        <p:nvSpPr>
          <p:cNvPr id="5" name="TextBox 5"/>
          <p:cNvSpPr txBox="1"/>
          <p:nvPr/>
        </p:nvSpPr>
        <p:spPr>
          <a:xfrm>
            <a:off x="2382084" y="2470681"/>
            <a:ext cx="14620219" cy="1143057"/>
          </a:xfrm>
          <a:prstGeom prst="rect">
            <a:avLst/>
          </a:prstGeom>
        </p:spPr>
        <p:txBody>
          <a:bodyPr lIns="0" tIns="0" rIns="0" bIns="0" rtlCol="0" anchor="t">
            <a:spAutoFit/>
          </a:bodyPr>
          <a:lstStyle/>
          <a:p>
            <a:pPr algn="just">
              <a:lnSpc>
                <a:spcPts val="4499"/>
              </a:lnSpc>
              <a:spcBef>
                <a:spcPct val="0"/>
              </a:spcBef>
            </a:pPr>
            <a:r>
              <a:rPr lang="en-US" sz="2999" b="1">
                <a:solidFill>
                  <a:srgbClr val="000000"/>
                </a:solidFill>
                <a:latin typeface="Codec Pro Bold"/>
                <a:ea typeface="Codec Pro Bold"/>
                <a:cs typeface="Codec Pro Bold"/>
                <a:sym typeface="Codec Pro Bold"/>
              </a:rPr>
              <a:t>High zero-inflation:</a:t>
            </a:r>
            <a:r>
              <a:rPr lang="en-US" sz="2999">
                <a:solidFill>
                  <a:srgbClr val="000000"/>
                </a:solidFill>
                <a:latin typeface="Codec Pro"/>
                <a:ea typeface="Codec Pro"/>
                <a:cs typeface="Codec Pro"/>
                <a:sym typeface="Codec Pro"/>
              </a:rPr>
              <a:t> many hotels had zero views, making it difficult to detect an effect</a:t>
            </a:r>
          </a:p>
        </p:txBody>
      </p:sp>
      <p:sp>
        <p:nvSpPr>
          <p:cNvPr id="6" name="TextBox 6"/>
          <p:cNvSpPr txBox="1"/>
          <p:nvPr/>
        </p:nvSpPr>
        <p:spPr>
          <a:xfrm>
            <a:off x="2382084" y="3698841"/>
            <a:ext cx="14620219" cy="1171599"/>
          </a:xfrm>
          <a:prstGeom prst="rect">
            <a:avLst/>
          </a:prstGeom>
        </p:spPr>
        <p:txBody>
          <a:bodyPr lIns="0" tIns="0" rIns="0" bIns="0" rtlCol="0" anchor="t">
            <a:spAutoFit/>
          </a:bodyPr>
          <a:lstStyle/>
          <a:p>
            <a:pPr algn="just">
              <a:lnSpc>
                <a:spcPts val="4500"/>
              </a:lnSpc>
              <a:spcBef>
                <a:spcPct val="0"/>
              </a:spcBef>
            </a:pPr>
            <a:r>
              <a:rPr lang="en-US" sz="3000" b="1">
                <a:solidFill>
                  <a:srgbClr val="000000"/>
                </a:solidFill>
                <a:latin typeface="Codec Pro Bold"/>
                <a:ea typeface="Codec Pro Bold"/>
                <a:cs typeface="Codec Pro Bold"/>
                <a:sym typeface="Codec Pro Bold"/>
              </a:rPr>
              <a:t>December seasonality bias:</a:t>
            </a:r>
            <a:r>
              <a:rPr lang="en-US" sz="3000">
                <a:solidFill>
                  <a:srgbClr val="000000"/>
                </a:solidFill>
                <a:latin typeface="Codec Pro"/>
                <a:ea typeface="Codec Pro"/>
                <a:cs typeface="Codec Pro"/>
                <a:sym typeface="Codec Pro"/>
              </a:rPr>
              <a:t> data covers only December, which may not represent typical booking trends.</a:t>
            </a:r>
          </a:p>
        </p:txBody>
      </p:sp>
      <p:sp>
        <p:nvSpPr>
          <p:cNvPr id="7" name="TextBox 7"/>
          <p:cNvSpPr txBox="1"/>
          <p:nvPr/>
        </p:nvSpPr>
        <p:spPr>
          <a:xfrm>
            <a:off x="2382084" y="4985977"/>
            <a:ext cx="14620219" cy="1171599"/>
          </a:xfrm>
          <a:prstGeom prst="rect">
            <a:avLst/>
          </a:prstGeom>
        </p:spPr>
        <p:txBody>
          <a:bodyPr lIns="0" tIns="0" rIns="0" bIns="0" rtlCol="0" anchor="t">
            <a:spAutoFit/>
          </a:bodyPr>
          <a:lstStyle/>
          <a:p>
            <a:pPr algn="just">
              <a:lnSpc>
                <a:spcPts val="4500"/>
              </a:lnSpc>
              <a:spcBef>
                <a:spcPct val="0"/>
              </a:spcBef>
            </a:pPr>
            <a:r>
              <a:rPr lang="en-US" sz="3000" b="1">
                <a:solidFill>
                  <a:srgbClr val="000000"/>
                </a:solidFill>
                <a:latin typeface="Codec Pro Bold"/>
                <a:ea typeface="Codec Pro Bold"/>
                <a:cs typeface="Codec Pro Bold"/>
                <a:sym typeface="Codec Pro Bold"/>
              </a:rPr>
              <a:t>TripAdvisor’s filtering system:</a:t>
            </a:r>
            <a:r>
              <a:rPr lang="en-US" sz="3000">
                <a:solidFill>
                  <a:srgbClr val="000000"/>
                </a:solidFill>
                <a:latin typeface="Codec Pro"/>
                <a:ea typeface="Codec Pro"/>
                <a:cs typeface="Codec Pro"/>
                <a:sym typeface="Codec Pro"/>
              </a:rPr>
              <a:t> Users may sort hotels by price, location, or awards, reducing the direct impact of ratings.</a:t>
            </a:r>
          </a:p>
        </p:txBody>
      </p:sp>
      <p:sp>
        <p:nvSpPr>
          <p:cNvPr id="8" name="TextBox 8"/>
          <p:cNvSpPr txBox="1"/>
          <p:nvPr/>
        </p:nvSpPr>
        <p:spPr>
          <a:xfrm>
            <a:off x="2382084" y="7711602"/>
            <a:ext cx="14620219" cy="1743110"/>
          </a:xfrm>
          <a:prstGeom prst="rect">
            <a:avLst/>
          </a:prstGeom>
        </p:spPr>
        <p:txBody>
          <a:bodyPr lIns="0" tIns="0" rIns="0" bIns="0" rtlCol="0" anchor="t">
            <a:spAutoFit/>
          </a:bodyPr>
          <a:lstStyle/>
          <a:p>
            <a:pPr algn="just">
              <a:lnSpc>
                <a:spcPts val="4500"/>
              </a:lnSpc>
              <a:spcBef>
                <a:spcPct val="0"/>
              </a:spcBef>
            </a:pPr>
            <a:r>
              <a:rPr lang="en-US" sz="3000" b="1">
                <a:solidFill>
                  <a:srgbClr val="000000"/>
                </a:solidFill>
                <a:latin typeface="Codec Pro Bold"/>
                <a:ea typeface="Codec Pro Bold"/>
                <a:cs typeface="Codec Pro Bold"/>
                <a:sym typeface="Codec Pro Bold"/>
              </a:rPr>
              <a:t>TripAdvisor provides extensive information,</a:t>
            </a:r>
            <a:r>
              <a:rPr lang="en-US" sz="3000">
                <a:solidFill>
                  <a:srgbClr val="000000"/>
                </a:solidFill>
                <a:latin typeface="Codec Pro"/>
                <a:ea typeface="Codec Pro"/>
                <a:cs typeface="Codec Pro"/>
                <a:sym typeface="Codec Pro"/>
              </a:rPr>
              <a:t> which we did not include in our covariates that could have improved our model (such as amenities), reducing reliance on bubble ratings.</a:t>
            </a:r>
          </a:p>
        </p:txBody>
      </p:sp>
      <p:sp>
        <p:nvSpPr>
          <p:cNvPr id="9" name="Freeform 9"/>
          <p:cNvSpPr/>
          <p:nvPr/>
        </p:nvSpPr>
        <p:spPr>
          <a:xfrm>
            <a:off x="1285697" y="3591896"/>
            <a:ext cx="582394" cy="870698"/>
          </a:xfrm>
          <a:custGeom>
            <a:avLst/>
            <a:gdLst/>
            <a:ahLst/>
            <a:cxnLst/>
            <a:rect l="l" t="t" r="r" b="b"/>
            <a:pathLst>
              <a:path w="582394" h="870698">
                <a:moveTo>
                  <a:pt x="0" y="0"/>
                </a:moveTo>
                <a:lnTo>
                  <a:pt x="582394" y="0"/>
                </a:lnTo>
                <a:lnTo>
                  <a:pt x="582394" y="870698"/>
                </a:lnTo>
                <a:lnTo>
                  <a:pt x="0" y="870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Freeform 10"/>
          <p:cNvSpPr/>
          <p:nvPr/>
        </p:nvSpPr>
        <p:spPr>
          <a:xfrm>
            <a:off x="1285697" y="4946640"/>
            <a:ext cx="582394" cy="870698"/>
          </a:xfrm>
          <a:custGeom>
            <a:avLst/>
            <a:gdLst/>
            <a:ahLst/>
            <a:cxnLst/>
            <a:rect l="l" t="t" r="r" b="b"/>
            <a:pathLst>
              <a:path w="582394" h="870698">
                <a:moveTo>
                  <a:pt x="0" y="0"/>
                </a:moveTo>
                <a:lnTo>
                  <a:pt x="582394" y="0"/>
                </a:lnTo>
                <a:lnTo>
                  <a:pt x="582394" y="870698"/>
                </a:lnTo>
                <a:lnTo>
                  <a:pt x="0" y="870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1" name="Freeform 11"/>
          <p:cNvSpPr/>
          <p:nvPr/>
        </p:nvSpPr>
        <p:spPr>
          <a:xfrm>
            <a:off x="1285697" y="7502052"/>
            <a:ext cx="582394" cy="870698"/>
          </a:xfrm>
          <a:custGeom>
            <a:avLst/>
            <a:gdLst/>
            <a:ahLst/>
            <a:cxnLst/>
            <a:rect l="l" t="t" r="r" b="b"/>
            <a:pathLst>
              <a:path w="582394" h="870698">
                <a:moveTo>
                  <a:pt x="0" y="0"/>
                </a:moveTo>
                <a:lnTo>
                  <a:pt x="582394" y="0"/>
                </a:lnTo>
                <a:lnTo>
                  <a:pt x="582394" y="870698"/>
                </a:lnTo>
                <a:lnTo>
                  <a:pt x="0" y="870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2" name="TextBox 12"/>
          <p:cNvSpPr txBox="1"/>
          <p:nvPr/>
        </p:nvSpPr>
        <p:spPr>
          <a:xfrm>
            <a:off x="2382084" y="6273112"/>
            <a:ext cx="14620219" cy="1171599"/>
          </a:xfrm>
          <a:prstGeom prst="rect">
            <a:avLst/>
          </a:prstGeom>
        </p:spPr>
        <p:txBody>
          <a:bodyPr lIns="0" tIns="0" rIns="0" bIns="0" rtlCol="0" anchor="t">
            <a:spAutoFit/>
          </a:bodyPr>
          <a:lstStyle/>
          <a:p>
            <a:pPr algn="just">
              <a:lnSpc>
                <a:spcPts val="4500"/>
              </a:lnSpc>
              <a:spcBef>
                <a:spcPct val="0"/>
              </a:spcBef>
            </a:pPr>
            <a:r>
              <a:rPr lang="en-US" sz="3000" b="1">
                <a:solidFill>
                  <a:srgbClr val="000000"/>
                </a:solidFill>
                <a:latin typeface="Codec Pro Bold"/>
                <a:ea typeface="Codec Pro Bold"/>
                <a:cs typeface="Codec Pro Bold"/>
                <a:sym typeface="Codec Pro Bold"/>
              </a:rPr>
              <a:t>Competing platforms: </a:t>
            </a:r>
            <a:r>
              <a:rPr lang="en-US" sz="3000">
                <a:solidFill>
                  <a:srgbClr val="000000"/>
                </a:solidFill>
                <a:latin typeface="Codec Pro"/>
                <a:ea typeface="Codec Pro"/>
                <a:cs typeface="Codec Pro"/>
                <a:sym typeface="Codec Pro"/>
              </a:rPr>
              <a:t>Google Travel, Booking.com, and Airbnb may have a stronger influence on hotel visibility than TripAdvisor.</a:t>
            </a:r>
          </a:p>
        </p:txBody>
      </p:sp>
      <p:sp>
        <p:nvSpPr>
          <p:cNvPr id="13" name="Freeform 13"/>
          <p:cNvSpPr/>
          <p:nvPr/>
        </p:nvSpPr>
        <p:spPr>
          <a:xfrm>
            <a:off x="1285697" y="6233775"/>
            <a:ext cx="582394" cy="870698"/>
          </a:xfrm>
          <a:custGeom>
            <a:avLst/>
            <a:gdLst/>
            <a:ahLst/>
            <a:cxnLst/>
            <a:rect l="l" t="t" r="r" b="b"/>
            <a:pathLst>
              <a:path w="582394" h="870698">
                <a:moveTo>
                  <a:pt x="0" y="0"/>
                </a:moveTo>
                <a:lnTo>
                  <a:pt x="582394" y="0"/>
                </a:lnTo>
                <a:lnTo>
                  <a:pt x="582394" y="870698"/>
                </a:lnTo>
                <a:lnTo>
                  <a:pt x="0" y="870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C987C"/>
        </a:solidFill>
        <a:effectLst/>
      </p:bgPr>
    </p:bg>
    <p:spTree>
      <p:nvGrpSpPr>
        <p:cNvPr id="1" name=""/>
        <p:cNvGrpSpPr/>
        <p:nvPr/>
      </p:nvGrpSpPr>
      <p:grpSpPr>
        <a:xfrm>
          <a:off x="0" y="0"/>
          <a:ext cx="0" cy="0"/>
          <a:chOff x="0" y="0"/>
          <a:chExt cx="0" cy="0"/>
        </a:xfrm>
      </p:grpSpPr>
      <p:sp>
        <p:nvSpPr>
          <p:cNvPr id="2" name="TextBox 2"/>
          <p:cNvSpPr txBox="1"/>
          <p:nvPr/>
        </p:nvSpPr>
        <p:spPr>
          <a:xfrm>
            <a:off x="1028700" y="885825"/>
            <a:ext cx="8724900" cy="1384995"/>
          </a:xfrm>
          <a:prstGeom prst="rect">
            <a:avLst/>
          </a:prstGeom>
        </p:spPr>
        <p:txBody>
          <a:bodyPr wrap="square" lIns="0" tIns="0" rIns="0" bIns="0" rtlCol="0" anchor="t">
            <a:spAutoFit/>
          </a:bodyPr>
          <a:lstStyle/>
          <a:p>
            <a:pPr algn="l">
              <a:lnSpc>
                <a:spcPts val="10800"/>
              </a:lnSpc>
            </a:pPr>
            <a:r>
              <a:rPr lang="en-US" sz="9000" b="1" dirty="0">
                <a:solidFill>
                  <a:srgbClr val="FFFFFF"/>
                </a:solidFill>
                <a:latin typeface="Codec Pro Bold"/>
                <a:ea typeface="Codec Pro Bold"/>
                <a:cs typeface="Codec Pro Bold"/>
                <a:sym typeface="Codec Pro Bold"/>
              </a:rPr>
              <a:t>BIBLIOGRAPHY</a:t>
            </a:r>
          </a:p>
        </p:txBody>
      </p:sp>
      <p:grpSp>
        <p:nvGrpSpPr>
          <p:cNvPr id="3" name="Group 3"/>
          <p:cNvGrpSpPr/>
          <p:nvPr/>
        </p:nvGrpSpPr>
        <p:grpSpPr>
          <a:xfrm>
            <a:off x="1028700" y="2854358"/>
            <a:ext cx="16230600" cy="4722086"/>
            <a:chOff x="0" y="0"/>
            <a:chExt cx="21640800" cy="6296114"/>
          </a:xfrm>
        </p:grpSpPr>
        <p:sp>
          <p:nvSpPr>
            <p:cNvPr id="4" name="TextBox 4"/>
            <p:cNvSpPr txBox="1"/>
            <p:nvPr/>
          </p:nvSpPr>
          <p:spPr>
            <a:xfrm>
              <a:off x="0" y="-152400"/>
              <a:ext cx="21640800" cy="863631"/>
            </a:xfrm>
            <a:prstGeom prst="rect">
              <a:avLst/>
            </a:prstGeom>
          </p:spPr>
          <p:txBody>
            <a:bodyPr lIns="0" tIns="0" rIns="0" bIns="0" rtlCol="0" anchor="t">
              <a:spAutoFit/>
            </a:bodyPr>
            <a:lstStyle/>
            <a:p>
              <a:pPr marL="755651" lvl="1" indent="-377825" algn="l">
                <a:lnSpc>
                  <a:spcPts val="5250"/>
                </a:lnSpc>
                <a:buFont typeface="Arial"/>
                <a:buChar char="•"/>
              </a:pPr>
              <a:r>
                <a:rPr lang="en-US" sz="3500" u="sng" dirty="0">
                  <a:solidFill>
                    <a:srgbClr val="FFFFFF"/>
                  </a:solidFill>
                  <a:latin typeface="Codec Pro"/>
                  <a:ea typeface="Codec Pro"/>
                  <a:cs typeface="Codec Pro"/>
                  <a:sym typeface="Codec Pro"/>
                  <a:hlinkClick r:id="rId2" tooltip="https://blog.osum.com/online-travel-agency-market-share/"/>
                </a:rPr>
                <a:t>https://blog.osum.com/online-travel-agency-market-share/</a:t>
              </a:r>
            </a:p>
          </p:txBody>
        </p:sp>
        <p:sp>
          <p:nvSpPr>
            <p:cNvPr id="5" name="TextBox 5"/>
            <p:cNvSpPr txBox="1"/>
            <p:nvPr/>
          </p:nvSpPr>
          <p:spPr>
            <a:xfrm>
              <a:off x="0" y="1288511"/>
              <a:ext cx="21640800" cy="863631"/>
            </a:xfrm>
            <a:prstGeom prst="rect">
              <a:avLst/>
            </a:prstGeom>
          </p:spPr>
          <p:txBody>
            <a:bodyPr lIns="0" tIns="0" rIns="0" bIns="0" rtlCol="0" anchor="t">
              <a:spAutoFit/>
            </a:bodyPr>
            <a:lstStyle/>
            <a:p>
              <a:pPr marL="755651" lvl="1" indent="-377825" algn="l">
                <a:lnSpc>
                  <a:spcPts val="5250"/>
                </a:lnSpc>
                <a:buFont typeface="Arial"/>
                <a:buChar char="•"/>
              </a:pPr>
              <a:r>
                <a:rPr lang="en-US" sz="3500" u="sng">
                  <a:solidFill>
                    <a:srgbClr val="FFFFFF"/>
                  </a:solidFill>
                  <a:latin typeface="Codec Pro"/>
                  <a:ea typeface="Codec Pro"/>
                  <a:cs typeface="Codec Pro"/>
                  <a:sym typeface="Codec Pro"/>
                  <a:hlinkClick r:id="rId3" tooltip="https://www.enterpriseappstoday.com/stats/airbnb-statistics.html"/>
                </a:rPr>
                <a:t>https://www.enterpriseappstoday.com/stats/airbnb-statistics.html</a:t>
              </a:r>
            </a:p>
          </p:txBody>
        </p:sp>
        <p:sp>
          <p:nvSpPr>
            <p:cNvPr id="6" name="TextBox 6"/>
            <p:cNvSpPr txBox="1"/>
            <p:nvPr/>
          </p:nvSpPr>
          <p:spPr>
            <a:xfrm>
              <a:off x="0" y="2765514"/>
              <a:ext cx="21640800" cy="3530600"/>
            </a:xfrm>
            <a:prstGeom prst="rect">
              <a:avLst/>
            </a:prstGeom>
          </p:spPr>
          <p:txBody>
            <a:bodyPr lIns="0" tIns="0" rIns="0" bIns="0" rtlCol="0" anchor="t">
              <a:spAutoFit/>
            </a:bodyPr>
            <a:lstStyle/>
            <a:p>
              <a:pPr marL="755651" lvl="1" indent="-377825" algn="l">
                <a:lnSpc>
                  <a:spcPts val="5250"/>
                </a:lnSpc>
                <a:buFont typeface="Arial"/>
                <a:buChar char="•"/>
              </a:pPr>
              <a:r>
                <a:rPr lang="en-US" sz="3500">
                  <a:solidFill>
                    <a:srgbClr val="FFFFFF"/>
                  </a:solidFill>
                  <a:latin typeface="Codec Pro"/>
                  <a:ea typeface="Codec Pro"/>
                  <a:cs typeface="Codec Pro"/>
                  <a:sym typeface="Codec Pro"/>
                </a:rPr>
                <a:t>Pokryshevskaya, E. B., &amp; Antipov, E. A. (2020). Robust regression discontinuity estimates of the causal effect of TripAdvisor’s bubble rating on hotel popularity. Higher School of Economics Research Paper No. WP BRP 63/MAN/2020. </a:t>
              </a:r>
              <a:r>
                <a:rPr lang="en-US" sz="3500" u="sng">
                  <a:solidFill>
                    <a:srgbClr val="FFFFFF"/>
                  </a:solidFill>
                  <a:latin typeface="Codec Pro"/>
                  <a:ea typeface="Codec Pro"/>
                  <a:cs typeface="Codec Pro"/>
                  <a:sym typeface="Codec Pro"/>
                  <a:hlinkClick r:id="rId4" tooltip="http://dx.doi.org/10.2139/ssrn.3745552"/>
                </a:rPr>
                <a:t>http://dx.doi.org/10.2139/ssrn.3745552</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5536950"/>
          </a:xfrm>
          <a:prstGeom prst="rect">
            <a:avLst/>
          </a:prstGeom>
          <a:solidFill>
            <a:srgbClr val="7C987C"/>
          </a:solidFill>
        </p:spPr>
        <p:txBody>
          <a:bodyPr/>
          <a:lstStyle/>
          <a:p>
            <a:endParaRPr lang="en-GB"/>
          </a:p>
        </p:txBody>
      </p:sp>
      <p:sp>
        <p:nvSpPr>
          <p:cNvPr id="3" name="TextBox 3"/>
          <p:cNvSpPr txBox="1"/>
          <p:nvPr/>
        </p:nvSpPr>
        <p:spPr>
          <a:xfrm>
            <a:off x="1028700" y="3753870"/>
            <a:ext cx="11637386" cy="3276600"/>
          </a:xfrm>
          <a:prstGeom prst="rect">
            <a:avLst/>
          </a:prstGeom>
        </p:spPr>
        <p:txBody>
          <a:bodyPr lIns="0" tIns="0" rIns="0" bIns="0" rtlCol="0" anchor="t">
            <a:spAutoFit/>
          </a:bodyPr>
          <a:lstStyle/>
          <a:p>
            <a:pPr algn="l">
              <a:lnSpc>
                <a:spcPts val="12599"/>
              </a:lnSpc>
            </a:pPr>
            <a:r>
              <a:rPr lang="en-US" sz="9000" b="1">
                <a:solidFill>
                  <a:srgbClr val="FFFFFF"/>
                </a:solidFill>
                <a:latin typeface="Codec Pro Bold"/>
                <a:ea typeface="Codec Pro Bold"/>
                <a:cs typeface="Codec Pro Bold"/>
                <a:sym typeface="Codec Pro Bold"/>
              </a:rPr>
              <a:t>THANKS FOR YOUR </a:t>
            </a:r>
            <a:r>
              <a:rPr lang="en-US" sz="9000" b="1">
                <a:solidFill>
                  <a:srgbClr val="365236"/>
                </a:solidFill>
                <a:latin typeface="Codec Pro Bold"/>
                <a:ea typeface="Codec Pro Bold"/>
                <a:cs typeface="Codec Pro Bold"/>
                <a:sym typeface="Codec Pro Bold"/>
              </a:rPr>
              <a:t>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1134</Words>
  <Application>Microsoft Office PowerPoint</Application>
  <PresentationFormat>Personalizzato</PresentationFormat>
  <Paragraphs>198</Paragraphs>
  <Slides>22</Slides>
  <Notes>3</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22</vt:i4>
      </vt:variant>
    </vt:vector>
  </HeadingPairs>
  <TitlesOfParts>
    <vt:vector size="27" baseType="lpstr">
      <vt:lpstr>Calibri</vt:lpstr>
      <vt:lpstr>Codec Pro Bold</vt:lpstr>
      <vt:lpstr>Codec Pro</vt: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GW3</dc:title>
  <dc:creator>Martina Pagan</dc:creator>
  <cp:lastModifiedBy>martina pagan</cp:lastModifiedBy>
  <cp:revision>2</cp:revision>
  <dcterms:created xsi:type="dcterms:W3CDTF">2006-08-16T00:00:00Z</dcterms:created>
  <dcterms:modified xsi:type="dcterms:W3CDTF">2025-02-17T07:33:43Z</dcterms:modified>
  <dc:identifier>DAGRsnFyX6Y</dc:identifier>
</cp:coreProperties>
</file>